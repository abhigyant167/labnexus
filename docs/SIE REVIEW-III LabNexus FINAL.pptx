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9" r:id="rId15"/>
    <p:sldId id="271" r:id="rId16"/>
    <p:sldId id="272" r:id="rId17"/>
  </p:sldIdLst>
  <p:sldSz cx="9144000" cy="5143500" type="screen16x9"/>
  <p:notesSz cx="6858000" cy="9144000"/>
  <p:embeddedFontLst>
    <p:embeddedFont>
      <p:font typeface="Constantia" panose="02030602050306030303" pitchFamily="18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8" d="100"/>
          <a:sy n="98" d="100"/>
        </p:scale>
        <p:origin x="1018" y="8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 txBox="1">
            <a:spLocks noGrp="1"/>
          </p:cNvSpPr>
          <p:nvPr>
            <p:ph type="title"/>
          </p:nvPr>
        </p:nvSpPr>
        <p:spPr>
          <a:xfrm>
            <a:off x="612648" y="171450"/>
            <a:ext cx="8153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 i="0" u="none" strike="noStrike" cap="none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612648" y="1200150"/>
            <a:ext cx="8153400" cy="337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8153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body" idx="1"/>
          </p:nvPr>
        </p:nvSpPr>
        <p:spPr>
          <a:xfrm>
            <a:off x="609600" y="1192175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2"/>
          </p:nvPr>
        </p:nvSpPr>
        <p:spPr>
          <a:xfrm>
            <a:off x="4844901" y="1192175"/>
            <a:ext cx="38862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30" name="Google Shape;30;p20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>
            <a:spLocks noGrp="1"/>
          </p:cNvSpPr>
          <p:nvPr>
            <p:ph type="body" idx="1"/>
          </p:nvPr>
        </p:nvSpPr>
        <p:spPr>
          <a:xfrm>
            <a:off x="1371601" y="2057400"/>
            <a:ext cx="7123113" cy="1254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680"/>
              <a:buNone/>
              <a:defRPr sz="2800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126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105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910"/>
              <a:buNone/>
              <a:defRPr sz="1400">
                <a:solidFill>
                  <a:srgbClr val="888888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4" name="Google Shape;34;p21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5" name="Google Shape;35;p21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6" name="Google Shape;36;p21"/>
          <p:cNvSpPr txBox="1">
            <a:spLocks noGrp="1"/>
          </p:cNvSpPr>
          <p:nvPr>
            <p:ph type="title"/>
          </p:nvPr>
        </p:nvSpPr>
        <p:spPr>
          <a:xfrm>
            <a:off x="1371600" y="1200150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wentieth Century"/>
              <a:buNone/>
              <a:defRPr sz="4400" b="0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sldNum" idx="12"/>
          </p:nvPr>
        </p:nvSpPr>
        <p:spPr>
          <a:xfrm>
            <a:off x="0" y="1314450"/>
            <a:ext cx="1295400" cy="52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buNone/>
              <a:defRPr sz="2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39" name="Google Shape;39;p21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" name="Google Shape;42;p22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4" name="Google Shape;44;p22"/>
          <p:cNvSpPr txBox="1">
            <a:spLocks noGrp="1"/>
          </p:cNvSpPr>
          <p:nvPr>
            <p:ph type="ctrTitle"/>
          </p:nvPr>
        </p:nvSpPr>
        <p:spPr>
          <a:xfrm>
            <a:off x="2362200" y="3028950"/>
            <a:ext cx="6477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Twentieth Century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ubTitle" idx="1"/>
          </p:nvPr>
        </p:nvSpPr>
        <p:spPr>
          <a:xfrm>
            <a:off x="2362200" y="4537528"/>
            <a:ext cx="6705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700"/>
              </a:spcBef>
              <a:spcAft>
                <a:spcPts val="0"/>
              </a:spcAft>
              <a:buSzPts val="1560"/>
              <a:buNone/>
              <a:defRPr sz="2600">
                <a:solidFill>
                  <a:srgbClr val="FFFFFF"/>
                </a:solidFill>
              </a:defRPr>
            </a:lvl1pPr>
            <a:lvl2pPr lvl="1" algn="ctr">
              <a:spcBef>
                <a:spcPts val="55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5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5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76200" y="4551524"/>
            <a:ext cx="2057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2085393" y="177404"/>
            <a:ext cx="586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8001000" y="171450"/>
            <a:ext cx="838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chemeClr val="lt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533400" y="204787"/>
            <a:ext cx="8153400" cy="65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body" idx="1"/>
          </p:nvPr>
        </p:nvSpPr>
        <p:spPr>
          <a:xfrm>
            <a:off x="609600" y="1828800"/>
            <a:ext cx="3886200" cy="268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2"/>
          </p:nvPr>
        </p:nvSpPr>
        <p:spPr>
          <a:xfrm>
            <a:off x="4800600" y="1828800"/>
            <a:ext cx="3886200" cy="268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55" name="Google Shape;55;p23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3"/>
          </p:nvPr>
        </p:nvSpPr>
        <p:spPr>
          <a:xfrm>
            <a:off x="609600" y="1314450"/>
            <a:ext cx="3886200" cy="4800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4"/>
          </p:nvPr>
        </p:nvSpPr>
        <p:spPr>
          <a:xfrm>
            <a:off x="4800600" y="1314450"/>
            <a:ext cx="3886200" cy="4800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200"/>
              <a:buFont typeface="Twentieth Century"/>
              <a:buNone/>
              <a:defRPr sz="2000" b="1">
                <a:solidFill>
                  <a:srgbClr val="FFFFFF"/>
                </a:solidFill>
              </a:defRPr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8153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4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sldNum" idx="12"/>
          </p:nvPr>
        </p:nvSpPr>
        <p:spPr>
          <a:xfrm>
            <a:off x="0" y="4686300"/>
            <a:ext cx="533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 txBox="1">
            <a:spLocks noGrp="1"/>
          </p:cNvSpPr>
          <p:nvPr>
            <p:ph type="title"/>
          </p:nvPr>
        </p:nvSpPr>
        <p:spPr>
          <a:xfrm>
            <a:off x="609600" y="204787"/>
            <a:ext cx="8077200" cy="65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sz="4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72" name="Google Shape;72;p26"/>
          <p:cNvSpPr txBox="1">
            <a:spLocks noGrp="1"/>
          </p:cNvSpPr>
          <p:nvPr>
            <p:ph type="body" idx="1"/>
          </p:nvPr>
        </p:nvSpPr>
        <p:spPr>
          <a:xfrm>
            <a:off x="609600" y="1314450"/>
            <a:ext cx="1600200" cy="3257550"/>
          </a:xfrm>
          <a:prstGeom prst="rect">
            <a:avLst/>
          </a:prstGeom>
          <a:solidFill>
            <a:schemeClr val="accent2"/>
          </a:solidFill>
          <a:ln w="50800" cap="sq" cmpd="dbl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37150" tIns="182875" rIns="137150" bIns="91425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80"/>
              <a:buNone/>
              <a:def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840"/>
              <a:buNone/>
              <a:defRPr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None/>
              <a:defRPr sz="1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None/>
              <a:defRPr sz="9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body" idx="2"/>
          </p:nvPr>
        </p:nvSpPr>
        <p:spPr>
          <a:xfrm>
            <a:off x="2362200" y="1314450"/>
            <a:ext cx="6400800" cy="3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blipFill rotWithShape="1">
          <a:blip r:embed="rId2"/>
          <a:tile tx="0" ty="0" sx="100000" sy="100000" flip="none" algn="tl"/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body" idx="1"/>
          </p:nvPr>
        </p:nvSpPr>
        <p:spPr>
          <a:xfrm>
            <a:off x="1600200" y="4114800"/>
            <a:ext cx="7315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700"/>
              </a:spcBef>
              <a:spcAft>
                <a:spcPts val="0"/>
              </a:spcAft>
              <a:buSzPts val="1020"/>
              <a:buFont typeface="Twentieth Century"/>
              <a:buNone/>
              <a:defRPr sz="1700"/>
            </a:lvl1pPr>
            <a:lvl2pPr marL="914400" lvl="1" indent="-228600" algn="l">
              <a:spcBef>
                <a:spcPts val="550"/>
              </a:spcBef>
              <a:spcAft>
                <a:spcPts val="0"/>
              </a:spcAft>
              <a:buSzPts val="840"/>
              <a:buFont typeface="Twentieth Century"/>
              <a:buNone/>
              <a:defRPr sz="1200"/>
            </a:lvl2pPr>
            <a:lvl3pPr marL="1371600" lvl="2" indent="-228600" algn="l">
              <a:spcBef>
                <a:spcPts val="500"/>
              </a:spcBef>
              <a:spcAft>
                <a:spcPts val="0"/>
              </a:spcAft>
              <a:buSzPts val="750"/>
              <a:buFont typeface="Twentieth Century"/>
              <a:buNone/>
              <a:defRPr sz="1000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SzPts val="675"/>
              <a:buFont typeface="Twentieth Century"/>
              <a:buNone/>
              <a:defRPr sz="900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SzPts val="585"/>
              <a:buFont typeface="Twentieth Century"/>
              <a:buNone/>
              <a:defRPr sz="9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" name="Google Shape;77;p27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8" name="Google Shape;78;p27"/>
          <p:cNvSpPr/>
          <p:nvPr/>
        </p:nvSpPr>
        <p:spPr>
          <a:xfrm>
            <a:off x="1545336" y="3490722"/>
            <a:ext cx="7598664" cy="534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9" name="Google Shape;79;p27"/>
          <p:cNvSpPr txBox="1">
            <a:spLocks noGrp="1"/>
          </p:cNvSpPr>
          <p:nvPr>
            <p:ph type="title"/>
          </p:nvPr>
        </p:nvSpPr>
        <p:spPr>
          <a:xfrm>
            <a:off x="1600200" y="3486150"/>
            <a:ext cx="73152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wentieth Century"/>
              <a:buNone/>
              <a:defRPr sz="28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62484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sldNum" idx="12"/>
          </p:nvPr>
        </p:nvSpPr>
        <p:spPr>
          <a:xfrm>
            <a:off x="0" y="3500437"/>
            <a:ext cx="1447800" cy="49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  <p:sp>
        <p:nvSpPr>
          <p:cNvPr id="83" name="Google Shape;83;p27"/>
          <p:cNvSpPr txBox="1">
            <a:spLocks noGrp="1"/>
          </p:cNvSpPr>
          <p:nvPr>
            <p:ph type="ftr" idx="11"/>
          </p:nvPr>
        </p:nvSpPr>
        <p:spPr>
          <a:xfrm>
            <a:off x="1600200" y="4686155"/>
            <a:ext cx="4572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>
            <a:spLocks noGrp="1"/>
          </p:cNvSpPr>
          <p:nvPr>
            <p:ph type="pic" idx="2"/>
          </p:nvPr>
        </p:nvSpPr>
        <p:spPr>
          <a:xfrm>
            <a:off x="1560576" y="0"/>
            <a:ext cx="7583424" cy="3426714"/>
          </a:xfrm>
          <a:prstGeom prst="rect">
            <a:avLst/>
          </a:prstGeom>
          <a:solidFill>
            <a:srgbClr val="DCE5EE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8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8153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body" idx="1"/>
          </p:nvPr>
        </p:nvSpPr>
        <p:spPr>
          <a:xfrm rot="5400000">
            <a:off x="2991993" y="-1179195"/>
            <a:ext cx="3394710" cy="81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9"/>
          <p:cNvSpPr txBox="1">
            <a:spLocks noGrp="1"/>
          </p:cNvSpPr>
          <p:nvPr>
            <p:ph type="title"/>
          </p:nvPr>
        </p:nvSpPr>
        <p:spPr>
          <a:xfrm rot="5400000">
            <a:off x="5513189" y="1497212"/>
            <a:ext cx="413742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body" idx="1"/>
          </p:nvPr>
        </p:nvSpPr>
        <p:spPr>
          <a:xfrm rot="5400000">
            <a:off x="1169788" y="-255388"/>
            <a:ext cx="4137423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97180" algn="l">
              <a:spcBef>
                <a:spcPts val="700"/>
              </a:spcBef>
              <a:spcAft>
                <a:spcPts val="0"/>
              </a:spcAft>
              <a:buSzPts val="1080"/>
              <a:buChar char="◻"/>
              <a:defRPr/>
            </a:lvl1pPr>
            <a:lvl2pPr marL="914400" lvl="1" indent="-308610" algn="l">
              <a:spcBef>
                <a:spcPts val="550"/>
              </a:spcBef>
              <a:spcAft>
                <a:spcPts val="0"/>
              </a:spcAft>
              <a:buSzPts val="1260"/>
              <a:buChar char=""/>
              <a:defRPr/>
            </a:lvl2pPr>
            <a:lvl3pPr marL="1371600" lvl="2" indent="-314325" algn="l">
              <a:spcBef>
                <a:spcPts val="500"/>
              </a:spcBef>
              <a:spcAft>
                <a:spcPts val="0"/>
              </a:spcAft>
              <a:buSzPts val="1350"/>
              <a:buChar char="■"/>
              <a:defRPr/>
            </a:lvl3pPr>
            <a:lvl4pPr marL="1828800" lvl="3" indent="-314325" algn="l">
              <a:spcBef>
                <a:spcPts val="400"/>
              </a:spcBef>
              <a:spcAft>
                <a:spcPts val="0"/>
              </a:spcAft>
              <a:buSzPts val="1350"/>
              <a:buChar char="■"/>
              <a:defRPr/>
            </a:lvl4pPr>
            <a:lvl5pPr marL="2286000" lvl="4" indent="-302895" algn="l">
              <a:spcBef>
                <a:spcPts val="400"/>
              </a:spcBef>
              <a:spcAft>
                <a:spcPts val="0"/>
              </a:spcAft>
              <a:buSzPts val="1170"/>
              <a:buChar char="■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dt" idx="10"/>
          </p:nvPr>
        </p:nvSpPr>
        <p:spPr>
          <a:xfrm>
            <a:off x="6553200" y="4686302"/>
            <a:ext cx="22098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ftr" idx="11"/>
          </p:nvPr>
        </p:nvSpPr>
        <p:spPr>
          <a:xfrm>
            <a:off x="457202" y="4686156"/>
            <a:ext cx="55734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9"/>
          <p:cNvSpPr/>
          <p:nvPr/>
        </p:nvSpPr>
        <p:spPr>
          <a:xfrm>
            <a:off x="6096318" y="0"/>
            <a:ext cx="32004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7" name="Google Shape;97;p29"/>
          <p:cNvSpPr/>
          <p:nvPr/>
        </p:nvSpPr>
        <p:spPr>
          <a:xfrm>
            <a:off x="6142038" y="457200"/>
            <a:ext cx="228600" cy="468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8" name="Google Shape;98;p29"/>
          <p:cNvSpPr/>
          <p:nvPr/>
        </p:nvSpPr>
        <p:spPr>
          <a:xfrm>
            <a:off x="6142038" y="0"/>
            <a:ext cx="228600" cy="400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9" name="Google Shape;99;p29"/>
          <p:cNvSpPr txBox="1">
            <a:spLocks noGrp="1"/>
          </p:cNvSpPr>
          <p:nvPr>
            <p:ph type="sldNum" idx="12"/>
          </p:nvPr>
        </p:nvSpPr>
        <p:spPr>
          <a:xfrm rot="5400000">
            <a:off x="6056313" y="77787"/>
            <a:ext cx="400050" cy="244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1pPr>
            <a:lvl2pPr marL="0" lvl="1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2pPr>
            <a:lvl3pPr marL="0" lvl="2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3pPr>
            <a:lvl4pPr marL="0" lvl="3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4pPr>
            <a:lvl5pPr marL="0" lvl="4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5pPr>
            <a:lvl6pPr marL="0" lvl="5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6pPr>
            <a:lvl7pPr marL="0" lvl="6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7pPr>
            <a:lvl8pPr marL="0" lvl="7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8pPr>
            <a:lvl9pPr marL="0" lvl="8" indent="0" algn="ctr">
              <a:spcBef>
                <a:spcPts val="0"/>
              </a:spcBef>
              <a:buNone/>
              <a:defRPr sz="1200"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609600" y="171450"/>
            <a:ext cx="81534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wentieth Century"/>
              <a:buNone/>
              <a:defRPr sz="4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612648" y="1200150"/>
            <a:ext cx="815340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090" algn="l" rtl="0"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ts val="1740"/>
              <a:buFont typeface="Noto Sans Symbols"/>
              <a:buChar char="◻"/>
              <a:defRPr sz="29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44170" algn="l" rtl="0"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"/>
              <a:defRPr sz="26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3782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25"/>
              <a:buFont typeface="Noto Sans Symbols"/>
              <a:buChar char="■"/>
              <a:defRPr sz="23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1115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/>
          <p:nvPr/>
        </p:nvSpPr>
        <p:spPr>
          <a:xfrm>
            <a:off x="0" y="925830"/>
            <a:ext cx="9144000" cy="2400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" name="Google Shape;15;p18"/>
          <p:cNvSpPr/>
          <p:nvPr/>
        </p:nvSpPr>
        <p:spPr>
          <a:xfrm>
            <a:off x="0" y="960120"/>
            <a:ext cx="533400" cy="171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16;p18"/>
          <p:cNvSpPr/>
          <p:nvPr/>
        </p:nvSpPr>
        <p:spPr>
          <a:xfrm>
            <a:off x="590550" y="960120"/>
            <a:ext cx="855345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" name="Google Shape;17;p18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FFFFFF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eg"/><Relationship Id="rId4" Type="http://schemas.openxmlformats.org/officeDocument/2006/relationships/image" Target="../media/image4.png"/><Relationship Id="rId5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e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e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e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e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e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e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e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6.jpe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458200" cy="74295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FF0000"/>
              </a:buClr>
              <a:buSzPts val="3600"/>
            </a:pPr>
            <a:r>
              <a:rPr lang="en-US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LabNexus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Unified Computer Resources Control</a:t>
            </a:r>
            <a:endParaRPr sz="2800" b="1" dirty="0">
              <a:solidFill>
                <a:srgbClr val="FF0000"/>
              </a:solidFill>
              <a:latin typeface="Constantia" panose="02030602050306030303"/>
              <a:ea typeface="Constantia" panose="02030602050306030303"/>
              <a:cs typeface="Constantia" panose="02030602050306030303"/>
              <a:sym typeface="Constantia" panose="02030602050306030303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4686300" y="3121680"/>
            <a:ext cx="4429156" cy="1692731"/>
          </a:xfrm>
          <a:prstGeom prst="rect">
            <a:avLst/>
          </a:prstGeom>
          <a:solidFill>
            <a:srgbClr val="FF0066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3F3F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Mentors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</a:rPr>
              <a:t>1.   </a:t>
            </a:r>
            <a:r>
              <a:rPr lang="en-US" b="1" dirty="0" err="1">
                <a:solidFill>
                  <a:srgbClr val="FFFF00"/>
                </a:solidFill>
              </a:rPr>
              <a:t>Mrs.R.Sathiyakala</a:t>
            </a:r>
            <a:r>
              <a:rPr lang="en-US" b="1" dirty="0">
                <a:solidFill>
                  <a:srgbClr val="FFFF00"/>
                </a:solidFill>
              </a:rPr>
              <a:t> Asst. Professor ECE/CEER</a:t>
            </a:r>
            <a:endParaRPr lang="en-US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</a:rPr>
              <a:t>2.    </a:t>
            </a:r>
            <a:r>
              <a:rPr lang="en-US" b="1" dirty="0" err="1">
                <a:solidFill>
                  <a:srgbClr val="FFFF00"/>
                </a:solidFill>
              </a:rPr>
              <a:t>Dr.B</a:t>
            </a:r>
            <a:r>
              <a:rPr lang="en-US" b="1" dirty="0">
                <a:solidFill>
                  <a:srgbClr val="FFFF00"/>
                </a:solidFill>
              </a:rPr>
              <a:t>. Venkateshwar Rao </a:t>
            </a:r>
            <a:r>
              <a:rPr lang="en-US" b="1" dirty="0" err="1">
                <a:solidFill>
                  <a:srgbClr val="FFFF00"/>
                </a:solidFill>
              </a:rPr>
              <a:t>Asst.Professor</a:t>
            </a:r>
            <a:r>
              <a:rPr lang="en-US" b="1" dirty="0">
                <a:solidFill>
                  <a:srgbClr val="FFFF00"/>
                </a:solidFill>
              </a:rPr>
              <a:t> ECE/CEER</a:t>
            </a:r>
            <a:endParaRPr lang="en-US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</a:rPr>
              <a:t>3.     </a:t>
            </a:r>
            <a:r>
              <a:rPr lang="en-US" b="1" dirty="0" err="1">
                <a:solidFill>
                  <a:srgbClr val="FFFF00"/>
                </a:solidFill>
              </a:rPr>
              <a:t>Mr.K.P.Senthil</a:t>
            </a:r>
            <a:r>
              <a:rPr lang="en-US" b="1" dirty="0">
                <a:solidFill>
                  <a:srgbClr val="FFFF00"/>
                </a:solidFill>
              </a:rPr>
              <a:t>, </a:t>
            </a:r>
            <a:r>
              <a:rPr lang="en-US" b="1" dirty="0" err="1">
                <a:solidFill>
                  <a:srgbClr val="FFFF00"/>
                </a:solidFill>
              </a:rPr>
              <a:t>Asst.Professor</a:t>
            </a:r>
            <a:r>
              <a:rPr lang="en-US" b="1" dirty="0">
                <a:solidFill>
                  <a:srgbClr val="FFFF00"/>
                </a:solidFill>
              </a:rPr>
              <a:t> CSM/CEER</a:t>
            </a:r>
            <a:endParaRPr lang="en-US" sz="2000" b="1" dirty="0">
              <a:solidFill>
                <a:srgbClr val="FFFF00"/>
              </a:solidFill>
            </a:endParaRPr>
          </a:p>
        </p:txBody>
      </p:sp>
      <p:pic>
        <p:nvPicPr>
          <p:cNvPr id="107" name="Google Shape;107;p1" descr="C:\Users\suresh\Desktop\logopng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8600" y="1445873"/>
            <a:ext cx="9906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"/>
          <p:cNvSpPr/>
          <p:nvPr/>
        </p:nvSpPr>
        <p:spPr>
          <a:xfrm>
            <a:off x="142844" y="3121680"/>
            <a:ext cx="4429156" cy="1754286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Student Team Details</a:t>
            </a:r>
          </a:p>
          <a:p>
            <a:pPr fontAlgn="base"/>
            <a:r>
              <a:rPr lang="pt-BR" sz="1800" dirty="0"/>
              <a:t>1. Abhigyan Tiwari – 25H51A67D0</a:t>
            </a:r>
          </a:p>
          <a:p>
            <a:pPr fontAlgn="base"/>
            <a:r>
              <a:rPr lang="pt-BR" sz="1800" dirty="0"/>
              <a:t>2. K.Bhargavi – 25H51A67F7</a:t>
            </a:r>
          </a:p>
          <a:p>
            <a:pPr fontAlgn="base"/>
            <a:r>
              <a:rPr lang="pt-BR" sz="1800" dirty="0"/>
              <a:t>3. N.Chandrika – 25H51A67H2</a:t>
            </a:r>
          </a:p>
          <a:p>
            <a:pPr fontAlgn="base"/>
            <a:r>
              <a:rPr lang="pt-BR" sz="1800" dirty="0"/>
              <a:t>4. B.Ashwitha – 25H51A6716</a:t>
            </a:r>
          </a:p>
          <a:p>
            <a:pPr fontAlgn="base"/>
            <a:r>
              <a:rPr lang="pt-BR" sz="1800" dirty="0"/>
              <a:t>5. K. Sri Vardhan – 25H51A6717</a:t>
            </a:r>
            <a:endParaRPr sz="1800" b="1" i="0" u="none" strike="noStrike" cap="none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                    </a:t>
            </a:r>
            <a:r>
              <a:rPr lang="en-US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sp>
        <p:nvSpPr>
          <p:cNvPr id="110" name="Google Shape;110;p1"/>
          <p:cNvSpPr/>
          <p:nvPr/>
        </p:nvSpPr>
        <p:spPr>
          <a:xfrm>
            <a:off x="-50590" y="1123950"/>
            <a:ext cx="8614314" cy="2329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CMR COLLEGE OF ENGINEERING &amp; TECHNOLOGY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(Autonomous)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Kandlakoya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1800" b="0" i="0" u="none" strike="noStrike" cap="none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Medchal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HYDERABAD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CENTRE FOR ENGINEERING EDUCATION RESEARCH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REVIEW-III</a:t>
            </a:r>
          </a:p>
          <a:p>
            <a:pPr lvl="0" algn="ctr">
              <a:lnSpc>
                <a:spcPct val="90000"/>
              </a:lnSpc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INNOVATION AND ENTREPRENEURSHIP </a:t>
            </a:r>
            <a:r>
              <a:rPr lang="en-US" sz="1800" b="1" i="0" u="none" strike="noStrike" cap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(A500507)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II</a:t>
            </a:r>
            <a:r>
              <a:rPr lang="en-US" sz="1800" b="1" i="0" u="none" strike="noStrike" cap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SEMESTER A.Y 202</a:t>
            </a:r>
            <a:r>
              <a:rPr lang="en-IN" sz="1800" b="1" i="0" u="none" strike="noStrike" cap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r>
              <a:rPr lang="en-US" sz="1800" b="1" i="0" u="none" strike="noStrike" cap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-2</a:t>
            </a:r>
            <a:r>
              <a:rPr lang="en-IN" sz="1800" b="1" i="0" u="none" strike="noStrike" cap="none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r>
            <a:endParaRPr lang="en-US" sz="1800" b="1" i="0" u="none" strike="noStrike" cap="none" dirty="0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7315199" y="1136427"/>
            <a:ext cx="1527715" cy="103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>
            <a:spLocks noGrp="1"/>
          </p:cNvSpPr>
          <p:nvPr>
            <p:ph type="title"/>
          </p:nvPr>
        </p:nvSpPr>
        <p:spPr>
          <a:xfrm>
            <a:off x="142844" y="114300"/>
            <a:ext cx="8772556" cy="74295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Constantia" panose="02030602050306030303"/>
              <a:buNone/>
            </a:pPr>
            <a:r>
              <a:rPr lang="en-US" sz="3600" b="1">
                <a:solidFill>
                  <a:srgbClr val="FF0000"/>
                </a:solidFill>
                <a:latin typeface="Constantia" panose="02030602050306030303"/>
                <a:ea typeface="Constantia" panose="02030602050306030303"/>
                <a:cs typeface="Constantia" panose="02030602050306030303"/>
                <a:sym typeface="Constantia" panose="02030602050306030303"/>
              </a:rPr>
              <a:t>CONTENT</a:t>
            </a:r>
            <a:endParaRPr sz="36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3"/>
          <a:srcRect l="22781" t="30230" r="26469" b="43290"/>
          <a:stretch>
            <a:fillRect/>
          </a:stretch>
        </p:blipFill>
        <p:spPr>
          <a:xfrm>
            <a:off x="76200" y="-102499"/>
            <a:ext cx="1527715" cy="103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96200" y="142858"/>
            <a:ext cx="1090642" cy="64294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251520" y="1064068"/>
            <a:ext cx="8143932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Existing Solutions</a:t>
            </a: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Proposed Solution</a:t>
            </a: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Components required</a:t>
            </a: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Block Diagram </a:t>
            </a: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Flow Chart</a:t>
            </a: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Working Principle of all components used/Software modules</a:t>
            </a: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Working of Business Model</a:t>
            </a: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and Discussions </a:t>
            </a: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Advantages and Drawbacks</a:t>
            </a: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27" name="Google Shape;127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/>
          <p:nvPr/>
        </p:nvSpPr>
        <p:spPr>
          <a:xfrm>
            <a:off x="2133600" y="277498"/>
            <a:ext cx="48006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lang="en-US" sz="2800" b="1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u="none" strike="noStrike" cap="none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 lang="en-US" sz="1600" b="1" i="1" u="none" strike="noStrike" cap="none" dirty="0">
              <a:solidFill>
                <a:srgbClr val="FF006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31" name="Google Shape;131;p3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117170"/>
            <a:ext cx="1527715" cy="10315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DA4AAA-A888-4EFE-1D12-6B4A80AD6C10}"/>
              </a:ext>
            </a:extLst>
          </p:cNvPr>
          <p:cNvSpPr txBox="1"/>
          <p:nvPr/>
        </p:nvSpPr>
        <p:spPr>
          <a:xfrm>
            <a:off x="231648" y="1292352"/>
            <a:ext cx="55961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>
                <a:cs typeface="Times New Roman" panose="02020603050405020304" pitchFamily="18" charset="0"/>
              </a:rPr>
              <a:t>In environments such as computer labs, computer libraries, and educational institutions, administrators face significant challenges in managing multiple computers efficiently.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>
                <a:cs typeface="Times New Roman" panose="02020603050405020304" pitchFamily="18" charset="0"/>
              </a:rPr>
              <a:t>Without a centralized system, tasks such as scheduling usage times, enforcing automatic shutdowns, and coordinating holidays or breaks become time‑consuming and resource‑intensive.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>
                <a:cs typeface="Times New Roman" panose="02020603050405020304" pitchFamily="18" charset="0"/>
              </a:rPr>
              <a:t>This lack of control also leads to unnecessary power wastage, increasing operational costs and reducing sustainability</a:t>
            </a:r>
            <a:r>
              <a:rPr lang="en-US">
                <a:cs typeface="Times New Roman" panose="02020603050405020304" pitchFamily="18" charset="0"/>
              </a:rPr>
              <a:t>.</a:t>
            </a:r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6" name="Picture 5" descr="The image depicts a spacious, modern office environment with rows of desks and computer stations, each occupied by individuals working at their computers.&#10;&#10;AI-generated content may be incorrect.">
            <a:extLst>
              <a:ext uri="{FF2B5EF4-FFF2-40B4-BE49-F238E27FC236}">
                <a16:creationId xmlns:a16="http://schemas.microsoft.com/office/drawing/2014/main" id="{85FE7D63-25A7-086F-3687-132267C814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638" y="1628413"/>
            <a:ext cx="3167533" cy="2066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2133600" y="277498"/>
            <a:ext cx="48006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SOLUTIONS</a:t>
            </a:r>
          </a:p>
        </p:txBody>
      </p:sp>
      <p:sp>
        <p:nvSpPr>
          <p:cNvPr id="141" name="Google Shape;141;p4"/>
          <p:cNvSpPr/>
          <p:nvPr/>
        </p:nvSpPr>
        <p:spPr>
          <a:xfrm>
            <a:off x="266700" y="1246407"/>
            <a:ext cx="5544616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r>
              <a:rPr lang="en-IN" sz="1800" b="1" dirty="0"/>
              <a:t>  </a:t>
            </a:r>
            <a:r>
              <a:rPr lang="en-IN" sz="1800" b="1" dirty="0" err="1"/>
              <a:t>MyPC</a:t>
            </a:r>
            <a:endParaRPr lang="en-IN" sz="1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Focused on </a:t>
            </a:r>
            <a:r>
              <a:rPr lang="en-IN" sz="2000" b="1" dirty="0"/>
              <a:t>recurring scheduling</a:t>
            </a:r>
            <a:r>
              <a:rPr lang="en-IN" sz="2000" dirty="0"/>
              <a:t> with admin templates.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Allows </a:t>
            </a:r>
            <a:r>
              <a:rPr lang="en-IN" sz="2000" b="1" dirty="0"/>
              <a:t>bulk generation of schedules</a:t>
            </a:r>
            <a:r>
              <a:rPr lang="en-IN" sz="2000" dirty="0"/>
              <a:t> for future date ranges.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Ideal for labs where </a:t>
            </a:r>
            <a:r>
              <a:rPr lang="en-IN" sz="2000" b="1" dirty="0"/>
              <a:t>students book slots repeatedly</a:t>
            </a:r>
            <a:r>
              <a:rPr lang="en-IN" sz="2000" dirty="0"/>
              <a:t> (e.g., weekly lab sessions).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117170"/>
            <a:ext cx="1527715" cy="103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MyPC&#10;&#10;AI-generated content may be incorrect.">
            <a:extLst>
              <a:ext uri="{FF2B5EF4-FFF2-40B4-BE49-F238E27FC236}">
                <a16:creationId xmlns:a16="http://schemas.microsoft.com/office/drawing/2014/main" id="{BB8DFF52-D27B-64F3-1B0A-1E30D9E864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762" y="2368658"/>
            <a:ext cx="2346351" cy="86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151" name="Google Shape;151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5"/>
          <p:cNvSpPr/>
          <p:nvPr/>
        </p:nvSpPr>
        <p:spPr>
          <a:xfrm>
            <a:off x="2133600" y="277498"/>
            <a:ext cx="48006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SOLUTIONS</a:t>
            </a:r>
          </a:p>
        </p:txBody>
      </p:sp>
      <p:sp>
        <p:nvSpPr>
          <p:cNvPr id="153" name="Google Shape;153;p5"/>
          <p:cNvSpPr txBox="1"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154" name="Google Shape;154;p5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117170"/>
            <a:ext cx="1527715" cy="103157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251520" y="1318382"/>
            <a:ext cx="5921531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r>
              <a:rPr lang="en-IN" sz="1800" b="1" dirty="0"/>
              <a:t> </a:t>
            </a:r>
            <a:r>
              <a:rPr lang="en-IN" sz="1800" b="1" dirty="0" err="1"/>
              <a:t>QReserve</a:t>
            </a:r>
            <a:endParaRPr lang="en-IN" sz="18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Resource-centric reservation 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Provides </a:t>
            </a:r>
            <a:r>
              <a:rPr lang="en-IN" sz="2000" b="1" dirty="0"/>
              <a:t>conflict prevention</a:t>
            </a:r>
            <a:r>
              <a:rPr lang="en-IN" sz="2000" dirty="0"/>
              <a:t> and approval-based scheduling.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Works well for </a:t>
            </a:r>
            <a:r>
              <a:rPr lang="en-IN" sz="2000" b="1" dirty="0"/>
              <a:t>shared workstations</a:t>
            </a:r>
            <a:r>
              <a:rPr lang="en-IN" sz="2000" dirty="0"/>
              <a:t> in labs or coworking spaces.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 descr="The image depicts a diagram with various research and medical equipment symbols, including a QR code, indicating a connection to the PM Cancer Centre and various research sites, and features elements like search, booking, usage, calendar, and maintenance.">
            <a:extLst>
              <a:ext uri="{FF2B5EF4-FFF2-40B4-BE49-F238E27FC236}">
                <a16:creationId xmlns:a16="http://schemas.microsoft.com/office/drawing/2014/main" id="{9642F4FA-187A-861D-1DD2-634D3749CE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123" y="1876837"/>
            <a:ext cx="2221501" cy="1252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163" name="Google Shape;163;p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6"/>
          <p:cNvSpPr/>
          <p:nvPr/>
        </p:nvSpPr>
        <p:spPr>
          <a:xfrm>
            <a:off x="2133600" y="277498"/>
            <a:ext cx="48006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SOLUTIONS</a:t>
            </a:r>
          </a:p>
        </p:txBody>
      </p:sp>
      <p:sp>
        <p:nvSpPr>
          <p:cNvPr id="165" name="Google Shape;165;p6"/>
          <p:cNvSpPr txBox="1"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</a:t>
            </a:r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117170"/>
            <a:ext cx="1527715" cy="103157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/>
        </p:nvSpPr>
        <p:spPr>
          <a:xfrm>
            <a:off x="251520" y="1318382"/>
            <a:ext cx="5921531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3. </a:t>
            </a:r>
            <a:r>
              <a:rPr lang="en-IN" sz="1600" b="1" dirty="0" err="1"/>
              <a:t>GoGuardian</a:t>
            </a:r>
            <a:r>
              <a:rPr lang="en-IN" sz="1600" b="1" dirty="0"/>
              <a:t> Teacher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Designed for </a:t>
            </a:r>
            <a:r>
              <a:rPr lang="en-IN" sz="1800" b="1" dirty="0"/>
              <a:t>real-time classroom and lab supervision</a:t>
            </a:r>
            <a:r>
              <a:rPr lang="en-IN" sz="18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Features </a:t>
            </a:r>
            <a:r>
              <a:rPr lang="en-IN" sz="1800" b="1" dirty="0"/>
              <a:t>live screen monitoring, blocking, and instructional control</a:t>
            </a:r>
            <a:r>
              <a:rPr lang="en-IN" sz="18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800" dirty="0"/>
              <a:t>Strong fit for </a:t>
            </a:r>
            <a:r>
              <a:rPr lang="en-IN" sz="1800" b="1" dirty="0"/>
              <a:t>K‑12 labs</a:t>
            </a:r>
            <a:r>
              <a:rPr lang="en-IN" sz="1800" dirty="0"/>
              <a:t> where teachers need oversight</a:t>
            </a:r>
            <a:r>
              <a:rPr lang="en-IN" sz="1600" dirty="0"/>
              <a:t>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8CD0B7-9729-AC99-1570-85F759E55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757" y="1606726"/>
            <a:ext cx="2072502" cy="1554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>
            <a:spLocks noGrp="1"/>
          </p:cNvSpPr>
          <p:nvPr>
            <p:ph type="sldNum" idx="12"/>
          </p:nvPr>
        </p:nvSpPr>
        <p:spPr>
          <a:xfrm>
            <a:off x="0" y="895350"/>
            <a:ext cx="533400" cy="23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3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1295400" y="278614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0" y="485775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u="none" strike="noStrike" cap="none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180" name="Google Shape;180;p7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136220"/>
            <a:ext cx="1527715" cy="10315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2571736" y="214296"/>
            <a:ext cx="442915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SOLUTION</a:t>
            </a:r>
            <a:endParaRPr sz="2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728D1-586E-C550-E57B-15A9CDC818B7}"/>
              </a:ext>
            </a:extLst>
          </p:cNvPr>
          <p:cNvSpPr txBox="1"/>
          <p:nvPr/>
        </p:nvSpPr>
        <p:spPr>
          <a:xfrm>
            <a:off x="292608" y="1310184"/>
            <a:ext cx="84734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Centralized Control:</a:t>
            </a:r>
            <a:r>
              <a:rPr lang="en-IN" sz="1600" dirty="0"/>
              <a:t> One admin console to manage every lab PC — schedules, live status, and overrides.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Timetable &amp; Holiday Control:</a:t>
            </a:r>
            <a:r>
              <a:rPr lang="en-IN" sz="1600" dirty="0"/>
              <a:t> Syncs with the college timetable. Planned holidays auto-cancel slots. A sudden holiday shuts the lab in one click.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Bulk Scheduling:</a:t>
            </a:r>
            <a:r>
              <a:rPr lang="en-IN" sz="1600" dirty="0"/>
              <a:t> Generate a weekly timetable once and apply it across selected labs in a single 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Attendance-based Power:</a:t>
            </a:r>
            <a:r>
              <a:rPr lang="en-IN" sz="1600" dirty="0"/>
              <a:t> Class booked for 64, only 40 present → only </a:t>
            </a:r>
            <a:r>
              <a:rPr lang="en-IN" sz="1600" b="1" dirty="0"/>
              <a:t>40 PCs wake or unlock</a:t>
            </a:r>
            <a:r>
              <a:rPr lang="en-IN" sz="1600" dirty="0"/>
              <a:t>. The other 24 stay 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Admin Grants More Access:</a:t>
            </a:r>
            <a:r>
              <a:rPr lang="en-IN" sz="1600" dirty="0"/>
              <a:t> Need extra machines? Admin gives access to </a:t>
            </a:r>
            <a:r>
              <a:rPr lang="en-IN" sz="1600" b="1" dirty="0"/>
              <a:t>more computers</a:t>
            </a:r>
            <a:r>
              <a:rPr lang="en-IN" sz="1600" dirty="0"/>
              <a:t> — one PC or several — for a set time, without opening the whole lab.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Analytics Dashboard:</a:t>
            </a:r>
            <a:r>
              <a:rPr lang="en-IN" sz="1600" dirty="0"/>
              <a:t> Usage, idle time, extra access grants, and energy saved — including PCs that never turned on.</a:t>
            </a: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>
            <a:spLocks noGrp="1"/>
          </p:cNvSpPr>
          <p:nvPr>
            <p:ph type="body" idx="1"/>
          </p:nvPr>
        </p:nvSpPr>
        <p:spPr>
          <a:xfrm>
            <a:off x="231648" y="1192175"/>
            <a:ext cx="8510016" cy="358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r>
              <a:rPr lang="en-IN" sz="5500" b="1" u="sng" dirty="0"/>
              <a:t>Software / Technologies</a:t>
            </a:r>
          </a:p>
          <a:p>
            <a:endParaRPr lang="en-IN" sz="5500" dirty="0"/>
          </a:p>
          <a:p>
            <a:pPr lvl="0"/>
            <a:r>
              <a:rPr lang="en-IN" sz="4300" b="1" dirty="0"/>
              <a:t>Admin Console (Frontend):</a:t>
            </a:r>
            <a:r>
              <a:rPr lang="en-IN" sz="4300" dirty="0"/>
              <a:t> Same Express app serves the dashboard: single-page HTML/CSS/JS UI, live seat grid</a:t>
            </a:r>
          </a:p>
          <a:p>
            <a:pPr lvl="0"/>
            <a:r>
              <a:rPr lang="en-IN" sz="4300" b="1" dirty="0"/>
              <a:t>Backend API:</a:t>
            </a:r>
            <a:r>
              <a:rPr lang="en-IN" sz="4300" dirty="0"/>
              <a:t> Node.js + Express (REST API + Server-Sent Events for live updates)</a:t>
            </a:r>
          </a:p>
          <a:p>
            <a:pPr lvl="0"/>
            <a:r>
              <a:rPr lang="en-IN" sz="4300" b="1" dirty="0" err="1"/>
              <a:t>Database:</a:t>
            </a:r>
            <a:r>
              <a:rPr lang="en-IN" sz="4300" dirty="0" err="1"/>
              <a:t> JSON</a:t>
            </a:r>
            <a:r>
              <a:rPr lang="en-IN" sz="4300" dirty="0"/>
              <a:t> file persistence (auto-saved state; no DB server needed in v1)</a:t>
            </a:r>
          </a:p>
          <a:p>
            <a:pPr lvl="0"/>
            <a:r>
              <a:rPr lang="en-IN" sz="4300" b="1" dirty="0"/>
              <a:t>Lab </a:t>
            </a:r>
            <a:r>
              <a:rPr lang="en-IN" sz="4300" b="1" dirty="0" err="1"/>
              <a:t>Agent:</a:t>
            </a:r>
            <a:r>
              <a:rPr lang="en-IN" sz="4300" dirty="0" err="1"/>
              <a:t> Node.js</a:t>
            </a:r>
            <a:r>
              <a:rPr lang="en-IN" sz="4300" dirty="0"/>
              <a:t> agent on each PC (outbound polling every 3 s; executes lock / unlock / sleep / wake / message / reboot)</a:t>
            </a:r>
          </a:p>
          <a:p>
            <a:pPr lvl="0"/>
            <a:r>
              <a:rPr lang="en-IN" sz="4300" b="1" dirty="0" err="1"/>
              <a:t>Authentication:</a:t>
            </a:r>
            <a:r>
              <a:rPr lang="en-IN" sz="4300" dirty="0" err="1"/>
              <a:t> Session-cookie</a:t>
            </a:r>
            <a:r>
              <a:rPr lang="en-IN" sz="4300" dirty="0"/>
              <a:t> admin login (</a:t>
            </a:r>
            <a:r>
              <a:rPr lang="en-IN" sz="4300" dirty="0" err="1"/>
              <a:t>HttpOnly</a:t>
            </a:r>
            <a:r>
              <a:rPr lang="en-IN" sz="4300" dirty="0"/>
              <a:t>, 12 h) + per-PC agent tokens (X-PC-Token header)</a:t>
            </a:r>
          </a:p>
          <a:p>
            <a:pPr lvl="0"/>
            <a:r>
              <a:rPr lang="en-IN" sz="4300" b="1" dirty="0" err="1"/>
              <a:t>Scheduling:</a:t>
            </a:r>
            <a:r>
              <a:rPr lang="en-IN" sz="4300" dirty="0" err="1"/>
              <a:t> Desired-state</a:t>
            </a:r>
            <a:r>
              <a:rPr lang="en-IN" sz="4300" dirty="0"/>
              <a:t> engine: LOCKED / UNLOCKED / SLEEPING with time-boxed grants (1-1440 min), auto-relock on expiry</a:t>
            </a:r>
          </a:p>
          <a:p>
            <a:pPr lvl="0"/>
            <a:r>
              <a:rPr lang="en-IN" sz="4300" b="1" dirty="0" err="1"/>
              <a:t>Analytics:</a:t>
            </a:r>
            <a:r>
              <a:rPr lang="en-IN" sz="4300" dirty="0" err="1"/>
              <a:t> Live</a:t>
            </a:r>
            <a:r>
              <a:rPr lang="en-IN" sz="4300" dirty="0"/>
              <a:t> seat grid + audit log (every action time-stamped; persisted across restarts)</a:t>
            </a:r>
          </a:p>
          <a:p>
            <a:pPr lvl="0"/>
            <a:r>
              <a:rPr lang="en-IN" sz="4300" b="1" dirty="0" err="1"/>
              <a:t>OS:</a:t>
            </a:r>
            <a:r>
              <a:rPr lang="en-IN" sz="4300" dirty="0" err="1"/>
              <a:t> Windows</a:t>
            </a:r>
            <a:r>
              <a:rPr lang="en-IN" sz="4300" dirty="0"/>
              <a:t> 10/11 verified end-to-end (agent is cross-platform Node.js: Windows / Linux / macOS)</a:t>
            </a:r>
          </a:p>
          <a:p>
            <a:pPr marL="320040" lvl="0" indent="-267335" algn="l" rtl="0">
              <a:spcBef>
                <a:spcPts val="700"/>
              </a:spcBef>
              <a:spcAft>
                <a:spcPts val="0"/>
              </a:spcAft>
              <a:buSzPct val="60000"/>
              <a:buNone/>
            </a:pPr>
            <a:endParaRPr dirty="0"/>
          </a:p>
        </p:txBody>
      </p:sp>
      <p:sp>
        <p:nvSpPr>
          <p:cNvPr id="190" name="Google Shape;190;p8"/>
          <p:cNvSpPr txBox="1">
            <a:spLocks noGrp="1"/>
          </p:cNvSpPr>
          <p:nvPr>
            <p:ph type="body" idx="2"/>
          </p:nvPr>
        </p:nvSpPr>
        <p:spPr>
          <a:xfrm flipH="1">
            <a:off x="9899903" y="1192175"/>
            <a:ext cx="609599" cy="13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60000"/>
              <a:buNone/>
            </a:pPr>
            <a:endParaRPr dirty="0"/>
          </a:p>
        </p:txBody>
      </p:sp>
      <p:sp>
        <p:nvSpPr>
          <p:cNvPr id="191" name="Google Shape;191;p8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192" name="Google Shape;192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/>
          <p:nvPr/>
        </p:nvSpPr>
        <p:spPr>
          <a:xfrm>
            <a:off x="762000" y="278614"/>
            <a:ext cx="67818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COMPONENTS REQUIRED</a:t>
            </a:r>
            <a:endParaRPr sz="2800" b="1" i="0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0" y="478155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195" name="Google Shape;195;p8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19932"/>
            <a:ext cx="1527715" cy="103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02" name="Google Shape;202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1285852" y="278634"/>
            <a:ext cx="6257948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BLOCK DIAGRAM  </a:t>
            </a:r>
            <a:endParaRPr sz="2800" b="1" i="0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0" y="470535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205" name="Google Shape;205;p9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-78057" y="-117170"/>
            <a:ext cx="1527715" cy="103157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9"/>
          <p:cNvSpPr txBox="1"/>
          <p:nvPr/>
        </p:nvSpPr>
        <p:spPr>
          <a:xfrm>
            <a:off x="714348" y="3000378"/>
            <a:ext cx="67866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714348" y="3214692"/>
            <a:ext cx="74295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0A2CAA-7DB4-C804-2D1C-E258814609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36" y="954167"/>
            <a:ext cx="7667864" cy="38008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29" name="Google Shape;229;p1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0"/>
          <p:cNvSpPr/>
          <p:nvPr/>
        </p:nvSpPr>
        <p:spPr>
          <a:xfrm>
            <a:off x="1128156" y="246302"/>
            <a:ext cx="688768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FLOW CHART</a:t>
            </a:r>
          </a:p>
        </p:txBody>
      </p:sp>
      <p:sp>
        <p:nvSpPr>
          <p:cNvPr id="231" name="Google Shape;231;p10"/>
          <p:cNvSpPr txBox="1"/>
          <p:nvPr/>
        </p:nvSpPr>
        <p:spPr>
          <a:xfrm>
            <a:off x="0" y="4679729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77403"/>
            <a:ext cx="1527715" cy="103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B1BFF0-E83E-E83B-3F18-043F8B7A5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000255"/>
            <a:ext cx="8363712" cy="35936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40" name="Google Shape;240;p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1"/>
          <p:cNvSpPr/>
          <p:nvPr/>
        </p:nvSpPr>
        <p:spPr>
          <a:xfrm>
            <a:off x="1128156" y="153948"/>
            <a:ext cx="688768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WORKING PRINCIPLE OF ALL COMPONENTS USED/SOFTWARE MODULES</a:t>
            </a:r>
          </a:p>
        </p:txBody>
      </p:sp>
      <p:sp>
        <p:nvSpPr>
          <p:cNvPr id="242" name="Google Shape;242;p11"/>
          <p:cNvSpPr txBox="1"/>
          <p:nvPr/>
        </p:nvSpPr>
        <p:spPr>
          <a:xfrm>
            <a:off x="0" y="455295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        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243" name="Google Shape;243;p11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77403"/>
            <a:ext cx="1527715" cy="103157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TextBox 11c" descr="">
            <a:extLst>
              <a:ext uri="{FF2B5EF4-FFF2-40B4-BE49-F238E27FC236}">
                <a16:creationId xmlns:a16="http://schemas.microsoft.com/office/drawing/2014/main" id="{A71728D1-586E-C550-E57B-15A9CDC818B7}"/>
              </a:ext>
            </a:extLst>
          </p:cNvPr>
          <p:cNvSpPr txBox="1"/>
          <p:nvPr/>
        </p:nvSpPr>
        <p:spPr>
          <a:xfrm>
            <a:off x="292608" y="1500000"/>
            <a:ext cx="847344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b="1"/>
              <a:t>Dashboard:</a:t>
            </a:r>
            <a:r>
              <a:rPr lang="en-IN" sz="1400" dirty="0"/>
              <a:t> One web page shows every lab PC as a live card — free, locked or sleeping. The admin can grant extra time to a PC, message it, or sleep / reboot it; updates appear instantly.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b="1"/>
              <a:t>Server (Node.js + Express):</a:t>
            </a:r>
            <a:r>
              <a:rPr lang="en-IN" sz="1400" dirty="0"/>
              <a:t> Keeps PCs, tokens, the weekly schedule and an audit log in one JSON file. A tick engine matches every PC to the timetable, and Wake-on-LAN packets wake the needed PCs before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b="1"/>
              <a:t>Login &amp; tokens:</a:t>
            </a:r>
            <a:r>
              <a:rPr lang="en-IN" sz="1400" dirty="0"/>
              <a:t> The admin logs in with a session cookie; each agent carries its own secret token (X-PC-Token), and a wrong token is rejected.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b="1"/>
              <a:t>Lab agent (on every PC):</a:t>
            </a:r>
            <a:r>
              <a:rPr lang="en-IN" sz="1400" dirty="0"/>
              <a:t> Calls home every 3 s and runs lock / unlock / sleep / reboot / message. A PC without a grant is covered by a fullscreen lock — if the server goes down, the PC locks itself instead of staying open.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b="1"/>
              <a:t>Timetable &amp; analytics:</a:t>
            </a:r>
            <a:r>
              <a:rPr lang="en-IN" sz="1400" dirty="0"/>
              <a:t> A timetable photo is read into the weekly schedule by the Gemini vision API; holidays cancel the slots. Every action is time-stamped, and the dashboard reports usage, idle time and power saved.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51" name="Google Shape;251;p1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/>
          <p:nvPr/>
        </p:nvSpPr>
        <p:spPr>
          <a:xfrm>
            <a:off x="1115616" y="264047"/>
            <a:ext cx="700824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WORKING OF THE BUSINESS MODEL</a:t>
            </a:r>
          </a:p>
        </p:txBody>
      </p:sp>
      <p:sp>
        <p:nvSpPr>
          <p:cNvPr id="253" name="Google Shape;253;p12"/>
          <p:cNvSpPr txBox="1"/>
          <p:nvPr/>
        </p:nvSpPr>
        <p:spPr>
          <a:xfrm>
            <a:off x="0" y="455295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254" name="Google Shape;254;p12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77403"/>
            <a:ext cx="1527715" cy="103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B85CB0-74BC-17A9-774B-837636E4C3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" y="1261120"/>
            <a:ext cx="8645651" cy="3291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88" name="Google Shape;288;p1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5"/>
          <p:cNvSpPr/>
          <p:nvPr/>
        </p:nvSpPr>
        <p:spPr>
          <a:xfrm>
            <a:off x="1214414" y="283176"/>
            <a:ext cx="6500858" cy="530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AND DISCUSSIONS</a:t>
            </a:r>
          </a:p>
        </p:txBody>
      </p:sp>
      <p:sp>
        <p:nvSpPr>
          <p:cNvPr id="290" name="Google Shape;290;p15"/>
          <p:cNvSpPr txBox="1"/>
          <p:nvPr/>
        </p:nvSpPr>
        <p:spPr>
          <a:xfrm>
            <a:off x="0" y="4671523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291" name="Google Shape;291;p15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77403"/>
            <a:ext cx="1527715" cy="103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9D95EC-5E50-A243-0108-F63EDCEDB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798729"/>
            <a:ext cx="8381560" cy="38878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74" name="Google Shape;274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4"/>
          <p:cNvSpPr/>
          <p:nvPr/>
        </p:nvSpPr>
        <p:spPr>
          <a:xfrm>
            <a:off x="500034" y="231594"/>
            <a:ext cx="73914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ADVANTAGES &amp; DISADVANTAGES </a:t>
            </a:r>
            <a:endParaRPr sz="2800" b="1" i="0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0" y="474345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277" name="Google Shape;277;p14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98212"/>
            <a:ext cx="1527715" cy="103157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4"/>
          <p:cNvSpPr txBox="1"/>
          <p:nvPr/>
        </p:nvSpPr>
        <p:spPr>
          <a:xfrm>
            <a:off x="533400" y="1263164"/>
            <a:ext cx="40386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1600" b="1" dirty="0"/>
              <a:t>Advantages</a:t>
            </a:r>
            <a:r>
              <a:rPr lang="en-IN" sz="1600" dirty="0"/>
              <a:t>: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Centralized management of laboratory PCs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Automatic scheduling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Holiday-based schedule control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Attendance-based PC allocation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Reduced unnecessary power usage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Real-time PC monitoring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Temporary additional access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Usage and energy-saving analytics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Reduces manual administrative work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</a:pPr>
            <a:endParaRPr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4876800" y="1188152"/>
            <a:ext cx="4038600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None/>
            </a:pPr>
            <a:r>
              <a:rPr lang="en-IN" sz="1600" b="1" dirty="0"/>
              <a:t>Disadvantages</a:t>
            </a:r>
            <a:endParaRPr lang="en-IN" sz="1600" dirty="0"/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Requires installation of a Lab Agent on each PC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Requires reliable network connectivity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Initial setup and configuration may require time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Requires appropriate permissions for PC shutdown/log-off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Security of admin access must be maintained </a:t>
            </a:r>
          </a:p>
          <a:p>
            <a:pPr marL="285750" indent="-285750">
              <a:buClr>
                <a:schemeClr val="dk1"/>
              </a:buClr>
              <a:buSzPts val="1600"/>
              <a:buFont typeface="Arial" panose="020B0604020202020204"/>
              <a:buChar char="•"/>
            </a:pPr>
            <a:r>
              <a:rPr lang="en-IN" sz="1600" dirty="0"/>
              <a:t>Actual energy savings depend on laboratory usage patterns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•"/>
            </a:pPr>
            <a:endParaRPr lang="en-US" sz="16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>
            <a:spLocks noGrp="1"/>
          </p:cNvSpPr>
          <p:nvPr>
            <p:ph type="sldNum" idx="12"/>
          </p:nvPr>
        </p:nvSpPr>
        <p:spPr>
          <a:xfrm>
            <a:off x="0" y="954167"/>
            <a:ext cx="533400" cy="18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>
              <a:solidFill>
                <a:srgbClr val="FFFFFF"/>
              </a:solidFill>
            </a:endParaRPr>
          </a:p>
        </p:txBody>
      </p:sp>
      <p:pic>
        <p:nvPicPr>
          <p:cNvPr id="299" name="Google Shape;299;p1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96200" y="0"/>
            <a:ext cx="12192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/>
          <p:nvPr/>
        </p:nvSpPr>
        <p:spPr>
          <a:xfrm>
            <a:off x="381000" y="63172"/>
            <a:ext cx="73914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</a:t>
            </a:r>
            <a:r>
              <a:rPr lang="en-US" sz="28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  <a:endParaRPr sz="2800" b="1" i="0" strike="noStrike" cap="none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0" y="4743450"/>
            <a:ext cx="914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 err="1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LabNexus</a:t>
            </a: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                                           CMR College of Engineering &amp; Technology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>
                <a:solidFill>
                  <a:srgbClr val="FF00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</p:txBody>
      </p:sp>
      <p:pic>
        <p:nvPicPr>
          <p:cNvPr id="302" name="Google Shape;302;p16"/>
          <p:cNvPicPr preferRelativeResize="0"/>
          <p:nvPr/>
        </p:nvPicPr>
        <p:blipFill rotWithShape="1">
          <a:blip r:embed="rId4"/>
          <a:srcRect l="22781" t="30230" r="26469" b="43290"/>
          <a:stretch>
            <a:fillRect/>
          </a:stretch>
        </p:blipFill>
        <p:spPr>
          <a:xfrm>
            <a:off x="0" y="-98212"/>
            <a:ext cx="1527715" cy="10315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A0DD7F-B1E1-4FD9-43AB-C3CBF15D42DB}"/>
              </a:ext>
            </a:extLst>
          </p:cNvPr>
          <p:cNvSpPr txBox="1"/>
          <p:nvPr/>
        </p:nvSpPr>
        <p:spPr>
          <a:xfrm>
            <a:off x="218831" y="1438031"/>
            <a:ext cx="845624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J. Wu and X. Guo, "Online booking system design and experimental realization," 2011 International Conference on Electrical and Control Engineering, Yichang, China, 2011, pp. 3556-3560, doi: 10.1109/ICECENG.2011.6057629.</a:t>
            </a:r>
          </a:p>
          <a:p>
            <a:endParaRPr lang="en-US" sz="1200" dirty="0"/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Mai and Y. Chen, "Design and Implementation of Lab Reservation System Based on Applet," 2022 4th International Conference on Artificial Intelligence and Advanced Manufacturing (AIAM), Hamburg, Germany, 2022, pp. 108-113, doi: 10.1109/AIAM57466.2022.00028.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Tao, W. Liang, G. Liu and Z. Zhihong, "The Kernel of Lab Intelligent Management System in University," 2014 Enterprise Systems Conference, Shanghai, China, 2014, pp. 336-339, doi: 10.1109/ES.2014.69.</a:t>
            </a:r>
          </a:p>
          <a:p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17" descr="Vintage_VictorianThank_You_Full_Color-Distressed@2x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52700" y="2228850"/>
            <a:ext cx="42291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7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96200" y="171450"/>
            <a:ext cx="12192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7"/>
          <p:cNvPicPr preferRelativeResize="0"/>
          <p:nvPr/>
        </p:nvPicPr>
        <p:blipFill rotWithShape="1">
          <a:blip r:embed="rId5"/>
          <a:srcRect l="22781" t="30230" r="26469" b="43290"/>
          <a:stretch>
            <a:fillRect/>
          </a:stretch>
        </p:blipFill>
        <p:spPr>
          <a:xfrm>
            <a:off x="0" y="-98212"/>
            <a:ext cx="1527715" cy="103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dian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1148</Words>
  <Application>Microsoft Office PowerPoint</Application>
  <PresentationFormat>On-screen Show (16:9)</PresentationFormat>
  <Paragraphs>162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Twentieth Century</vt:lpstr>
      <vt:lpstr>Times New Roman</vt:lpstr>
      <vt:lpstr>Calibri</vt:lpstr>
      <vt:lpstr>Arial</vt:lpstr>
      <vt:lpstr>Constantia</vt:lpstr>
      <vt:lpstr>Noto Sans Symbols</vt:lpstr>
      <vt:lpstr>Median</vt:lpstr>
      <vt:lpstr>LabNexus: Unified Computer Resources Control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LUGGAGE</dc:title>
  <dc:creator>CEER</dc:creator>
  <cp:lastModifiedBy>balu gadu</cp:lastModifiedBy>
  <cp:revision>12</cp:revision>
  <dcterms:created xsi:type="dcterms:W3CDTF">2024-11-12T08:29:34Z</dcterms:created>
  <dcterms:modified xsi:type="dcterms:W3CDTF">2026-10-28T14:14:19Z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TC101671259990</vt:lpwstr>
  </property>
  <property fmtid="{D5CDD505-2E9C-101B-9397-08002B2CF9AE}" pid="3" name="ICV">
    <vt:lpwstr>72008C820FB14FB2AB2DF4CEF521AEDD_12</vt:lpwstr>
  </property>
  <property fmtid="{D5CDD505-2E9C-101B-9397-08002B2CF9AE}" pid="4" name="KSOProductBuildVer">
    <vt:lpwstr>1033-12.2.0.18607</vt:lpwstr>
  </property>
</Properties>
</file>