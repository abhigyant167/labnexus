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 THIS (one line) ==</a:t>
            </a:r>
          </a:p>
          <a:p>
            <a:r>
              <a:t>My topic is how a computer stores 1s and 0s, and where it keeps them.</a:t>
            </a:r>
          </a:p>
          <a:p/>
          <a:p>
            <a:r>
              <a:t>== FULL SCRIPT ==</a:t>
            </a:r>
          </a:p>
          <a:p>
            <a:r>
              <a:t>- Good morning. My topic is Binary Storage and Registers.</a:t>
            </a:r>
          </a:p>
          <a:p>
            <a:r>
              <a:t>- My aim is simple: to answer two questions.</a:t>
            </a:r>
          </a:p>
          <a:p>
            <a:r>
              <a:t>- First, how does a machine that only understands ON and OFF keep a number?</a:t>
            </a:r>
          </a:p>
          <a:p>
            <a:r>
              <a:t>- Second, where does it keep that number while it is calculating?</a:t>
            </a:r>
          </a:p>
          <a:p>
            <a:r>
              <a:t>- By the end you will see that the answer to the first is a tiny circuit called a flip-flop, and the answer to the second is a register.</a:t>
            </a:r>
          </a:p>
          <a:p/>
          <a:p>
            <a:r>
              <a:t>== IF ASKED ==</a:t>
            </a:r>
          </a:p>
          <a:p>
            <a:r>
              <a:t>Nothing yet - just set up the two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 THIS (one line) ==</a:t>
            </a:r>
          </a:p>
          <a:p>
            <a:r>
              <a:t>Six short steps, and each one uses the step before it.</a:t>
            </a:r>
          </a:p>
          <a:p/>
          <a:p>
            <a:r>
              <a:t>== FULL SCRIPT ==</a:t>
            </a:r>
          </a:p>
          <a:p>
            <a:r>
              <a:t>- Here is the route I will follow, and it is a ladder.</a:t>
            </a:r>
          </a:p>
          <a:p>
            <a:r>
              <a:t>- Step one: bits - what binary is and how many values fit in a few bits.</a:t>
            </a:r>
          </a:p>
          <a:p>
            <a:r>
              <a:t>- Step two: the small circuit that can hold one bit.</a:t>
            </a:r>
          </a:p>
          <a:p>
            <a:r>
              <a:t>- Step three: a register - just many of those circuits in a row.</a:t>
            </a:r>
          </a:p>
          <a:p>
            <a:r>
              <a:t>- Step four: how we control a register, move values between registers, and share one wire between them.</a:t>
            </a:r>
          </a:p>
          <a:p>
            <a:r>
              <a:t>- Step five: where registers sit in the computer, plus one worked example.</a:t>
            </a:r>
          </a:p>
          <a:p>
            <a:r>
              <a:t>- Step six: a short summary, and then your questions.</a:t>
            </a:r>
          </a:p>
          <a:p/>
          <a:p>
            <a:r>
              <a:t>== IF ASKED ==</a:t>
            </a:r>
          </a:p>
          <a:p>
            <a:r>
              <a:t>No numbers to remember here, just the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 THIS (one line) ==</a:t>
            </a:r>
          </a:p>
          <a:p>
            <a:r>
              <a:t>A bit is just ON or OFF. Each extra bit doubles the values you can store.</a:t>
            </a:r>
          </a:p>
          <a:p/>
          <a:p>
            <a:r>
              <a:t>== FULL SCRIPT ==</a:t>
            </a:r>
          </a:p>
          <a:p>
            <a:r>
              <a:t>- Everything inside a computer is either ON or OFF. We write ON as 1 and OFF as 0, and one such digit is called a bit.</a:t>
            </a:r>
          </a:p>
          <a:p>
            <a:r>
              <a:t>- Why only two states? Because a transistor that is fully off or fully on is cheap, fast, and does not get confused by small electrical noise.</a:t>
            </a:r>
          </a:p>
          <a:p>
            <a:r>
              <a:t>- Here is eight bits in a row, and above each one its weight: 128, 64, 32, 16, 8, 4, 2, 1. To read the number, add the weights where there is a 1.</a:t>
            </a:r>
          </a:p>
          <a:p>
            <a:r>
              <a:t>- In this example 128 plus 32 plus 16 plus 4 gives 180. The same eight bits can be written as 180 in decimal, or as B4 in hexadecimal - it is the same value, just a shorter way of writing it.</a:t>
            </a:r>
          </a:p>
          <a:p>
            <a:r>
              <a:t>- Now the pattern to remember: with n bits you can make two to the power n different values. One bit gives 2, four bits give 16, eight bits give 256, and thirty-two bits give about 4.3 billion - which is why there are that many internet addresses in IPv4.</a:t>
            </a:r>
          </a:p>
          <a:p>
            <a:r>
              <a:t>- And because memory is addressed with bits, sizes also come in powers of two: one kilobyte is 1024 bytes, not 1000.</a:t>
            </a:r>
          </a:p>
          <a:p/>
          <a:p>
            <a:r>
              <a:t>== IF ASKED ==</a:t>
            </a:r>
          </a:p>
          <a:p>
            <a:r>
              <a:t>If someone asks why 1024: k address bits give 2^k locations, so capacities naturally land on powers of two.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 THIS (one line) ==</a:t>
            </a:r>
          </a:p>
          <a:p>
            <a:r>
              <a:t>A flip-flop remembers one bit by feeding its own output back into itself.</a:t>
            </a:r>
          </a:p>
          <a:p/>
          <a:p>
            <a:r>
              <a:t>== FULL SCRIPT ==</a:t>
            </a:r>
          </a:p>
          <a:p>
            <a:r>
              <a:t>- A bit has to survive after we stop sending it, so we need a circuit that can hold a state. There are three you should know.</a:t>
            </a:r>
          </a:p>
          <a:p>
            <a:r>
              <a:t>- First, the SR latch: two NOR gates whose outputs feed each other's inputs. Because each gate keeps the other going, the value stays put with no clock at all. It is simple, but it reacts to its inputs at any time, which makes large designs messy.</a:t>
            </a:r>
          </a:p>
          <a:p>
            <a:r>
              <a:t>- Second, the D flip-flop. It only looks at its input at the moment the clock ticks - the rising edge. So the whole circuit moves in step, and we get predictable timing. This is the standard one-bit memory, and it is what a register is built from.</a:t>
            </a:r>
          </a:p>
          <a:p>
            <a:r>
              <a:t>- Third, the DRAM cell used in main memory: one transistor and one capacitor. Charge on the capacitor means 1, no charge means 0. It is tiny, so you get gigabytes, but the charge leaks away, so it must be refreshed about every 64 milliseconds.</a:t>
            </a:r>
          </a:p>
          <a:p>
            <a:r>
              <a:t>- That is the trade-off to remember: a flip-flop uses about six transistors per bit and never needs refreshing - fast, and used inside the processor. A DRAM cell uses one transistor plus a capacitor and needs refresh - cheap and dense, and used for main memory.</a:t>
            </a:r>
          </a:p>
          <a:p/>
          <a:p>
            <a:r>
              <a:t>== IF ASKED ==</a:t>
            </a:r>
          </a:p>
          <a:p>
            <a:r>
              <a:t>If asked why DRAM needs refreshing: the capacitor leaks, so every cell is read and written back periodically.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 THIS (one line) ==</a:t>
            </a:r>
          </a:p>
          <a:p>
            <a:r>
              <a:t>A register is a row of flip-flops that all take a new value at the same instant.</a:t>
            </a:r>
          </a:p>
          <a:p/>
          <a:p>
            <a:r>
              <a:t>== FULL SCRIPT ==</a:t>
            </a:r>
          </a:p>
          <a:p>
            <a:r>
              <a:t>- A register is nothing new. It is a group of flip-flops, one per bit, sharing one clock line.</a:t>
            </a:r>
          </a:p>
          <a:p>
            <a:r>
              <a:t>- Because all of them hear the same clock edge, all bits change together. You never read a register and find half the new value and half the old one.</a:t>
            </a:r>
          </a:p>
          <a:p>
            <a:r>
              <a:t>- The width is just the count: an eight-bit register is eight flip-flops, a sixty-four-bit register is sixty-four. And a register has no address - the instruction names it directly, which is why using it costs one cycle instead of a trip to memory.</a:t>
            </a:r>
          </a:p>
          <a:p>
            <a:r>
              <a:t>- The table shows the registers you meet inside a processor. The program counter holds the address of the next instruction, which is what makes a program a sequence. The instruction register holds the instruction being decoded. The memory address and memory data registers are the only way to talk to memory. The accumulator keeps an intermediate result, the stack pointer makes function calls possible, and the status register holds the flags used by conditional branches.</a:t>
            </a:r>
          </a:p>
          <a:p>
            <a:r>
              <a:t>- Finally, the notation. R2 arrow R1 means copy R1 into R2. Read it right to left: the source is copied, the destination is overwritten. It only happens when the control signal for that transfer is 1.</a:t>
            </a:r>
          </a:p>
          <a:p/>
          <a:p>
            <a:r>
              <a:t>== IF ASKED ==</a:t>
            </a:r>
          </a:p>
          <a:p>
            <a:r>
              <a:t>If asked 'does R1 lose its value?' - no, a transfer is a copy.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 THIS (one line) ==</a:t>
            </a:r>
          </a:p>
          <a:p>
            <a:r>
              <a:t>A register changes only when a control signal tells it to - and only one register may drive the shared wire.</a:t>
            </a:r>
          </a:p>
          <a:p/>
          <a:p>
            <a:r>
              <a:t>== FULL SCRIPT ==</a:t>
            </a:r>
          </a:p>
          <a:p>
            <a:r>
              <a:t>- Three small ideas control everything.</a:t>
            </a:r>
          </a:p>
          <a:p>
            <a:r>
              <a:t>- One: parallel load. In front of every flip-flop there is a two-to-one selector. If the Load signal is 1, the selector passes the new data in. If Load is 0, it feeds the flip-flop's own output back, so the value is held. That is why processors have write-enable signals.</a:t>
            </a:r>
          </a:p>
          <a:p>
            <a:r>
              <a:t>- Two: shifting. Connect each flip-flop's output to the next one's input, and with each clock every bit moves one place. Shifting left multiplies by two, shifting right divides by two, and a rotate sends the bit that falls off one end back in at the other end so nothing is lost. The little table shows 1011 moving right, one position per clock.</a:t>
            </a:r>
          </a:p>
          <a:p>
            <a:r>
              <a:t>- Three: the bus. If every register had its own private path to every other register, the wiring would grow with the square of the number of registers. Instead they all share one bus, through tri-state buffers which can be 0, 1, or disconnected - that third state is called high impedance.</a:t>
            </a:r>
          </a:p>
          <a:p>
            <a:r>
              <a:t>- But here is the rule: exactly one register may be enabled at a time. If two drive the wire together, one tries to pull it high while the other pulls it low, and that is a short circuit, not just a wrong value.</a:t>
            </a:r>
          </a:p>
          <a:p/>
          <a:p>
            <a:r>
              <a:t>== IF ASKED ==</a:t>
            </a:r>
          </a:p>
          <a:p>
            <a:r>
              <a:t>If asked what the third state is: high impedance, electrically disconnected, so the wire is left alone.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 THIS (one line) ==</a:t>
            </a:r>
          </a:p>
          <a:p>
            <a:r>
              <a:t>Registers are the fastest and smallest storage, because they are built from flip-flops.</a:t>
            </a:r>
          </a:p>
          <a:p/>
          <a:p>
            <a:r>
              <a:t>== FULL SCRIPT ==</a:t>
            </a:r>
          </a:p>
          <a:p>
            <a:r>
              <a:t>- The bit in a register and the bit in main memory are logically the same, but physically very different.</a:t>
            </a:r>
          </a:p>
          <a:p>
            <a:r>
              <a:t>- Registers sit inside the processor: a few dozen of them, read in under a nanosecond. Cache is next, kilobytes to megabytes at a few nanoseconds. Main memory is gigabytes but takes tens of nanoseconds, and a disk takes microseconds to milliseconds.</a:t>
            </a:r>
          </a:p>
          <a:p>
            <a:r>
              <a:t>- Why not make everything registers? Because a flip-flop costs about six transistors per bit while a DRAM cell costs one transistor and a capacitor. You could never fit gigabytes that way.</a:t>
            </a:r>
          </a:p>
          <a:p>
            <a:r>
              <a:t>- Now one worked example, all on the same eight flip-flops. R1 holds 0000 1101, which is 13.</a:t>
            </a:r>
          </a:p>
          <a:p>
            <a:r>
              <a:t>- A load with 11010110 overwrites the whole word at once - that is the load enable doing its job. A left shift gives 0001 1010, which is 26: doubled. A right shift gives 0000 0110, which is 6: the half that did not fit is lost. A rotate gives 1000 0110, which is 134, and nothing was lost because the bit that left one end came back at the other.</a:t>
            </a:r>
          </a:p>
          <a:p>
            <a:r>
              <a:t>- Same hardware every time. Only the control signals changed.</a:t>
            </a:r>
          </a:p>
          <a:p/>
          <a:p>
            <a:r>
              <a:t>== IF ASKED ==</a:t>
            </a:r>
          </a:p>
          <a:p>
            <a:r>
              <a:t>If asked why 13/2 is 6 and not 6.5: shifting drops the remainder - it is integer division.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 THIS (one line) ==</a:t>
            </a:r>
          </a:p>
          <a:p>
            <a:r>
              <a:t>Five sentences: binary, the bit cell, the register, the control signals, and the hierarchy.</a:t>
            </a:r>
          </a:p>
          <a:p/>
          <a:p>
            <a:r>
              <a:t>== FULL SCRIPT ==</a:t>
            </a:r>
          </a:p>
          <a:p>
            <a:r>
              <a:t>- To finish, five sentences.</a:t>
            </a:r>
          </a:p>
          <a:p>
            <a:r>
              <a:t>- One: binary is a hardware decision. Two states are cheap and reliable, and n bits give two to the power n values.</a:t>
            </a:r>
          </a:p>
          <a:p>
            <a:r>
              <a:t>- Two: a bit is held by a circuit that can sit stably in one of two states - a flip-flop for speed, a capacitor for density.</a:t>
            </a:r>
          </a:p>
          <a:p>
            <a:r>
              <a:t>- Three: a register is a row of those flip-flops on one clock, so a word is never read half-written.</a:t>
            </a:r>
          </a:p>
          <a:p>
            <a:r>
              <a:t>- Four: control signals decide what happens - load to write, shift to move, tri-state enables to share one bus, one driver at a time.</a:t>
            </a:r>
          </a:p>
          <a:p>
            <a:r>
              <a:t>- Five: that is exactly why the hierarchy looks the way it does - fast and tiny at the top, slow and huge at the bottom.</a:t>
            </a:r>
          </a:p>
          <a:p>
            <a:r>
              <a:t>- On the right are the four questions I would expect, with short answers. Thank you - I am happy to take questions.</a:t>
            </a:r>
          </a:p>
          <a:p/>
          <a:p>
            <a:r>
              <a:t>== IF ASKED ==</a:t>
            </a:r>
          </a:p>
          <a:p>
            <a:r>
              <a:t>No expected question on this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C1B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031175" y="960120"/>
            <a:ext cx="640080" cy="640080"/>
          </a:xfrm>
          <a:prstGeom prst="rect">
            <a:avLst/>
          </a:prstGeom>
          <a:noFill/>
        </p:spPr>
        <p:txBody>
          <a:bodyPr wrap="square" lIns="0" rIns="0" tIns="0" bIns="0" anchor="t">
            <a:spAutoFit/>
          </a:bodyPr>
          <a:lstStyle/>
          <a:p>
            <a:pPr algn="ctr">
              <a:spcBef>
                <a:spcPts val="0"/>
              </a:spcBef>
              <a:spcAft>
                <a:spcPts val="0"/>
              </a:spcAft>
            </a:pPr>
            <a:r>
              <a:rPr sz="4231" b="1" i="0">
                <a:solidFill>
                  <a:srgbClr val="183340"/>
                </a:solidFill>
                <a:latin typeface="Consolas"/>
              </a:rPr>
              <a:t>1</a:t>
            </a:r>
          </a:p>
        </p:txBody>
      </p:sp>
      <p:sp>
        <p:nvSpPr>
          <p:cNvPr id="4" name="TextBox 3"/>
          <p:cNvSpPr txBox="1"/>
          <p:nvPr/>
        </p:nvSpPr>
        <p:spPr>
          <a:xfrm>
            <a:off x="8899855" y="960120"/>
            <a:ext cx="640080" cy="640080"/>
          </a:xfrm>
          <a:prstGeom prst="rect">
            <a:avLst/>
          </a:prstGeom>
          <a:noFill/>
        </p:spPr>
        <p:txBody>
          <a:bodyPr wrap="square" lIns="0" rIns="0" tIns="0" bIns="0" anchor="t">
            <a:spAutoFit/>
          </a:bodyPr>
          <a:lstStyle/>
          <a:p>
            <a:pPr algn="ctr">
              <a:spcBef>
                <a:spcPts val="0"/>
              </a:spcBef>
              <a:spcAft>
                <a:spcPts val="0"/>
              </a:spcAft>
            </a:pPr>
            <a:r>
              <a:rPr sz="4231" b="1" i="0">
                <a:solidFill>
                  <a:srgbClr val="183340"/>
                </a:solidFill>
                <a:latin typeface="Consolas"/>
              </a:rPr>
              <a:t>0</a:t>
            </a:r>
          </a:p>
        </p:txBody>
      </p:sp>
      <p:sp>
        <p:nvSpPr>
          <p:cNvPr id="5" name="TextBox 4"/>
          <p:cNvSpPr txBox="1"/>
          <p:nvPr/>
        </p:nvSpPr>
        <p:spPr>
          <a:xfrm>
            <a:off x="9768535" y="960120"/>
            <a:ext cx="640080" cy="640080"/>
          </a:xfrm>
          <a:prstGeom prst="rect">
            <a:avLst/>
          </a:prstGeom>
          <a:noFill/>
        </p:spPr>
        <p:txBody>
          <a:bodyPr wrap="square" lIns="0" rIns="0" tIns="0" bIns="0" anchor="t">
            <a:spAutoFit/>
          </a:bodyPr>
          <a:lstStyle/>
          <a:p>
            <a:pPr algn="ctr">
              <a:spcBef>
                <a:spcPts val="0"/>
              </a:spcBef>
              <a:spcAft>
                <a:spcPts val="0"/>
              </a:spcAft>
            </a:pPr>
            <a:r>
              <a:rPr sz="4231" b="1" i="0">
                <a:solidFill>
                  <a:srgbClr val="183340"/>
                </a:solidFill>
                <a:latin typeface="Consolas"/>
              </a:rPr>
              <a:t>1</a:t>
            </a:r>
          </a:p>
        </p:txBody>
      </p:sp>
      <p:sp>
        <p:nvSpPr>
          <p:cNvPr id="6" name="TextBox 5"/>
          <p:cNvSpPr txBox="1"/>
          <p:nvPr/>
        </p:nvSpPr>
        <p:spPr>
          <a:xfrm>
            <a:off x="10637215" y="960120"/>
            <a:ext cx="640080" cy="640080"/>
          </a:xfrm>
          <a:prstGeom prst="rect">
            <a:avLst/>
          </a:prstGeom>
          <a:noFill/>
        </p:spPr>
        <p:txBody>
          <a:bodyPr wrap="square" lIns="0" rIns="0" tIns="0" bIns="0" anchor="t">
            <a:spAutoFit/>
          </a:bodyPr>
          <a:lstStyle/>
          <a:p>
            <a:pPr algn="ctr">
              <a:spcBef>
                <a:spcPts val="0"/>
              </a:spcBef>
              <a:spcAft>
                <a:spcPts val="0"/>
              </a:spcAft>
            </a:pPr>
            <a:r>
              <a:rPr sz="4231" b="1" i="0">
                <a:solidFill>
                  <a:srgbClr val="183340"/>
                </a:solidFill>
                <a:latin typeface="Consolas"/>
              </a:rPr>
              <a:t>1</a:t>
            </a:r>
          </a:p>
        </p:txBody>
      </p:sp>
      <p:sp>
        <p:nvSpPr>
          <p:cNvPr id="7" name="TextBox 6"/>
          <p:cNvSpPr txBox="1"/>
          <p:nvPr/>
        </p:nvSpPr>
        <p:spPr>
          <a:xfrm>
            <a:off x="8031175" y="1828800"/>
            <a:ext cx="640080" cy="640080"/>
          </a:xfrm>
          <a:prstGeom prst="rect">
            <a:avLst/>
          </a:prstGeom>
          <a:noFill/>
        </p:spPr>
        <p:txBody>
          <a:bodyPr wrap="square" lIns="0" rIns="0" tIns="0" bIns="0" anchor="t">
            <a:spAutoFit/>
          </a:bodyPr>
          <a:lstStyle/>
          <a:p>
            <a:pPr algn="ctr">
              <a:spcBef>
                <a:spcPts val="0"/>
              </a:spcBef>
              <a:spcAft>
                <a:spcPts val="0"/>
              </a:spcAft>
            </a:pPr>
            <a:r>
              <a:rPr sz="4231" b="1" i="0">
                <a:solidFill>
                  <a:srgbClr val="183340"/>
                </a:solidFill>
                <a:latin typeface="Consolas"/>
              </a:rPr>
              <a:t>0</a:t>
            </a:r>
          </a:p>
        </p:txBody>
      </p:sp>
      <p:sp>
        <p:nvSpPr>
          <p:cNvPr id="8" name="TextBox 7"/>
          <p:cNvSpPr txBox="1"/>
          <p:nvPr/>
        </p:nvSpPr>
        <p:spPr>
          <a:xfrm>
            <a:off x="8899855" y="1828800"/>
            <a:ext cx="640080" cy="640080"/>
          </a:xfrm>
          <a:prstGeom prst="rect">
            <a:avLst/>
          </a:prstGeom>
          <a:noFill/>
        </p:spPr>
        <p:txBody>
          <a:bodyPr wrap="square" lIns="0" rIns="0" tIns="0" bIns="0" anchor="t">
            <a:spAutoFit/>
          </a:bodyPr>
          <a:lstStyle/>
          <a:p>
            <a:pPr algn="ctr">
              <a:spcBef>
                <a:spcPts val="0"/>
              </a:spcBef>
              <a:spcAft>
                <a:spcPts val="0"/>
              </a:spcAft>
            </a:pPr>
            <a:r>
              <a:rPr sz="4231" b="1" i="0">
                <a:solidFill>
                  <a:srgbClr val="183340"/>
                </a:solidFill>
                <a:latin typeface="Consolas"/>
              </a:rPr>
              <a:t>0</a:t>
            </a:r>
          </a:p>
        </p:txBody>
      </p:sp>
      <p:sp>
        <p:nvSpPr>
          <p:cNvPr id="9" name="TextBox 8"/>
          <p:cNvSpPr txBox="1"/>
          <p:nvPr/>
        </p:nvSpPr>
        <p:spPr>
          <a:xfrm>
            <a:off x="9768535" y="1828800"/>
            <a:ext cx="640080" cy="640080"/>
          </a:xfrm>
          <a:prstGeom prst="rect">
            <a:avLst/>
          </a:prstGeom>
          <a:noFill/>
        </p:spPr>
        <p:txBody>
          <a:bodyPr wrap="square" lIns="0" rIns="0" tIns="0" bIns="0" anchor="t">
            <a:spAutoFit/>
          </a:bodyPr>
          <a:lstStyle/>
          <a:p>
            <a:pPr algn="ctr">
              <a:spcBef>
                <a:spcPts val="0"/>
              </a:spcBef>
              <a:spcAft>
                <a:spcPts val="0"/>
              </a:spcAft>
            </a:pPr>
            <a:r>
              <a:rPr sz="4231" b="1" i="0">
                <a:solidFill>
                  <a:srgbClr val="183340"/>
                </a:solidFill>
                <a:latin typeface="Consolas"/>
              </a:rPr>
              <a:t>1</a:t>
            </a:r>
          </a:p>
        </p:txBody>
      </p:sp>
      <p:sp>
        <p:nvSpPr>
          <p:cNvPr id="10" name="TextBox 9"/>
          <p:cNvSpPr txBox="1"/>
          <p:nvPr/>
        </p:nvSpPr>
        <p:spPr>
          <a:xfrm>
            <a:off x="10637215" y="1828800"/>
            <a:ext cx="640080" cy="640080"/>
          </a:xfrm>
          <a:prstGeom prst="rect">
            <a:avLst/>
          </a:prstGeom>
          <a:noFill/>
        </p:spPr>
        <p:txBody>
          <a:bodyPr wrap="square" lIns="0" rIns="0" tIns="0" bIns="0" anchor="t">
            <a:spAutoFit/>
          </a:bodyPr>
          <a:lstStyle/>
          <a:p>
            <a:pPr algn="ctr">
              <a:spcBef>
                <a:spcPts val="0"/>
              </a:spcBef>
              <a:spcAft>
                <a:spcPts val="0"/>
              </a:spcAft>
            </a:pPr>
            <a:r>
              <a:rPr sz="4231" b="1" i="0">
                <a:solidFill>
                  <a:srgbClr val="183340"/>
                </a:solidFill>
                <a:latin typeface="Consolas"/>
              </a:rPr>
              <a:t>0</a:t>
            </a:r>
          </a:p>
        </p:txBody>
      </p:sp>
      <p:sp>
        <p:nvSpPr>
          <p:cNvPr id="11" name="TextBox 10"/>
          <p:cNvSpPr txBox="1"/>
          <p:nvPr/>
        </p:nvSpPr>
        <p:spPr>
          <a:xfrm>
            <a:off x="8031175" y="2697480"/>
            <a:ext cx="640080" cy="640080"/>
          </a:xfrm>
          <a:prstGeom prst="rect">
            <a:avLst/>
          </a:prstGeom>
          <a:noFill/>
        </p:spPr>
        <p:txBody>
          <a:bodyPr wrap="square" lIns="0" rIns="0" tIns="0" bIns="0" anchor="t">
            <a:spAutoFit/>
          </a:bodyPr>
          <a:lstStyle/>
          <a:p>
            <a:pPr algn="ctr">
              <a:spcBef>
                <a:spcPts val="0"/>
              </a:spcBef>
              <a:spcAft>
                <a:spcPts val="0"/>
              </a:spcAft>
            </a:pPr>
            <a:r>
              <a:rPr sz="4231" b="1" i="0">
                <a:solidFill>
                  <a:srgbClr val="183340"/>
                </a:solidFill>
                <a:latin typeface="Consolas"/>
              </a:rPr>
              <a:t>1</a:t>
            </a:r>
          </a:p>
        </p:txBody>
      </p:sp>
      <p:sp>
        <p:nvSpPr>
          <p:cNvPr id="12" name="TextBox 11"/>
          <p:cNvSpPr txBox="1"/>
          <p:nvPr/>
        </p:nvSpPr>
        <p:spPr>
          <a:xfrm>
            <a:off x="8899855" y="2697480"/>
            <a:ext cx="640080" cy="640080"/>
          </a:xfrm>
          <a:prstGeom prst="rect">
            <a:avLst/>
          </a:prstGeom>
          <a:noFill/>
        </p:spPr>
        <p:txBody>
          <a:bodyPr wrap="square" lIns="0" rIns="0" tIns="0" bIns="0" anchor="t">
            <a:spAutoFit/>
          </a:bodyPr>
          <a:lstStyle/>
          <a:p>
            <a:pPr algn="ctr">
              <a:spcBef>
                <a:spcPts val="0"/>
              </a:spcBef>
              <a:spcAft>
                <a:spcPts val="0"/>
              </a:spcAft>
            </a:pPr>
            <a:r>
              <a:rPr sz="4231" b="1" i="0">
                <a:solidFill>
                  <a:srgbClr val="183340"/>
                </a:solidFill>
                <a:latin typeface="Consolas"/>
              </a:rPr>
              <a:t>1</a:t>
            </a:r>
          </a:p>
        </p:txBody>
      </p:sp>
      <p:sp>
        <p:nvSpPr>
          <p:cNvPr id="13" name="TextBox 12"/>
          <p:cNvSpPr txBox="1"/>
          <p:nvPr/>
        </p:nvSpPr>
        <p:spPr>
          <a:xfrm>
            <a:off x="9768535" y="2697480"/>
            <a:ext cx="640080" cy="640080"/>
          </a:xfrm>
          <a:prstGeom prst="rect">
            <a:avLst/>
          </a:prstGeom>
          <a:noFill/>
        </p:spPr>
        <p:txBody>
          <a:bodyPr wrap="square" lIns="0" rIns="0" tIns="0" bIns="0" anchor="t">
            <a:spAutoFit/>
          </a:bodyPr>
          <a:lstStyle/>
          <a:p>
            <a:pPr algn="ctr">
              <a:spcBef>
                <a:spcPts val="0"/>
              </a:spcBef>
              <a:spcAft>
                <a:spcPts val="0"/>
              </a:spcAft>
            </a:pPr>
            <a:r>
              <a:rPr sz="4231" b="1" i="0">
                <a:solidFill>
                  <a:srgbClr val="183340"/>
                </a:solidFill>
                <a:latin typeface="Consolas"/>
              </a:rPr>
              <a:t>0</a:t>
            </a:r>
          </a:p>
        </p:txBody>
      </p:sp>
      <p:sp>
        <p:nvSpPr>
          <p:cNvPr id="14" name="TextBox 13"/>
          <p:cNvSpPr txBox="1"/>
          <p:nvPr/>
        </p:nvSpPr>
        <p:spPr>
          <a:xfrm>
            <a:off x="10637215" y="2697480"/>
            <a:ext cx="640080" cy="640080"/>
          </a:xfrm>
          <a:prstGeom prst="rect">
            <a:avLst/>
          </a:prstGeom>
          <a:noFill/>
        </p:spPr>
        <p:txBody>
          <a:bodyPr wrap="square" lIns="0" rIns="0" tIns="0" bIns="0" anchor="t">
            <a:spAutoFit/>
          </a:bodyPr>
          <a:lstStyle/>
          <a:p>
            <a:pPr algn="ctr">
              <a:spcBef>
                <a:spcPts val="0"/>
              </a:spcBef>
              <a:spcAft>
                <a:spcPts val="0"/>
              </a:spcAft>
            </a:pPr>
            <a:r>
              <a:rPr sz="4231" b="1" i="0">
                <a:solidFill>
                  <a:srgbClr val="183340"/>
                </a:solidFill>
                <a:latin typeface="Consolas"/>
              </a:rPr>
              <a:t>1</a:t>
            </a:r>
          </a:p>
        </p:txBody>
      </p:sp>
      <p:sp>
        <p:nvSpPr>
          <p:cNvPr id="15" name="Rectangle 14"/>
          <p:cNvSpPr/>
          <p:nvPr/>
        </p:nvSpPr>
        <p:spPr>
          <a:xfrm>
            <a:off x="822960" y="1874519"/>
            <a:ext cx="566928" cy="685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22960" y="2103120"/>
            <a:ext cx="7863840" cy="274320"/>
          </a:xfrm>
          <a:prstGeom prst="rect">
            <a:avLst/>
          </a:prstGeom>
          <a:noFill/>
        </p:spPr>
        <p:txBody>
          <a:bodyPr wrap="square" lIns="0" rIns="0" tIns="0" bIns="0" anchor="t">
            <a:spAutoFit/>
          </a:bodyPr>
          <a:lstStyle/>
          <a:p>
            <a:pPr algn="l">
              <a:spcBef>
                <a:spcPts val="0"/>
              </a:spcBef>
              <a:spcAft>
                <a:spcPts val="0"/>
              </a:spcAft>
            </a:pPr>
            <a:r>
              <a:rPr sz="1300" b="1" i="0">
                <a:solidFill>
                  <a:srgbClr val="71C8C1"/>
                </a:solidFill>
                <a:latin typeface="Segoe UI Semibold"/>
              </a:rPr>
              <a:t>COMPUTER ORGANIZATION AND ARCHITECTURE</a:t>
            </a:r>
          </a:p>
        </p:txBody>
      </p:sp>
      <p:sp>
        <p:nvSpPr>
          <p:cNvPr id="17" name="TextBox 16"/>
          <p:cNvSpPr txBox="1"/>
          <p:nvPr/>
        </p:nvSpPr>
        <p:spPr>
          <a:xfrm>
            <a:off x="822960" y="2487168"/>
            <a:ext cx="8229600" cy="1691640"/>
          </a:xfrm>
          <a:prstGeom prst="rect">
            <a:avLst/>
          </a:prstGeom>
          <a:noFill/>
        </p:spPr>
        <p:txBody>
          <a:bodyPr wrap="square" lIns="0" rIns="0" tIns="0" bIns="0" anchor="t">
            <a:spAutoFit/>
          </a:bodyPr>
          <a:lstStyle/>
          <a:p>
            <a:pPr algn="l">
              <a:lnSpc>
                <a:spcPct val="98000"/>
              </a:lnSpc>
              <a:spcBef>
                <a:spcPts val="0"/>
              </a:spcBef>
              <a:spcAft>
                <a:spcPts val="0"/>
              </a:spcAft>
            </a:pPr>
            <a:r>
              <a:rPr sz="5400" b="1" i="0">
                <a:solidFill>
                  <a:srgbClr val="FFFFFF"/>
                </a:solidFill>
                <a:latin typeface="Segoe UI Semibold"/>
              </a:rPr>
              <a:t>Binary Storage
and Registers</a:t>
            </a:r>
          </a:p>
        </p:txBody>
      </p:sp>
      <p:sp>
        <p:nvSpPr>
          <p:cNvPr id="18" name="TextBox 17"/>
          <p:cNvSpPr txBox="1"/>
          <p:nvPr/>
        </p:nvSpPr>
        <p:spPr>
          <a:xfrm>
            <a:off x="822960" y="4206240"/>
            <a:ext cx="7498079" cy="566928"/>
          </a:xfrm>
          <a:prstGeom prst="rect">
            <a:avLst/>
          </a:prstGeom>
          <a:noFill/>
        </p:spPr>
        <p:txBody>
          <a:bodyPr wrap="square" lIns="0" rIns="0" tIns="0" bIns="0" anchor="t">
            <a:spAutoFit/>
          </a:bodyPr>
          <a:lstStyle/>
          <a:p>
            <a:pPr algn="l">
              <a:spcBef>
                <a:spcPts val="0"/>
              </a:spcBef>
              <a:spcAft>
                <a:spcPts val="0"/>
              </a:spcAft>
            </a:pPr>
            <a:r>
              <a:rPr sz="1700" b="0" i="0">
                <a:solidFill>
                  <a:srgbClr val="B6C7CF"/>
                </a:solidFill>
                <a:latin typeface="Segoe UI"/>
              </a:rPr>
              <a:t>How a computer holds a 1, a 0, and a whole number inside the CPU.</a:t>
            </a:r>
          </a:p>
        </p:txBody>
      </p:sp>
      <p:sp>
        <p:nvSpPr>
          <p:cNvPr id="19" name="Rectangle 18"/>
          <p:cNvSpPr/>
          <p:nvPr/>
        </p:nvSpPr>
        <p:spPr>
          <a:xfrm>
            <a:off x="822960" y="4956048"/>
            <a:ext cx="4480560" cy="18288"/>
          </a:xfrm>
          <a:prstGeom prst="rect">
            <a:avLst/>
          </a:prstGeom>
          <a:solidFill>
            <a:srgbClr val="2A45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960" y="5102352"/>
            <a:ext cx="4754880" cy="960120"/>
          </a:xfrm>
          <a:prstGeom prst="rect">
            <a:avLst/>
          </a:prstGeom>
          <a:noFill/>
        </p:spPr>
        <p:txBody>
          <a:bodyPr wrap="square" lIns="0" rIns="0" tIns="0" bIns="0" anchor="t">
            <a:spAutoFit/>
          </a:bodyPr>
          <a:lstStyle/>
          <a:p>
            <a:pPr algn="l">
              <a:lnSpc>
                <a:spcPct val="150000"/>
              </a:lnSpc>
              <a:spcBef>
                <a:spcPts val="0"/>
              </a:spcBef>
              <a:spcAft>
                <a:spcPts val="0"/>
              </a:spcAft>
            </a:pPr>
            <a:r>
              <a:rPr sz="1350" b="0" i="0">
                <a:solidFill>
                  <a:srgbClr val="7E939E"/>
                </a:solidFill>
                <a:latin typeface="Segoe UI"/>
              </a:rPr>
              <a:t>Presented by  </a:t>
            </a:r>
            <a:r>
              <a:rPr sz="1350" b="1" i="0">
                <a:solidFill>
                  <a:srgbClr val="FFFFFF"/>
                </a:solidFill>
                <a:latin typeface="Segoe UI"/>
              </a:rPr>
              <a:t>&lt;Your Name&gt;</a:t>
            </a:r>
          </a:p>
          <a:p>
            <a:pPr algn="l">
              <a:lnSpc>
                <a:spcPct val="150000"/>
              </a:lnSpc>
              <a:spcBef>
                <a:spcPts val="0"/>
              </a:spcBef>
              <a:spcAft>
                <a:spcPts val="0"/>
              </a:spcAft>
            </a:pPr>
            <a:r>
              <a:rPr sz="1350" b="0" i="0">
                <a:solidFill>
                  <a:srgbClr val="7E939E"/>
                </a:solidFill>
                <a:latin typeface="Segoe UI"/>
              </a:rPr>
              <a:t>Roll no. / Section  </a:t>
            </a:r>
            <a:r>
              <a:rPr sz="1350" b="1" i="0">
                <a:solidFill>
                  <a:srgbClr val="FFFFFF"/>
                </a:solidFill>
                <a:latin typeface="Segoe UI"/>
              </a:rPr>
              <a:t>&lt;Roll No&gt;</a:t>
            </a:r>
          </a:p>
        </p:txBody>
      </p:sp>
      <p:sp>
        <p:nvSpPr>
          <p:cNvPr id="21" name="TextBox 20"/>
          <p:cNvSpPr txBox="1"/>
          <p:nvPr/>
        </p:nvSpPr>
        <p:spPr>
          <a:xfrm>
            <a:off x="822960" y="6144768"/>
            <a:ext cx="5486400" cy="274320"/>
          </a:xfrm>
          <a:prstGeom prst="rect">
            <a:avLst/>
          </a:prstGeom>
          <a:noFill/>
        </p:spPr>
        <p:txBody>
          <a:bodyPr wrap="square" lIns="0" rIns="0" tIns="0" bIns="0" anchor="t">
            <a:spAutoFit/>
          </a:bodyPr>
          <a:lstStyle/>
          <a:p>
            <a:pPr algn="l">
              <a:spcBef>
                <a:spcPts val="0"/>
              </a:spcBef>
              <a:spcAft>
                <a:spcPts val="0"/>
              </a:spcAft>
            </a:pPr>
            <a:r>
              <a:rPr sz="1100" b="0" i="0">
                <a:solidFill>
                  <a:srgbClr val="6E8692"/>
                </a:solidFill>
                <a:latin typeface="Segoe UI"/>
              </a:rPr>
              <a:t>Theory Presentation  ·  8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5800" y="384048"/>
            <a:ext cx="8229600" cy="237744"/>
          </a:xfrm>
          <a:prstGeom prst="rect">
            <a:avLst/>
          </a:prstGeom>
          <a:noFill/>
        </p:spPr>
        <p:txBody>
          <a:bodyPr wrap="square" lIns="0" rIns="0" tIns="0" bIns="0" anchor="t">
            <a:spAutoFit/>
          </a:bodyPr>
          <a:lstStyle/>
          <a:p>
            <a:pPr algn="l">
              <a:spcBef>
                <a:spcPts val="0"/>
              </a:spcBef>
              <a:spcAft>
                <a:spcPts val="0"/>
              </a:spcAft>
            </a:pPr>
            <a:r>
              <a:rPr sz="1100" b="1" i="0">
                <a:solidFill>
                  <a:srgbClr val="0E7C86"/>
                </a:solidFill>
                <a:latin typeface="Segoe UI Semibold"/>
              </a:rPr>
              <a:t>AGENDA</a:t>
            </a:r>
          </a:p>
        </p:txBody>
      </p:sp>
      <p:sp>
        <p:nvSpPr>
          <p:cNvPr id="4" name="TextBox 3"/>
          <p:cNvSpPr txBox="1"/>
          <p:nvPr/>
        </p:nvSpPr>
        <p:spPr>
          <a:xfrm>
            <a:off x="685800" y="640080"/>
            <a:ext cx="10424160" cy="603504"/>
          </a:xfrm>
          <a:prstGeom prst="rect">
            <a:avLst/>
          </a:prstGeom>
          <a:noFill/>
        </p:spPr>
        <p:txBody>
          <a:bodyPr wrap="square" lIns="0" rIns="0" tIns="0" bIns="0" anchor="t">
            <a:spAutoFit/>
          </a:bodyPr>
          <a:lstStyle/>
          <a:p>
            <a:pPr algn="l">
              <a:spcBef>
                <a:spcPts val="0"/>
              </a:spcBef>
              <a:spcAft>
                <a:spcPts val="0"/>
              </a:spcAft>
            </a:pPr>
            <a:r>
              <a:rPr sz="3100" b="1" i="0">
                <a:solidFill>
                  <a:srgbClr val="11212E"/>
                </a:solidFill>
                <a:latin typeface="Segoe UI Semibold"/>
              </a:rPr>
              <a:t>What we will cover</a:t>
            </a:r>
          </a:p>
        </p:txBody>
      </p:sp>
      <p:sp>
        <p:nvSpPr>
          <p:cNvPr id="5" name="TextBox 4"/>
          <p:cNvSpPr txBox="1"/>
          <p:nvPr/>
        </p:nvSpPr>
        <p:spPr>
          <a:xfrm>
            <a:off x="685800" y="1200023"/>
            <a:ext cx="10424160" cy="310896"/>
          </a:xfrm>
          <a:prstGeom prst="rect">
            <a:avLst/>
          </a:prstGeom>
          <a:noFill/>
        </p:spPr>
        <p:txBody>
          <a:bodyPr wrap="square" lIns="0" rIns="0" tIns="0" bIns="0" anchor="t">
            <a:spAutoFit/>
          </a:bodyPr>
          <a:lstStyle/>
          <a:p>
            <a:pPr algn="l">
              <a:spcBef>
                <a:spcPts val="0"/>
              </a:spcBef>
              <a:spcAft>
                <a:spcPts val="0"/>
              </a:spcAft>
            </a:pPr>
            <a:r>
              <a:rPr sz="1400" b="0" i="0">
                <a:solidFill>
                  <a:srgbClr val="4A5A69"/>
                </a:solidFill>
                <a:latin typeface="Segoe UI"/>
              </a:rPr>
              <a:t>Six ideas, in the order they build on each other.</a:t>
            </a:r>
          </a:p>
        </p:txBody>
      </p:sp>
      <p:sp>
        <p:nvSpPr>
          <p:cNvPr id="6" name="Rounded Rectangle 5"/>
          <p:cNvSpPr/>
          <p:nvPr/>
        </p:nvSpPr>
        <p:spPr>
          <a:xfrm>
            <a:off x="713232" y="1858390"/>
            <a:ext cx="475488" cy="475488"/>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13232" y="1968118"/>
            <a:ext cx="475488" cy="256032"/>
          </a:xfrm>
          <a:prstGeom prst="rect">
            <a:avLst/>
          </a:prstGeom>
          <a:noFill/>
        </p:spPr>
        <p:txBody>
          <a:bodyPr wrap="square" lIns="0" rIns="0" tIns="0" bIns="0" anchor="t">
            <a:spAutoFit/>
          </a:bodyPr>
          <a:lstStyle/>
          <a:p>
            <a:pPr algn="ctr">
              <a:spcBef>
                <a:spcPts val="0"/>
              </a:spcBef>
              <a:spcAft>
                <a:spcPts val="0"/>
              </a:spcAft>
            </a:pPr>
            <a:r>
              <a:rPr sz="1200" b="1" i="0">
                <a:solidFill>
                  <a:srgbClr val="FFFFFF"/>
                </a:solidFill>
                <a:latin typeface="Segoe UI Semibold"/>
              </a:rPr>
              <a:t>01</a:t>
            </a:r>
          </a:p>
        </p:txBody>
      </p:sp>
      <p:sp>
        <p:nvSpPr>
          <p:cNvPr id="8" name="TextBox 7"/>
          <p:cNvSpPr txBox="1"/>
          <p:nvPr/>
        </p:nvSpPr>
        <p:spPr>
          <a:xfrm>
            <a:off x="1389888" y="1876678"/>
            <a:ext cx="4160520" cy="292608"/>
          </a:xfrm>
          <a:prstGeom prst="rect">
            <a:avLst/>
          </a:prstGeom>
          <a:noFill/>
        </p:spPr>
        <p:txBody>
          <a:bodyPr wrap="square" lIns="0" rIns="0" tIns="0" bIns="0" anchor="t">
            <a:spAutoFit/>
          </a:bodyPr>
          <a:lstStyle/>
          <a:p>
            <a:pPr algn="l">
              <a:spcBef>
                <a:spcPts val="0"/>
              </a:spcBef>
              <a:spcAft>
                <a:spcPts val="0"/>
              </a:spcAft>
            </a:pPr>
            <a:r>
              <a:rPr sz="1650" b="1" i="0">
                <a:solidFill>
                  <a:srgbClr val="11212E"/>
                </a:solidFill>
                <a:latin typeface="Segoe UI"/>
              </a:rPr>
              <a:t>Binary representation</a:t>
            </a:r>
          </a:p>
        </p:txBody>
      </p:sp>
      <p:sp>
        <p:nvSpPr>
          <p:cNvPr id="9" name="TextBox 8"/>
          <p:cNvSpPr txBox="1"/>
          <p:nvPr/>
        </p:nvSpPr>
        <p:spPr>
          <a:xfrm>
            <a:off x="5806440" y="1913254"/>
            <a:ext cx="5669280" cy="274320"/>
          </a:xfrm>
          <a:prstGeom prst="rect">
            <a:avLst/>
          </a:prstGeom>
          <a:noFill/>
        </p:spPr>
        <p:txBody>
          <a:bodyPr wrap="square" lIns="0" rIns="0" tIns="0" bIns="0" anchor="t">
            <a:spAutoFit/>
          </a:bodyPr>
          <a:lstStyle/>
          <a:p>
            <a:pPr algn="l">
              <a:spcBef>
                <a:spcPts val="0"/>
              </a:spcBef>
              <a:spcAft>
                <a:spcPts val="0"/>
              </a:spcAft>
            </a:pPr>
            <a:r>
              <a:rPr sz="1250" b="0" i="0">
                <a:solidFill>
                  <a:srgbClr val="4A5A69"/>
                </a:solidFill>
                <a:latin typeface="Segoe UI"/>
              </a:rPr>
              <a:t>bits, bases, powers at work: 2ⁿ patterns, KB/MB/GB/TB</a:t>
            </a:r>
          </a:p>
        </p:txBody>
      </p:sp>
      <p:sp>
        <p:nvSpPr>
          <p:cNvPr id="10" name="Rectangle 9"/>
          <p:cNvSpPr/>
          <p:nvPr/>
        </p:nvSpPr>
        <p:spPr>
          <a:xfrm>
            <a:off x="713232" y="2425319"/>
            <a:ext cx="10789920" cy="7315"/>
          </a:xfrm>
          <a:prstGeom prst="rect">
            <a:avLst/>
          </a:prstGeom>
          <a:solidFill>
            <a:srgbClr val="E9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713232" y="2535047"/>
            <a:ext cx="475488" cy="475488"/>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13232" y="2644775"/>
            <a:ext cx="475488" cy="256032"/>
          </a:xfrm>
          <a:prstGeom prst="rect">
            <a:avLst/>
          </a:prstGeom>
          <a:noFill/>
        </p:spPr>
        <p:txBody>
          <a:bodyPr wrap="square" lIns="0" rIns="0" tIns="0" bIns="0" anchor="t">
            <a:spAutoFit/>
          </a:bodyPr>
          <a:lstStyle/>
          <a:p>
            <a:pPr algn="ctr">
              <a:spcBef>
                <a:spcPts val="0"/>
              </a:spcBef>
              <a:spcAft>
                <a:spcPts val="0"/>
              </a:spcAft>
            </a:pPr>
            <a:r>
              <a:rPr sz="1200" b="1" i="0">
                <a:solidFill>
                  <a:srgbClr val="FFFFFF"/>
                </a:solidFill>
                <a:latin typeface="Segoe UI Semibold"/>
              </a:rPr>
              <a:t>02</a:t>
            </a:r>
          </a:p>
        </p:txBody>
      </p:sp>
      <p:sp>
        <p:nvSpPr>
          <p:cNvPr id="13" name="TextBox 12"/>
          <p:cNvSpPr txBox="1"/>
          <p:nvPr/>
        </p:nvSpPr>
        <p:spPr>
          <a:xfrm>
            <a:off x="1389888" y="2553335"/>
            <a:ext cx="4160520" cy="292608"/>
          </a:xfrm>
          <a:prstGeom prst="rect">
            <a:avLst/>
          </a:prstGeom>
          <a:noFill/>
        </p:spPr>
        <p:txBody>
          <a:bodyPr wrap="square" lIns="0" rIns="0" tIns="0" bIns="0" anchor="t">
            <a:spAutoFit/>
          </a:bodyPr>
          <a:lstStyle/>
          <a:p>
            <a:pPr algn="l">
              <a:spcBef>
                <a:spcPts val="0"/>
              </a:spcBef>
              <a:spcAft>
                <a:spcPts val="0"/>
              </a:spcAft>
            </a:pPr>
            <a:r>
              <a:rPr sz="1650" b="1" i="0">
                <a:solidFill>
                  <a:srgbClr val="11212E"/>
                </a:solidFill>
                <a:latin typeface="Segoe UI"/>
              </a:rPr>
              <a:t>Storage elements</a:t>
            </a:r>
          </a:p>
        </p:txBody>
      </p:sp>
      <p:sp>
        <p:nvSpPr>
          <p:cNvPr id="14" name="TextBox 13"/>
          <p:cNvSpPr txBox="1"/>
          <p:nvPr/>
        </p:nvSpPr>
        <p:spPr>
          <a:xfrm>
            <a:off x="5806440" y="2589911"/>
            <a:ext cx="5669280" cy="274320"/>
          </a:xfrm>
          <a:prstGeom prst="rect">
            <a:avLst/>
          </a:prstGeom>
          <a:noFill/>
        </p:spPr>
        <p:txBody>
          <a:bodyPr wrap="square" lIns="0" rIns="0" tIns="0" bIns="0" anchor="t">
            <a:spAutoFit/>
          </a:bodyPr>
          <a:lstStyle/>
          <a:p>
            <a:pPr algn="l">
              <a:spcBef>
                <a:spcPts val="0"/>
              </a:spcBef>
              <a:spcAft>
                <a:spcPts val="0"/>
              </a:spcAft>
            </a:pPr>
            <a:r>
              <a:rPr sz="1250" b="0" i="0">
                <a:solidFill>
                  <a:srgbClr val="4A5A69"/>
                </a:solidFill>
                <a:latin typeface="Segoe UI"/>
              </a:rPr>
              <a:t>SR latch, D flip-flop, DRAM capacitor — where one bit lives</a:t>
            </a:r>
          </a:p>
        </p:txBody>
      </p:sp>
      <p:sp>
        <p:nvSpPr>
          <p:cNvPr id="15" name="Rectangle 14"/>
          <p:cNvSpPr/>
          <p:nvPr/>
        </p:nvSpPr>
        <p:spPr>
          <a:xfrm>
            <a:off x="713232" y="3101975"/>
            <a:ext cx="10789920" cy="7315"/>
          </a:xfrm>
          <a:prstGeom prst="rect">
            <a:avLst/>
          </a:prstGeom>
          <a:solidFill>
            <a:srgbClr val="E9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713232" y="3211703"/>
            <a:ext cx="475488" cy="475488"/>
          </a:xfrm>
          <a:prstGeom prst="roundRect">
            <a:avLst>
              <a:gd name="adj" fmla="val 20000"/>
            </a:avLst>
          </a:prstGeom>
          <a:solidFill>
            <a:srgbClr val="0A5A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13232" y="3321431"/>
            <a:ext cx="475488" cy="256032"/>
          </a:xfrm>
          <a:prstGeom prst="rect">
            <a:avLst/>
          </a:prstGeom>
          <a:noFill/>
        </p:spPr>
        <p:txBody>
          <a:bodyPr wrap="square" lIns="0" rIns="0" tIns="0" bIns="0" anchor="t">
            <a:spAutoFit/>
          </a:bodyPr>
          <a:lstStyle/>
          <a:p>
            <a:pPr algn="ctr">
              <a:spcBef>
                <a:spcPts val="0"/>
              </a:spcBef>
              <a:spcAft>
                <a:spcPts val="0"/>
              </a:spcAft>
            </a:pPr>
            <a:r>
              <a:rPr sz="1200" b="1" i="0">
                <a:solidFill>
                  <a:srgbClr val="FFFFFF"/>
                </a:solidFill>
                <a:latin typeface="Segoe UI Semibold"/>
              </a:rPr>
              <a:t>03</a:t>
            </a:r>
          </a:p>
        </p:txBody>
      </p:sp>
      <p:sp>
        <p:nvSpPr>
          <p:cNvPr id="18" name="TextBox 17"/>
          <p:cNvSpPr txBox="1"/>
          <p:nvPr/>
        </p:nvSpPr>
        <p:spPr>
          <a:xfrm>
            <a:off x="1389888" y="3229991"/>
            <a:ext cx="4160520" cy="292608"/>
          </a:xfrm>
          <a:prstGeom prst="rect">
            <a:avLst/>
          </a:prstGeom>
          <a:noFill/>
        </p:spPr>
        <p:txBody>
          <a:bodyPr wrap="square" lIns="0" rIns="0" tIns="0" bIns="0" anchor="t">
            <a:spAutoFit/>
          </a:bodyPr>
          <a:lstStyle/>
          <a:p>
            <a:pPr algn="l">
              <a:spcBef>
                <a:spcPts val="0"/>
              </a:spcBef>
              <a:spcAft>
                <a:spcPts val="0"/>
              </a:spcAft>
            </a:pPr>
            <a:r>
              <a:rPr sz="1650" b="1" i="0">
                <a:solidFill>
                  <a:srgbClr val="11212E"/>
                </a:solidFill>
                <a:latin typeface="Segoe UI"/>
              </a:rPr>
              <a:t>The register itself</a:t>
            </a:r>
          </a:p>
        </p:txBody>
      </p:sp>
      <p:sp>
        <p:nvSpPr>
          <p:cNvPr id="19" name="TextBox 18"/>
          <p:cNvSpPr txBox="1"/>
          <p:nvPr/>
        </p:nvSpPr>
        <p:spPr>
          <a:xfrm>
            <a:off x="5806440" y="3266567"/>
            <a:ext cx="5669280" cy="274320"/>
          </a:xfrm>
          <a:prstGeom prst="rect">
            <a:avLst/>
          </a:prstGeom>
          <a:noFill/>
        </p:spPr>
        <p:txBody>
          <a:bodyPr wrap="square" lIns="0" rIns="0" tIns="0" bIns="0" anchor="t">
            <a:spAutoFit/>
          </a:bodyPr>
          <a:lstStyle/>
          <a:p>
            <a:pPr algn="l">
              <a:spcBef>
                <a:spcPts val="0"/>
              </a:spcBef>
              <a:spcAft>
                <a:spcPts val="0"/>
              </a:spcAft>
            </a:pPr>
            <a:r>
              <a:rPr sz="1250" b="0" i="0">
                <a:solidFill>
                  <a:srgbClr val="4A5A69"/>
                </a:solidFill>
                <a:latin typeface="Segoe UI"/>
              </a:rPr>
              <a:t>n flip-flops on one clock, plus the CPU's named registers</a:t>
            </a:r>
          </a:p>
        </p:txBody>
      </p:sp>
      <p:sp>
        <p:nvSpPr>
          <p:cNvPr id="20" name="Rectangle 19"/>
          <p:cNvSpPr/>
          <p:nvPr/>
        </p:nvSpPr>
        <p:spPr>
          <a:xfrm>
            <a:off x="713232" y="3778631"/>
            <a:ext cx="10789920" cy="7315"/>
          </a:xfrm>
          <a:prstGeom prst="rect">
            <a:avLst/>
          </a:prstGeom>
          <a:solidFill>
            <a:srgbClr val="E9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713232" y="3888359"/>
            <a:ext cx="475488" cy="475488"/>
          </a:xfrm>
          <a:prstGeom prst="roundRect">
            <a:avLst>
              <a:gd name="adj" fmla="val 20000"/>
            </a:avLst>
          </a:prstGeom>
          <a:solidFill>
            <a:srgbClr val="0A5A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13232" y="3998087"/>
            <a:ext cx="475488" cy="256032"/>
          </a:xfrm>
          <a:prstGeom prst="rect">
            <a:avLst/>
          </a:prstGeom>
          <a:noFill/>
        </p:spPr>
        <p:txBody>
          <a:bodyPr wrap="square" lIns="0" rIns="0" tIns="0" bIns="0" anchor="t">
            <a:spAutoFit/>
          </a:bodyPr>
          <a:lstStyle/>
          <a:p>
            <a:pPr algn="ctr">
              <a:spcBef>
                <a:spcPts val="0"/>
              </a:spcBef>
              <a:spcAft>
                <a:spcPts val="0"/>
              </a:spcAft>
            </a:pPr>
            <a:r>
              <a:rPr sz="1200" b="1" i="0">
                <a:solidFill>
                  <a:srgbClr val="FFFFFF"/>
                </a:solidFill>
                <a:latin typeface="Segoe UI Semibold"/>
              </a:rPr>
              <a:t>04</a:t>
            </a:r>
          </a:p>
        </p:txBody>
      </p:sp>
      <p:sp>
        <p:nvSpPr>
          <p:cNvPr id="23" name="TextBox 22"/>
          <p:cNvSpPr txBox="1"/>
          <p:nvPr/>
        </p:nvSpPr>
        <p:spPr>
          <a:xfrm>
            <a:off x="1389888" y="3906647"/>
            <a:ext cx="4160520" cy="292608"/>
          </a:xfrm>
          <a:prstGeom prst="rect">
            <a:avLst/>
          </a:prstGeom>
          <a:noFill/>
        </p:spPr>
        <p:txBody>
          <a:bodyPr wrap="square" lIns="0" rIns="0" tIns="0" bIns="0" anchor="t">
            <a:spAutoFit/>
          </a:bodyPr>
          <a:lstStyle/>
          <a:p>
            <a:pPr algn="l">
              <a:spcBef>
                <a:spcPts val="0"/>
              </a:spcBef>
              <a:spcAft>
                <a:spcPts val="0"/>
              </a:spcAft>
            </a:pPr>
            <a:r>
              <a:rPr sz="1650" b="1" i="0">
                <a:solidFill>
                  <a:srgbClr val="11212E"/>
                </a:solidFill>
                <a:latin typeface="Segoe UI"/>
              </a:rPr>
              <a:t>Control and transfer</a:t>
            </a:r>
          </a:p>
        </p:txBody>
      </p:sp>
      <p:sp>
        <p:nvSpPr>
          <p:cNvPr id="24" name="TextBox 23"/>
          <p:cNvSpPr txBox="1"/>
          <p:nvPr/>
        </p:nvSpPr>
        <p:spPr>
          <a:xfrm>
            <a:off x="5806440" y="3943223"/>
            <a:ext cx="5669280" cy="274320"/>
          </a:xfrm>
          <a:prstGeom prst="rect">
            <a:avLst/>
          </a:prstGeom>
          <a:noFill/>
        </p:spPr>
        <p:txBody>
          <a:bodyPr wrap="square" lIns="0" rIns="0" tIns="0" bIns="0" anchor="t">
            <a:spAutoFit/>
          </a:bodyPr>
          <a:lstStyle/>
          <a:p>
            <a:pPr algn="l">
              <a:spcBef>
                <a:spcPts val="0"/>
              </a:spcBef>
              <a:spcAft>
                <a:spcPts val="0"/>
              </a:spcAft>
            </a:pPr>
            <a:r>
              <a:rPr sz="1250" b="0" i="0">
                <a:solidFill>
                  <a:srgbClr val="4A5A69"/>
                </a:solidFill>
                <a:latin typeface="Segoe UI"/>
              </a:rPr>
              <a:t>R1 ← R2, load enable, shift registers, tri-state bus</a:t>
            </a:r>
          </a:p>
        </p:txBody>
      </p:sp>
      <p:sp>
        <p:nvSpPr>
          <p:cNvPr id="25" name="Rectangle 24"/>
          <p:cNvSpPr/>
          <p:nvPr/>
        </p:nvSpPr>
        <p:spPr>
          <a:xfrm>
            <a:off x="713232" y="4455287"/>
            <a:ext cx="10789920" cy="7315"/>
          </a:xfrm>
          <a:prstGeom prst="rect">
            <a:avLst/>
          </a:prstGeom>
          <a:solidFill>
            <a:srgbClr val="E9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713232" y="4565015"/>
            <a:ext cx="475488" cy="475488"/>
          </a:xfrm>
          <a:prstGeom prst="roundRect">
            <a:avLst>
              <a:gd name="adj" fmla="val 20000"/>
            </a:avLst>
          </a:prstGeom>
          <a:solidFill>
            <a:srgbClr val="D98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13232" y="4674743"/>
            <a:ext cx="475488" cy="256032"/>
          </a:xfrm>
          <a:prstGeom prst="rect">
            <a:avLst/>
          </a:prstGeom>
          <a:noFill/>
        </p:spPr>
        <p:txBody>
          <a:bodyPr wrap="square" lIns="0" rIns="0" tIns="0" bIns="0" anchor="t">
            <a:spAutoFit/>
          </a:bodyPr>
          <a:lstStyle/>
          <a:p>
            <a:pPr algn="ctr">
              <a:spcBef>
                <a:spcPts val="0"/>
              </a:spcBef>
              <a:spcAft>
                <a:spcPts val="0"/>
              </a:spcAft>
            </a:pPr>
            <a:r>
              <a:rPr sz="1200" b="1" i="0">
                <a:solidFill>
                  <a:srgbClr val="FFFFFF"/>
                </a:solidFill>
                <a:latin typeface="Segoe UI Semibold"/>
              </a:rPr>
              <a:t>05</a:t>
            </a:r>
          </a:p>
        </p:txBody>
      </p:sp>
      <p:sp>
        <p:nvSpPr>
          <p:cNvPr id="28" name="TextBox 27"/>
          <p:cNvSpPr txBox="1"/>
          <p:nvPr/>
        </p:nvSpPr>
        <p:spPr>
          <a:xfrm>
            <a:off x="1389888" y="4583303"/>
            <a:ext cx="4160520" cy="292608"/>
          </a:xfrm>
          <a:prstGeom prst="rect">
            <a:avLst/>
          </a:prstGeom>
          <a:noFill/>
        </p:spPr>
        <p:txBody>
          <a:bodyPr wrap="square" lIns="0" rIns="0" tIns="0" bIns="0" anchor="t">
            <a:spAutoFit/>
          </a:bodyPr>
          <a:lstStyle/>
          <a:p>
            <a:pPr algn="l">
              <a:spcBef>
                <a:spcPts val="0"/>
              </a:spcBef>
              <a:spcAft>
                <a:spcPts val="0"/>
              </a:spcAft>
            </a:pPr>
            <a:r>
              <a:rPr sz="1650" b="1" i="0">
                <a:solidFill>
                  <a:srgbClr val="11212E"/>
                </a:solidFill>
                <a:latin typeface="Segoe UI"/>
              </a:rPr>
              <a:t>Placement and example</a:t>
            </a:r>
          </a:p>
        </p:txBody>
      </p:sp>
      <p:sp>
        <p:nvSpPr>
          <p:cNvPr id="29" name="TextBox 28"/>
          <p:cNvSpPr txBox="1"/>
          <p:nvPr/>
        </p:nvSpPr>
        <p:spPr>
          <a:xfrm>
            <a:off x="5806440" y="4619879"/>
            <a:ext cx="5669280" cy="274320"/>
          </a:xfrm>
          <a:prstGeom prst="rect">
            <a:avLst/>
          </a:prstGeom>
          <a:noFill/>
        </p:spPr>
        <p:txBody>
          <a:bodyPr wrap="square" lIns="0" rIns="0" tIns="0" bIns="0" anchor="t">
            <a:spAutoFit/>
          </a:bodyPr>
          <a:lstStyle/>
          <a:p>
            <a:pPr algn="l">
              <a:spcBef>
                <a:spcPts val="0"/>
              </a:spcBef>
              <a:spcAft>
                <a:spcPts val="0"/>
              </a:spcAft>
            </a:pPr>
            <a:r>
              <a:rPr sz="1250" b="0" i="0">
                <a:solidFill>
                  <a:srgbClr val="4A5A69"/>
                </a:solidFill>
                <a:latin typeface="Segoe UI"/>
              </a:rPr>
              <a:t>memory hierarchy, then one 8-bit register worked out</a:t>
            </a:r>
          </a:p>
        </p:txBody>
      </p:sp>
      <p:sp>
        <p:nvSpPr>
          <p:cNvPr id="30" name="Rectangle 29"/>
          <p:cNvSpPr/>
          <p:nvPr/>
        </p:nvSpPr>
        <p:spPr>
          <a:xfrm>
            <a:off x="713232" y="5131943"/>
            <a:ext cx="10789920" cy="7315"/>
          </a:xfrm>
          <a:prstGeom prst="rect">
            <a:avLst/>
          </a:prstGeom>
          <a:solidFill>
            <a:srgbClr val="E9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13232" y="5241671"/>
            <a:ext cx="475488" cy="475488"/>
          </a:xfrm>
          <a:prstGeom prst="roundRect">
            <a:avLst>
              <a:gd name="adj" fmla="val 20000"/>
            </a:avLst>
          </a:prstGeom>
          <a:solidFill>
            <a:srgbClr val="D98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13232" y="5351399"/>
            <a:ext cx="475488" cy="256032"/>
          </a:xfrm>
          <a:prstGeom prst="rect">
            <a:avLst/>
          </a:prstGeom>
          <a:noFill/>
        </p:spPr>
        <p:txBody>
          <a:bodyPr wrap="square" lIns="0" rIns="0" tIns="0" bIns="0" anchor="t">
            <a:spAutoFit/>
          </a:bodyPr>
          <a:lstStyle/>
          <a:p>
            <a:pPr algn="ctr">
              <a:spcBef>
                <a:spcPts val="0"/>
              </a:spcBef>
              <a:spcAft>
                <a:spcPts val="0"/>
              </a:spcAft>
            </a:pPr>
            <a:r>
              <a:rPr sz="1200" b="1" i="0">
                <a:solidFill>
                  <a:srgbClr val="FFFFFF"/>
                </a:solidFill>
                <a:latin typeface="Segoe UI Semibold"/>
              </a:rPr>
              <a:t>06</a:t>
            </a:r>
          </a:p>
        </p:txBody>
      </p:sp>
      <p:sp>
        <p:nvSpPr>
          <p:cNvPr id="33" name="TextBox 32"/>
          <p:cNvSpPr txBox="1"/>
          <p:nvPr/>
        </p:nvSpPr>
        <p:spPr>
          <a:xfrm>
            <a:off x="1389888" y="5259959"/>
            <a:ext cx="4160520" cy="292608"/>
          </a:xfrm>
          <a:prstGeom prst="rect">
            <a:avLst/>
          </a:prstGeom>
          <a:noFill/>
        </p:spPr>
        <p:txBody>
          <a:bodyPr wrap="square" lIns="0" rIns="0" tIns="0" bIns="0" anchor="t">
            <a:spAutoFit/>
          </a:bodyPr>
          <a:lstStyle/>
          <a:p>
            <a:pPr algn="l">
              <a:spcBef>
                <a:spcPts val="0"/>
              </a:spcBef>
              <a:spcAft>
                <a:spcPts val="0"/>
              </a:spcAft>
            </a:pPr>
            <a:r>
              <a:rPr sz="1650" b="1" i="0">
                <a:solidFill>
                  <a:srgbClr val="11212E"/>
                </a:solidFill>
                <a:latin typeface="Segoe UI"/>
              </a:rPr>
              <a:t>Summary</a:t>
            </a:r>
          </a:p>
        </p:txBody>
      </p:sp>
      <p:sp>
        <p:nvSpPr>
          <p:cNvPr id="34" name="TextBox 33"/>
          <p:cNvSpPr txBox="1"/>
          <p:nvPr/>
        </p:nvSpPr>
        <p:spPr>
          <a:xfrm>
            <a:off x="5806440" y="5296535"/>
            <a:ext cx="5669280" cy="274320"/>
          </a:xfrm>
          <a:prstGeom prst="rect">
            <a:avLst/>
          </a:prstGeom>
          <a:noFill/>
        </p:spPr>
        <p:txBody>
          <a:bodyPr wrap="square" lIns="0" rIns="0" tIns="0" bIns="0" anchor="t">
            <a:spAutoFit/>
          </a:bodyPr>
          <a:lstStyle/>
          <a:p>
            <a:pPr algn="l">
              <a:spcBef>
                <a:spcPts val="0"/>
              </a:spcBef>
              <a:spcAft>
                <a:spcPts val="0"/>
              </a:spcAft>
            </a:pPr>
            <a:r>
              <a:rPr sz="1250" b="0" i="0">
                <a:solidFill>
                  <a:srgbClr val="4A5A69"/>
                </a:solidFill>
                <a:latin typeface="Segoe UI"/>
              </a:rPr>
              <a:t>five sentences that carry the whole topic</a:t>
            </a:r>
          </a:p>
        </p:txBody>
      </p:sp>
      <p:sp>
        <p:nvSpPr>
          <p:cNvPr id="35" name="Rectangle 34"/>
          <p:cNvSpPr/>
          <p:nvPr/>
        </p:nvSpPr>
        <p:spPr>
          <a:xfrm>
            <a:off x="685800" y="5632704"/>
            <a:ext cx="10835640" cy="475488"/>
          </a:xfrm>
          <a:prstGeom prst="rect">
            <a:avLst/>
          </a:prstGeom>
          <a:solidFill>
            <a:srgbClr val="E8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85800" y="5632704"/>
            <a:ext cx="50292" cy="47548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86968" y="5715000"/>
            <a:ext cx="10451592" cy="310896"/>
          </a:xfrm>
          <a:prstGeom prst="rect">
            <a:avLst/>
          </a:prstGeom>
          <a:noFill/>
        </p:spPr>
        <p:txBody>
          <a:bodyPr wrap="square" lIns="0" rIns="0" tIns="0" bIns="0" anchor="t">
            <a:spAutoFit/>
          </a:bodyPr>
          <a:lstStyle/>
          <a:p>
            <a:pPr algn="l">
              <a:lnSpc>
                <a:spcPct val="106000"/>
              </a:lnSpc>
              <a:spcBef>
                <a:spcPts val="0"/>
              </a:spcBef>
              <a:spcAft>
                <a:spcPts val="0"/>
              </a:spcAft>
            </a:pPr>
            <a:r>
              <a:rPr sz="1050" b="1" i="0">
                <a:solidFill>
                  <a:srgbClr val="0A5A62"/>
                </a:solidFill>
                <a:latin typeface="Segoe UI"/>
              </a:rPr>
              <a:t>SAY THIS:  </a:t>
            </a:r>
            <a:r>
              <a:rPr sz="1250" b="0" i="0">
                <a:solidFill>
                  <a:srgbClr val="11212E"/>
                </a:solidFill>
                <a:latin typeface="Segoe UI"/>
              </a:rPr>
              <a:t>Six short steps, and each one uses the step before it.</a:t>
            </a:r>
          </a:p>
        </p:txBody>
      </p:sp>
      <p:sp>
        <p:nvSpPr>
          <p:cNvPr id="38" name="Rectangle 37"/>
          <p:cNvSpPr/>
          <p:nvPr/>
        </p:nvSpPr>
        <p:spPr>
          <a:xfrm>
            <a:off x="685800" y="6327648"/>
            <a:ext cx="10820095" cy="10972"/>
          </a:xfrm>
          <a:prstGeom prst="rect">
            <a:avLst/>
          </a:prstGeom>
          <a:solidFill>
            <a:srgbClr val="D3DF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85800" y="6419088"/>
            <a:ext cx="6400800" cy="219456"/>
          </a:xfrm>
          <a:prstGeom prst="rect">
            <a:avLst/>
          </a:prstGeom>
          <a:noFill/>
        </p:spPr>
        <p:txBody>
          <a:bodyPr wrap="square" lIns="0" rIns="0" tIns="0" bIns="0" anchor="t">
            <a:spAutoFit/>
          </a:bodyPr>
          <a:lstStyle/>
          <a:p>
            <a:pPr algn="l">
              <a:spcBef>
                <a:spcPts val="0"/>
              </a:spcBef>
              <a:spcAft>
                <a:spcPts val="0"/>
              </a:spcAft>
            </a:pPr>
            <a:r>
              <a:rPr sz="950" b="0" i="0">
                <a:solidFill>
                  <a:srgbClr val="788897"/>
                </a:solidFill>
                <a:latin typeface="Segoe UI"/>
              </a:rPr>
              <a:t>Binary Storage and Registers</a:t>
            </a:r>
          </a:p>
        </p:txBody>
      </p:sp>
      <p:sp>
        <p:nvSpPr>
          <p:cNvPr id="40" name="TextBox 39"/>
          <p:cNvSpPr txBox="1"/>
          <p:nvPr/>
        </p:nvSpPr>
        <p:spPr>
          <a:xfrm>
            <a:off x="10865815" y="6419088"/>
            <a:ext cx="640080" cy="219456"/>
          </a:xfrm>
          <a:prstGeom prst="rect">
            <a:avLst/>
          </a:prstGeom>
          <a:noFill/>
        </p:spPr>
        <p:txBody>
          <a:bodyPr wrap="square" lIns="0" rIns="0" tIns="0" bIns="0" anchor="t">
            <a:spAutoFit/>
          </a:bodyPr>
          <a:lstStyle/>
          <a:p>
            <a:pPr algn="r">
              <a:spcBef>
                <a:spcPts val="0"/>
              </a:spcBef>
              <a:spcAft>
                <a:spcPts val="0"/>
              </a:spcAft>
            </a:pPr>
            <a:r>
              <a:rPr sz="950" b="1" i="0">
                <a:solidFill>
                  <a:srgbClr val="788897"/>
                </a:solidFill>
                <a:latin typeface="Segoe U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5800" y="384048"/>
            <a:ext cx="8229600" cy="237744"/>
          </a:xfrm>
          <a:prstGeom prst="rect">
            <a:avLst/>
          </a:prstGeom>
          <a:noFill/>
        </p:spPr>
        <p:txBody>
          <a:bodyPr wrap="square" lIns="0" rIns="0" tIns="0" bIns="0" anchor="t">
            <a:spAutoFit/>
          </a:bodyPr>
          <a:lstStyle/>
          <a:p>
            <a:pPr algn="l">
              <a:spcBef>
                <a:spcPts val="0"/>
              </a:spcBef>
              <a:spcAft>
                <a:spcPts val="0"/>
              </a:spcAft>
            </a:pPr>
            <a:r>
              <a:rPr sz="1100" b="1" i="0">
                <a:solidFill>
                  <a:srgbClr val="0E7C86"/>
                </a:solidFill>
                <a:latin typeface="Segoe UI Semibold"/>
              </a:rPr>
              <a:t>01 · REPRESENTATION</a:t>
            </a:r>
          </a:p>
        </p:txBody>
      </p:sp>
      <p:sp>
        <p:nvSpPr>
          <p:cNvPr id="4" name="TextBox 3"/>
          <p:cNvSpPr txBox="1"/>
          <p:nvPr/>
        </p:nvSpPr>
        <p:spPr>
          <a:xfrm>
            <a:off x="685800" y="640080"/>
            <a:ext cx="10424160" cy="603504"/>
          </a:xfrm>
          <a:prstGeom prst="rect">
            <a:avLst/>
          </a:prstGeom>
          <a:noFill/>
        </p:spPr>
        <p:txBody>
          <a:bodyPr wrap="square" lIns="0" rIns="0" tIns="0" bIns="0" anchor="t">
            <a:spAutoFit/>
          </a:bodyPr>
          <a:lstStyle/>
          <a:p>
            <a:pPr algn="l">
              <a:spcBef>
                <a:spcPts val="0"/>
              </a:spcBef>
              <a:spcAft>
                <a:spcPts val="0"/>
              </a:spcAft>
            </a:pPr>
            <a:r>
              <a:rPr sz="3100" b="1" i="0">
                <a:solidFill>
                  <a:srgbClr val="11212E"/>
                </a:solidFill>
                <a:latin typeface="Segoe UI Semibold"/>
              </a:rPr>
              <a:t>Binary: two states, and 2ⁿ patterns</a:t>
            </a:r>
          </a:p>
        </p:txBody>
      </p:sp>
      <p:sp>
        <p:nvSpPr>
          <p:cNvPr id="5" name="TextBox 4"/>
          <p:cNvSpPr txBox="1"/>
          <p:nvPr/>
        </p:nvSpPr>
        <p:spPr>
          <a:xfrm>
            <a:off x="685800" y="1200023"/>
            <a:ext cx="10424160" cy="310896"/>
          </a:xfrm>
          <a:prstGeom prst="rect">
            <a:avLst/>
          </a:prstGeom>
          <a:noFill/>
        </p:spPr>
        <p:txBody>
          <a:bodyPr wrap="square" lIns="0" rIns="0" tIns="0" bIns="0" anchor="t">
            <a:spAutoFit/>
          </a:bodyPr>
          <a:lstStyle/>
          <a:p>
            <a:pPr algn="l">
              <a:spcBef>
                <a:spcPts val="0"/>
              </a:spcBef>
              <a:spcAft>
                <a:spcPts val="0"/>
              </a:spcAft>
            </a:pPr>
            <a:r>
              <a:rPr sz="1400" b="0" i="0">
                <a:solidFill>
                  <a:srgbClr val="4A5A69"/>
                </a:solidFill>
                <a:latin typeface="Segoe UI"/>
              </a:rPr>
              <a:t>Hardware is cheapest when it only has to tell two states apart — and n bits then give exactly 2ⁿ values.</a:t>
            </a:r>
          </a:p>
        </p:txBody>
      </p:sp>
      <p:sp>
        <p:nvSpPr>
          <p:cNvPr id="6" name="TextBox 5"/>
          <p:cNvSpPr txBox="1"/>
          <p:nvPr/>
        </p:nvSpPr>
        <p:spPr>
          <a:xfrm>
            <a:off x="685800" y="1748663"/>
            <a:ext cx="5257800" cy="274320"/>
          </a:xfrm>
          <a:prstGeom prst="rect">
            <a:avLst/>
          </a:prstGeom>
          <a:noFill/>
        </p:spPr>
        <p:txBody>
          <a:bodyPr wrap="square" lIns="0" rIns="0" tIns="0" bIns="0" anchor="t">
            <a:spAutoFit/>
          </a:bodyPr>
          <a:lstStyle/>
          <a:p>
            <a:pPr algn="l">
              <a:spcBef>
                <a:spcPts val="0"/>
              </a:spcBef>
              <a:spcAft>
                <a:spcPts val="0"/>
              </a:spcAft>
            </a:pPr>
            <a:r>
              <a:rPr sz="1400" b="1" i="0">
                <a:solidFill>
                  <a:srgbClr val="11212E"/>
                </a:solidFill>
                <a:latin typeface="Segoe UI Semibold"/>
              </a:rPr>
              <a:t>One byte = 8 bits = 2 hex digits</a:t>
            </a:r>
          </a:p>
        </p:txBody>
      </p:sp>
      <p:sp>
        <p:nvSpPr>
          <p:cNvPr id="7" name="Rectangle 6"/>
          <p:cNvSpPr/>
          <p:nvPr/>
        </p:nvSpPr>
        <p:spPr>
          <a:xfrm>
            <a:off x="685800" y="2096135"/>
            <a:ext cx="402336" cy="40233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2178431"/>
            <a:ext cx="402336" cy="256032"/>
          </a:xfrm>
          <a:prstGeom prst="rect">
            <a:avLst/>
          </a:prstGeom>
          <a:noFill/>
        </p:spPr>
        <p:txBody>
          <a:bodyPr wrap="square" lIns="0" rIns="0" tIns="0" bIns="0" anchor="t">
            <a:spAutoFit/>
          </a:bodyPr>
          <a:lstStyle/>
          <a:p>
            <a:pPr algn="ctr">
              <a:spcBef>
                <a:spcPts val="0"/>
              </a:spcBef>
              <a:spcAft>
                <a:spcPts val="0"/>
              </a:spcAft>
            </a:pPr>
            <a:r>
              <a:rPr sz="1400" b="1" i="0">
                <a:solidFill>
                  <a:srgbClr val="FFFFFF"/>
                </a:solidFill>
                <a:latin typeface="Consolas"/>
              </a:rPr>
              <a:t>1</a:t>
            </a:r>
          </a:p>
        </p:txBody>
      </p:sp>
      <p:sp>
        <p:nvSpPr>
          <p:cNvPr id="9" name="Rectangle 8"/>
          <p:cNvSpPr/>
          <p:nvPr/>
        </p:nvSpPr>
        <p:spPr>
          <a:xfrm>
            <a:off x="1088136" y="2096135"/>
            <a:ext cx="402336" cy="40233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88136" y="2178431"/>
            <a:ext cx="402336" cy="256032"/>
          </a:xfrm>
          <a:prstGeom prst="rect">
            <a:avLst/>
          </a:prstGeom>
          <a:noFill/>
        </p:spPr>
        <p:txBody>
          <a:bodyPr wrap="square" lIns="0" rIns="0" tIns="0" bIns="0" anchor="t">
            <a:spAutoFit/>
          </a:bodyPr>
          <a:lstStyle/>
          <a:p>
            <a:pPr algn="ctr">
              <a:spcBef>
                <a:spcPts val="0"/>
              </a:spcBef>
              <a:spcAft>
                <a:spcPts val="0"/>
              </a:spcAft>
            </a:pPr>
            <a:r>
              <a:rPr sz="1400" b="1" i="0">
                <a:solidFill>
                  <a:srgbClr val="4A5A69"/>
                </a:solidFill>
                <a:latin typeface="Consolas"/>
              </a:rPr>
              <a:t>0</a:t>
            </a:r>
          </a:p>
        </p:txBody>
      </p:sp>
      <p:sp>
        <p:nvSpPr>
          <p:cNvPr id="11" name="Rectangle 10"/>
          <p:cNvSpPr/>
          <p:nvPr/>
        </p:nvSpPr>
        <p:spPr>
          <a:xfrm>
            <a:off x="1490472" y="2096135"/>
            <a:ext cx="402336" cy="40233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490472" y="2178431"/>
            <a:ext cx="402336" cy="256032"/>
          </a:xfrm>
          <a:prstGeom prst="rect">
            <a:avLst/>
          </a:prstGeom>
          <a:noFill/>
        </p:spPr>
        <p:txBody>
          <a:bodyPr wrap="square" lIns="0" rIns="0" tIns="0" bIns="0" anchor="t">
            <a:spAutoFit/>
          </a:bodyPr>
          <a:lstStyle/>
          <a:p>
            <a:pPr algn="ctr">
              <a:spcBef>
                <a:spcPts val="0"/>
              </a:spcBef>
              <a:spcAft>
                <a:spcPts val="0"/>
              </a:spcAft>
            </a:pPr>
            <a:r>
              <a:rPr sz="1400" b="1" i="0">
                <a:solidFill>
                  <a:srgbClr val="FFFFFF"/>
                </a:solidFill>
                <a:latin typeface="Consolas"/>
              </a:rPr>
              <a:t>1</a:t>
            </a:r>
          </a:p>
        </p:txBody>
      </p:sp>
      <p:sp>
        <p:nvSpPr>
          <p:cNvPr id="13" name="Rectangle 12"/>
          <p:cNvSpPr/>
          <p:nvPr/>
        </p:nvSpPr>
        <p:spPr>
          <a:xfrm>
            <a:off x="1892808" y="2096135"/>
            <a:ext cx="402336" cy="40233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892808" y="2178431"/>
            <a:ext cx="402336" cy="256032"/>
          </a:xfrm>
          <a:prstGeom prst="rect">
            <a:avLst/>
          </a:prstGeom>
          <a:noFill/>
        </p:spPr>
        <p:txBody>
          <a:bodyPr wrap="square" lIns="0" rIns="0" tIns="0" bIns="0" anchor="t">
            <a:spAutoFit/>
          </a:bodyPr>
          <a:lstStyle/>
          <a:p>
            <a:pPr algn="ctr">
              <a:spcBef>
                <a:spcPts val="0"/>
              </a:spcBef>
              <a:spcAft>
                <a:spcPts val="0"/>
              </a:spcAft>
            </a:pPr>
            <a:r>
              <a:rPr sz="1400" b="1" i="0">
                <a:solidFill>
                  <a:srgbClr val="FFFFFF"/>
                </a:solidFill>
                <a:latin typeface="Consolas"/>
              </a:rPr>
              <a:t>1</a:t>
            </a:r>
          </a:p>
        </p:txBody>
      </p:sp>
      <p:sp>
        <p:nvSpPr>
          <p:cNvPr id="15" name="Rectangle 14"/>
          <p:cNvSpPr/>
          <p:nvPr/>
        </p:nvSpPr>
        <p:spPr>
          <a:xfrm>
            <a:off x="2295144" y="2096135"/>
            <a:ext cx="402336" cy="40233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95144" y="2178431"/>
            <a:ext cx="402336" cy="256032"/>
          </a:xfrm>
          <a:prstGeom prst="rect">
            <a:avLst/>
          </a:prstGeom>
          <a:noFill/>
        </p:spPr>
        <p:txBody>
          <a:bodyPr wrap="square" lIns="0" rIns="0" tIns="0" bIns="0" anchor="t">
            <a:spAutoFit/>
          </a:bodyPr>
          <a:lstStyle/>
          <a:p>
            <a:pPr algn="ctr">
              <a:spcBef>
                <a:spcPts val="0"/>
              </a:spcBef>
              <a:spcAft>
                <a:spcPts val="0"/>
              </a:spcAft>
            </a:pPr>
            <a:r>
              <a:rPr sz="1400" b="1" i="0">
                <a:solidFill>
                  <a:srgbClr val="4A5A69"/>
                </a:solidFill>
                <a:latin typeface="Consolas"/>
              </a:rPr>
              <a:t>0</a:t>
            </a:r>
          </a:p>
        </p:txBody>
      </p:sp>
      <p:sp>
        <p:nvSpPr>
          <p:cNvPr id="17" name="Rectangle 16"/>
          <p:cNvSpPr/>
          <p:nvPr/>
        </p:nvSpPr>
        <p:spPr>
          <a:xfrm>
            <a:off x="2697480" y="2096135"/>
            <a:ext cx="402336" cy="40233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697480" y="2178431"/>
            <a:ext cx="402336" cy="256032"/>
          </a:xfrm>
          <a:prstGeom prst="rect">
            <a:avLst/>
          </a:prstGeom>
          <a:noFill/>
        </p:spPr>
        <p:txBody>
          <a:bodyPr wrap="square" lIns="0" rIns="0" tIns="0" bIns="0" anchor="t">
            <a:spAutoFit/>
          </a:bodyPr>
          <a:lstStyle/>
          <a:p>
            <a:pPr algn="ctr">
              <a:spcBef>
                <a:spcPts val="0"/>
              </a:spcBef>
              <a:spcAft>
                <a:spcPts val="0"/>
              </a:spcAft>
            </a:pPr>
            <a:r>
              <a:rPr sz="1400" b="1" i="0">
                <a:solidFill>
                  <a:srgbClr val="FFFFFF"/>
                </a:solidFill>
                <a:latin typeface="Consolas"/>
              </a:rPr>
              <a:t>1</a:t>
            </a:r>
          </a:p>
        </p:txBody>
      </p:sp>
      <p:sp>
        <p:nvSpPr>
          <p:cNvPr id="19" name="Rectangle 18"/>
          <p:cNvSpPr/>
          <p:nvPr/>
        </p:nvSpPr>
        <p:spPr>
          <a:xfrm>
            <a:off x="3099816" y="2096135"/>
            <a:ext cx="402336" cy="40233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099816" y="2178431"/>
            <a:ext cx="402336" cy="256032"/>
          </a:xfrm>
          <a:prstGeom prst="rect">
            <a:avLst/>
          </a:prstGeom>
          <a:noFill/>
        </p:spPr>
        <p:txBody>
          <a:bodyPr wrap="square" lIns="0" rIns="0" tIns="0" bIns="0" anchor="t">
            <a:spAutoFit/>
          </a:bodyPr>
          <a:lstStyle/>
          <a:p>
            <a:pPr algn="ctr">
              <a:spcBef>
                <a:spcPts val="0"/>
              </a:spcBef>
              <a:spcAft>
                <a:spcPts val="0"/>
              </a:spcAft>
            </a:pPr>
            <a:r>
              <a:rPr sz="1400" b="1" i="0">
                <a:solidFill>
                  <a:srgbClr val="4A5A69"/>
                </a:solidFill>
                <a:latin typeface="Consolas"/>
              </a:rPr>
              <a:t>0</a:t>
            </a:r>
          </a:p>
        </p:txBody>
      </p:sp>
      <p:sp>
        <p:nvSpPr>
          <p:cNvPr id="21" name="Rectangle 20"/>
          <p:cNvSpPr/>
          <p:nvPr/>
        </p:nvSpPr>
        <p:spPr>
          <a:xfrm>
            <a:off x="3502152" y="2096135"/>
            <a:ext cx="402336" cy="40233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02152" y="2178431"/>
            <a:ext cx="402336" cy="256032"/>
          </a:xfrm>
          <a:prstGeom prst="rect">
            <a:avLst/>
          </a:prstGeom>
          <a:noFill/>
        </p:spPr>
        <p:txBody>
          <a:bodyPr wrap="square" lIns="0" rIns="0" tIns="0" bIns="0" anchor="t">
            <a:spAutoFit/>
          </a:bodyPr>
          <a:lstStyle/>
          <a:p>
            <a:pPr algn="ctr">
              <a:spcBef>
                <a:spcPts val="0"/>
              </a:spcBef>
              <a:spcAft>
                <a:spcPts val="0"/>
              </a:spcAft>
            </a:pPr>
            <a:r>
              <a:rPr sz="1400" b="1" i="0">
                <a:solidFill>
                  <a:srgbClr val="4A5A69"/>
                </a:solidFill>
                <a:latin typeface="Consolas"/>
              </a:rPr>
              <a:t>0</a:t>
            </a:r>
          </a:p>
        </p:txBody>
      </p:sp>
      <p:sp>
        <p:nvSpPr>
          <p:cNvPr id="23" name="TextBox 22"/>
          <p:cNvSpPr txBox="1"/>
          <p:nvPr/>
        </p:nvSpPr>
        <p:spPr>
          <a:xfrm>
            <a:off x="685800" y="2544190"/>
            <a:ext cx="402336" cy="201168"/>
          </a:xfrm>
          <a:prstGeom prst="rect">
            <a:avLst/>
          </a:prstGeom>
          <a:noFill/>
        </p:spPr>
        <p:txBody>
          <a:bodyPr wrap="square" lIns="0" rIns="0" tIns="0" bIns="0" anchor="t">
            <a:spAutoFit/>
          </a:bodyPr>
          <a:lstStyle/>
          <a:p>
            <a:pPr algn="ctr">
              <a:spcBef>
                <a:spcPts val="0"/>
              </a:spcBef>
              <a:spcAft>
                <a:spcPts val="0"/>
              </a:spcAft>
            </a:pPr>
            <a:r>
              <a:rPr sz="900" b="0" i="0">
                <a:solidFill>
                  <a:srgbClr val="788897"/>
                </a:solidFill>
                <a:latin typeface="Segoe UI"/>
              </a:rPr>
              <a:t>b7</a:t>
            </a:r>
          </a:p>
        </p:txBody>
      </p:sp>
      <p:sp>
        <p:nvSpPr>
          <p:cNvPr id="24" name="TextBox 23"/>
          <p:cNvSpPr txBox="1"/>
          <p:nvPr/>
        </p:nvSpPr>
        <p:spPr>
          <a:xfrm>
            <a:off x="1088136" y="2544190"/>
            <a:ext cx="402336" cy="201168"/>
          </a:xfrm>
          <a:prstGeom prst="rect">
            <a:avLst/>
          </a:prstGeom>
          <a:noFill/>
        </p:spPr>
        <p:txBody>
          <a:bodyPr wrap="square" lIns="0" rIns="0" tIns="0" bIns="0" anchor="t">
            <a:spAutoFit/>
          </a:bodyPr>
          <a:lstStyle/>
          <a:p>
            <a:pPr algn="ctr">
              <a:spcBef>
                <a:spcPts val="0"/>
              </a:spcBef>
              <a:spcAft>
                <a:spcPts val="0"/>
              </a:spcAft>
            </a:pPr>
            <a:r>
              <a:rPr sz="900" b="0" i="0">
                <a:solidFill>
                  <a:srgbClr val="788897"/>
                </a:solidFill>
                <a:latin typeface="Segoe UI"/>
              </a:rPr>
              <a:t>b6</a:t>
            </a:r>
          </a:p>
        </p:txBody>
      </p:sp>
      <p:sp>
        <p:nvSpPr>
          <p:cNvPr id="25" name="TextBox 24"/>
          <p:cNvSpPr txBox="1"/>
          <p:nvPr/>
        </p:nvSpPr>
        <p:spPr>
          <a:xfrm>
            <a:off x="1490472" y="2544190"/>
            <a:ext cx="402336" cy="201168"/>
          </a:xfrm>
          <a:prstGeom prst="rect">
            <a:avLst/>
          </a:prstGeom>
          <a:noFill/>
        </p:spPr>
        <p:txBody>
          <a:bodyPr wrap="square" lIns="0" rIns="0" tIns="0" bIns="0" anchor="t">
            <a:spAutoFit/>
          </a:bodyPr>
          <a:lstStyle/>
          <a:p>
            <a:pPr algn="ctr">
              <a:spcBef>
                <a:spcPts val="0"/>
              </a:spcBef>
              <a:spcAft>
                <a:spcPts val="0"/>
              </a:spcAft>
            </a:pPr>
            <a:r>
              <a:rPr sz="900" b="0" i="0">
                <a:solidFill>
                  <a:srgbClr val="788897"/>
                </a:solidFill>
                <a:latin typeface="Segoe UI"/>
              </a:rPr>
              <a:t>b5</a:t>
            </a:r>
          </a:p>
        </p:txBody>
      </p:sp>
      <p:sp>
        <p:nvSpPr>
          <p:cNvPr id="26" name="TextBox 25"/>
          <p:cNvSpPr txBox="1"/>
          <p:nvPr/>
        </p:nvSpPr>
        <p:spPr>
          <a:xfrm>
            <a:off x="1892808" y="2544190"/>
            <a:ext cx="402336" cy="201168"/>
          </a:xfrm>
          <a:prstGeom prst="rect">
            <a:avLst/>
          </a:prstGeom>
          <a:noFill/>
        </p:spPr>
        <p:txBody>
          <a:bodyPr wrap="square" lIns="0" rIns="0" tIns="0" bIns="0" anchor="t">
            <a:spAutoFit/>
          </a:bodyPr>
          <a:lstStyle/>
          <a:p>
            <a:pPr algn="ctr">
              <a:spcBef>
                <a:spcPts val="0"/>
              </a:spcBef>
              <a:spcAft>
                <a:spcPts val="0"/>
              </a:spcAft>
            </a:pPr>
            <a:r>
              <a:rPr sz="900" b="0" i="0">
                <a:solidFill>
                  <a:srgbClr val="788897"/>
                </a:solidFill>
                <a:latin typeface="Segoe UI"/>
              </a:rPr>
              <a:t>b4</a:t>
            </a:r>
          </a:p>
        </p:txBody>
      </p:sp>
      <p:sp>
        <p:nvSpPr>
          <p:cNvPr id="27" name="TextBox 26"/>
          <p:cNvSpPr txBox="1"/>
          <p:nvPr/>
        </p:nvSpPr>
        <p:spPr>
          <a:xfrm>
            <a:off x="2295144" y="2544190"/>
            <a:ext cx="402336" cy="201168"/>
          </a:xfrm>
          <a:prstGeom prst="rect">
            <a:avLst/>
          </a:prstGeom>
          <a:noFill/>
        </p:spPr>
        <p:txBody>
          <a:bodyPr wrap="square" lIns="0" rIns="0" tIns="0" bIns="0" anchor="t">
            <a:spAutoFit/>
          </a:bodyPr>
          <a:lstStyle/>
          <a:p>
            <a:pPr algn="ctr">
              <a:spcBef>
                <a:spcPts val="0"/>
              </a:spcBef>
              <a:spcAft>
                <a:spcPts val="0"/>
              </a:spcAft>
            </a:pPr>
            <a:r>
              <a:rPr sz="900" b="0" i="0">
                <a:solidFill>
                  <a:srgbClr val="788897"/>
                </a:solidFill>
                <a:latin typeface="Segoe UI"/>
              </a:rPr>
              <a:t>b3</a:t>
            </a:r>
          </a:p>
        </p:txBody>
      </p:sp>
      <p:sp>
        <p:nvSpPr>
          <p:cNvPr id="28" name="TextBox 27"/>
          <p:cNvSpPr txBox="1"/>
          <p:nvPr/>
        </p:nvSpPr>
        <p:spPr>
          <a:xfrm>
            <a:off x="2697480" y="2544190"/>
            <a:ext cx="402336" cy="201168"/>
          </a:xfrm>
          <a:prstGeom prst="rect">
            <a:avLst/>
          </a:prstGeom>
          <a:noFill/>
        </p:spPr>
        <p:txBody>
          <a:bodyPr wrap="square" lIns="0" rIns="0" tIns="0" bIns="0" anchor="t">
            <a:spAutoFit/>
          </a:bodyPr>
          <a:lstStyle/>
          <a:p>
            <a:pPr algn="ctr">
              <a:spcBef>
                <a:spcPts val="0"/>
              </a:spcBef>
              <a:spcAft>
                <a:spcPts val="0"/>
              </a:spcAft>
            </a:pPr>
            <a:r>
              <a:rPr sz="900" b="0" i="0">
                <a:solidFill>
                  <a:srgbClr val="788897"/>
                </a:solidFill>
                <a:latin typeface="Segoe UI"/>
              </a:rPr>
              <a:t>b2</a:t>
            </a:r>
          </a:p>
        </p:txBody>
      </p:sp>
      <p:sp>
        <p:nvSpPr>
          <p:cNvPr id="29" name="TextBox 28"/>
          <p:cNvSpPr txBox="1"/>
          <p:nvPr/>
        </p:nvSpPr>
        <p:spPr>
          <a:xfrm>
            <a:off x="3099816" y="2544190"/>
            <a:ext cx="402336" cy="201168"/>
          </a:xfrm>
          <a:prstGeom prst="rect">
            <a:avLst/>
          </a:prstGeom>
          <a:noFill/>
        </p:spPr>
        <p:txBody>
          <a:bodyPr wrap="square" lIns="0" rIns="0" tIns="0" bIns="0" anchor="t">
            <a:spAutoFit/>
          </a:bodyPr>
          <a:lstStyle/>
          <a:p>
            <a:pPr algn="ctr">
              <a:spcBef>
                <a:spcPts val="0"/>
              </a:spcBef>
              <a:spcAft>
                <a:spcPts val="0"/>
              </a:spcAft>
            </a:pPr>
            <a:r>
              <a:rPr sz="900" b="0" i="0">
                <a:solidFill>
                  <a:srgbClr val="788897"/>
                </a:solidFill>
                <a:latin typeface="Segoe UI"/>
              </a:rPr>
              <a:t>b1</a:t>
            </a:r>
          </a:p>
        </p:txBody>
      </p:sp>
      <p:sp>
        <p:nvSpPr>
          <p:cNvPr id="30" name="TextBox 29"/>
          <p:cNvSpPr txBox="1"/>
          <p:nvPr/>
        </p:nvSpPr>
        <p:spPr>
          <a:xfrm>
            <a:off x="3502152" y="2544190"/>
            <a:ext cx="402336" cy="201168"/>
          </a:xfrm>
          <a:prstGeom prst="rect">
            <a:avLst/>
          </a:prstGeom>
          <a:noFill/>
        </p:spPr>
        <p:txBody>
          <a:bodyPr wrap="square" lIns="0" rIns="0" tIns="0" bIns="0" anchor="t">
            <a:spAutoFit/>
          </a:bodyPr>
          <a:lstStyle/>
          <a:p>
            <a:pPr algn="ctr">
              <a:spcBef>
                <a:spcPts val="0"/>
              </a:spcBef>
              <a:spcAft>
                <a:spcPts val="0"/>
              </a:spcAft>
            </a:pPr>
            <a:r>
              <a:rPr sz="900" b="0" i="0">
                <a:solidFill>
                  <a:srgbClr val="788897"/>
                </a:solidFill>
                <a:latin typeface="Segoe UI"/>
              </a:rPr>
              <a:t>b0</a:t>
            </a:r>
          </a:p>
        </p:txBody>
      </p:sp>
      <p:sp>
        <p:nvSpPr>
          <p:cNvPr id="31" name="TextBox 30"/>
          <p:cNvSpPr txBox="1"/>
          <p:nvPr/>
        </p:nvSpPr>
        <p:spPr>
          <a:xfrm>
            <a:off x="685800" y="2608199"/>
            <a:ext cx="4023360" cy="219456"/>
          </a:xfrm>
          <a:prstGeom prst="rect">
            <a:avLst/>
          </a:prstGeom>
          <a:noFill/>
        </p:spPr>
        <p:txBody>
          <a:bodyPr wrap="square" lIns="0" rIns="0" tIns="0" bIns="0" anchor="t">
            <a:spAutoFit/>
          </a:bodyPr>
          <a:lstStyle/>
          <a:p>
            <a:pPr algn="l">
              <a:spcBef>
                <a:spcPts val="0"/>
              </a:spcBef>
              <a:spcAft>
                <a:spcPts val="0"/>
              </a:spcAft>
            </a:pPr>
            <a:r>
              <a:rPr sz="950" b="0" i="0">
                <a:solidFill>
                  <a:srgbClr val="788897"/>
                </a:solidFill>
                <a:latin typeface="Segoe UI"/>
              </a:rPr>
              <a:t>MSB ← position weights → LSB</a:t>
            </a:r>
          </a:p>
        </p:txBody>
      </p:sp>
      <p:sp>
        <p:nvSpPr>
          <p:cNvPr id="32" name="TextBox 31"/>
          <p:cNvSpPr txBox="1"/>
          <p:nvPr/>
        </p:nvSpPr>
        <p:spPr>
          <a:xfrm>
            <a:off x="685800" y="3065399"/>
            <a:ext cx="5257800" cy="237744"/>
          </a:xfrm>
          <a:prstGeom prst="rect">
            <a:avLst/>
          </a:prstGeom>
          <a:noFill/>
        </p:spPr>
        <p:txBody>
          <a:bodyPr wrap="square" lIns="0" rIns="0" tIns="0" bIns="0" anchor="t">
            <a:spAutoFit/>
          </a:bodyPr>
          <a:lstStyle/>
          <a:p>
            <a:pPr algn="l">
              <a:spcBef>
                <a:spcPts val="0"/>
              </a:spcBef>
              <a:spcAft>
                <a:spcPts val="0"/>
              </a:spcAft>
            </a:pPr>
            <a:r>
              <a:rPr sz="900" b="1" i="0">
                <a:solidFill>
                  <a:srgbClr val="0E7C86"/>
                </a:solidFill>
                <a:latin typeface="Segoe UI Semibold"/>
              </a:rPr>
              <a:t>WEIGHTS 128 · 64 · 32 · 16 · 8 · 4 · 2 · 1</a:t>
            </a:r>
          </a:p>
        </p:txBody>
      </p:sp>
      <p:sp>
        <p:nvSpPr>
          <p:cNvPr id="33" name="TextBox 32"/>
          <p:cNvSpPr txBox="1"/>
          <p:nvPr/>
        </p:nvSpPr>
        <p:spPr>
          <a:xfrm>
            <a:off x="685800" y="3321431"/>
            <a:ext cx="5257800" cy="365760"/>
          </a:xfrm>
          <a:prstGeom prst="rect">
            <a:avLst/>
          </a:prstGeom>
          <a:noFill/>
        </p:spPr>
        <p:txBody>
          <a:bodyPr wrap="square" lIns="0" rIns="0" tIns="0" bIns="0" anchor="t">
            <a:spAutoFit/>
          </a:bodyPr>
          <a:lstStyle/>
          <a:p>
            <a:pPr algn="l">
              <a:spcBef>
                <a:spcPts val="0"/>
              </a:spcBef>
              <a:spcAft>
                <a:spcPts val="0"/>
              </a:spcAft>
            </a:pPr>
            <a:r>
              <a:rPr sz="1150" b="0" i="0">
                <a:solidFill>
                  <a:srgbClr val="4A5A69"/>
                </a:solidFill>
                <a:latin typeface="Segoe UI"/>
              </a:rPr>
              <a:t>128 + 32 + 16 + 4 = 180</a:t>
            </a:r>
            <a:r>
              <a:rPr sz="1150" b="0" i="0">
                <a:solidFill>
                  <a:srgbClr val="788897"/>
                </a:solidFill>
                <a:latin typeface="Segoe UI"/>
              </a:rPr>
              <a:t>     1011 0100 → </a:t>
            </a:r>
            <a:r>
              <a:rPr sz="1150" b="1" i="0">
                <a:solidFill>
                  <a:srgbClr val="0A5A62"/>
                </a:solidFill>
                <a:latin typeface="Consolas"/>
              </a:rPr>
              <a:t>0xB4</a:t>
            </a:r>
          </a:p>
        </p:txBody>
      </p:sp>
      <p:sp>
        <p:nvSpPr>
          <p:cNvPr id="34" name="TextBox 33"/>
          <p:cNvSpPr txBox="1"/>
          <p:nvPr/>
        </p:nvSpPr>
        <p:spPr>
          <a:xfrm>
            <a:off x="685800" y="3705479"/>
            <a:ext cx="5257800" cy="402336"/>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788897"/>
                </a:solidFill>
                <a:latin typeface="Segoe UI"/>
              </a:rPr>
              <a:t>A 0 or 1 is a voltage range, not an exact level, so small electrical noise cannot change it.</a:t>
            </a:r>
          </a:p>
        </p:txBody>
      </p:sp>
      <p:graphicFrame>
        <p:nvGraphicFramePr>
          <p:cNvPr id="35" name="Table 34"/>
          <p:cNvGraphicFramePr>
            <a:graphicFrameLocks noGrp="1"/>
          </p:cNvGraphicFramePr>
          <p:nvPr/>
        </p:nvGraphicFramePr>
        <p:xfrm>
          <a:off x="685800" y="4180966"/>
          <a:ext cx="5257800" cy="1417320"/>
        </p:xfrm>
        <a:graphic>
          <a:graphicData uri="http://schemas.openxmlformats.org/drawingml/2006/table">
            <a:tbl>
              <a:tblPr firstRow="1" bandRow="0">
                <a:tableStyleId>{5C22544A-7EE6-4342-B048-85BDC9FD1C3A}</a:tableStyleId>
              </a:tblPr>
              <a:tblGrid>
                <a:gridCol w="658368"/>
                <a:gridCol w="1298448"/>
                <a:gridCol w="1691640"/>
                <a:gridCol w="1609344"/>
              </a:tblGrid>
              <a:tr h="283464">
                <a:tc>
                  <a:txBody>
                    <a:bodyPr wrap="square"/>
                    <a:lstStyle/>
                    <a:p>
                      <a:pPr algn="l"/>
                      <a:r>
                        <a:rPr sz="1150" b="1">
                          <a:solidFill>
                            <a:srgbClr val="FFFFFF"/>
                          </a:solidFill>
                          <a:latin typeface="Segoe UI"/>
                        </a:rPr>
                        <a:t>Base</a:t>
                      </a:r>
                    </a:p>
                  </a:txBody>
                  <a:tcPr marL="100584" marR="64008" marT="27432" marB="27432" anchor="ctr">
                    <a:solidFill>
                      <a:srgbClr val="0E7C86"/>
                    </a:solidFill>
                  </a:tcPr>
                </a:tc>
                <a:tc>
                  <a:txBody>
                    <a:bodyPr wrap="square"/>
                    <a:lstStyle/>
                    <a:p>
                      <a:pPr algn="l"/>
                      <a:r>
                        <a:rPr sz="1150" b="1">
                          <a:solidFill>
                            <a:srgbClr val="FFFFFF"/>
                          </a:solidFill>
                          <a:latin typeface="Segoe UI"/>
                        </a:rPr>
                        <a:t>Name</a:t>
                      </a:r>
                    </a:p>
                  </a:txBody>
                  <a:tcPr marL="100584" marR="64008" marT="27432" marB="27432" anchor="ctr">
                    <a:solidFill>
                      <a:srgbClr val="0E7C86"/>
                    </a:solidFill>
                  </a:tcPr>
                </a:tc>
                <a:tc>
                  <a:txBody>
                    <a:bodyPr wrap="square"/>
                    <a:lstStyle/>
                    <a:p>
                      <a:pPr algn="l"/>
                      <a:r>
                        <a:rPr sz="1150" b="1">
                          <a:solidFill>
                            <a:srgbClr val="FFFFFF"/>
                          </a:solidFill>
                          <a:latin typeface="Segoe UI"/>
                        </a:rPr>
                        <a:t>Digits</a:t>
                      </a:r>
                    </a:p>
                  </a:txBody>
                  <a:tcPr marL="100584" marR="64008" marT="27432" marB="27432" anchor="ctr">
                    <a:solidFill>
                      <a:srgbClr val="0E7C86"/>
                    </a:solidFill>
                  </a:tcPr>
                </a:tc>
                <a:tc>
                  <a:txBody>
                    <a:bodyPr wrap="square"/>
                    <a:lstStyle/>
                    <a:p>
                      <a:pPr algn="l"/>
                      <a:r>
                        <a:rPr sz="1150" b="1">
                          <a:solidFill>
                            <a:srgbClr val="FFFFFF"/>
                          </a:solidFill>
                          <a:latin typeface="Segoe UI"/>
                        </a:rPr>
                        <a:t>10110100₂ is</a:t>
                      </a:r>
                    </a:p>
                  </a:txBody>
                  <a:tcPr marL="100584" marR="64008" marT="27432" marB="27432" anchor="ctr">
                    <a:solidFill>
                      <a:srgbClr val="0E7C86"/>
                    </a:solidFill>
                  </a:tcPr>
                </a:tc>
              </a:tr>
              <a:tr h="283464">
                <a:tc>
                  <a:txBody>
                    <a:bodyPr wrap="square"/>
                    <a:lstStyle/>
                    <a:p>
                      <a:pPr algn="l"/>
                      <a:r>
                        <a:rPr sz="1150" b="1">
                          <a:solidFill>
                            <a:srgbClr val="11212E"/>
                          </a:solidFill>
                          <a:latin typeface="Segoe UI"/>
                        </a:rPr>
                        <a:t>2</a:t>
                      </a:r>
                    </a:p>
                  </a:txBody>
                  <a:tcPr marL="100584" marR="64008" marT="27432" marB="27432" anchor="ctr">
                    <a:solidFill>
                      <a:srgbClr val="FFFFFF"/>
                    </a:solidFill>
                  </a:tcPr>
                </a:tc>
                <a:tc>
                  <a:txBody>
                    <a:bodyPr wrap="square"/>
                    <a:lstStyle/>
                    <a:p>
                      <a:pPr algn="l"/>
                      <a:r>
                        <a:rPr sz="1150">
                          <a:solidFill>
                            <a:srgbClr val="4A5A69"/>
                          </a:solidFill>
                          <a:latin typeface="Segoe UI"/>
                        </a:rPr>
                        <a:t>Binary</a:t>
                      </a:r>
                    </a:p>
                  </a:txBody>
                  <a:tcPr marL="100584" marR="64008" marT="27432" marB="27432" anchor="ctr">
                    <a:solidFill>
                      <a:srgbClr val="FFFFFF"/>
                    </a:solidFill>
                  </a:tcPr>
                </a:tc>
                <a:tc>
                  <a:txBody>
                    <a:bodyPr wrap="square"/>
                    <a:lstStyle/>
                    <a:p>
                      <a:pPr algn="l"/>
                      <a:r>
                        <a:rPr sz="1150">
                          <a:solidFill>
                            <a:srgbClr val="4A5A69"/>
                          </a:solidFill>
                          <a:latin typeface="Segoe UI"/>
                        </a:rPr>
                        <a:t>0, 1</a:t>
                      </a:r>
                    </a:p>
                  </a:txBody>
                  <a:tcPr marL="100584" marR="64008" marT="27432" marB="27432" anchor="ctr">
                    <a:solidFill>
                      <a:srgbClr val="FFFFFF"/>
                    </a:solidFill>
                  </a:tcPr>
                </a:tc>
                <a:tc>
                  <a:txBody>
                    <a:bodyPr wrap="square"/>
                    <a:lstStyle/>
                    <a:p>
                      <a:pPr algn="l"/>
                      <a:r>
                        <a:rPr sz="1150">
                          <a:solidFill>
                            <a:srgbClr val="4A5A69"/>
                          </a:solidFill>
                          <a:latin typeface="Consolas"/>
                        </a:rPr>
                        <a:t>10110100</a:t>
                      </a:r>
                    </a:p>
                  </a:txBody>
                  <a:tcPr marL="100584" marR="64008" marT="27432" marB="27432" anchor="ctr">
                    <a:solidFill>
                      <a:srgbClr val="FFFFFF"/>
                    </a:solidFill>
                  </a:tcPr>
                </a:tc>
              </a:tr>
              <a:tr h="283464">
                <a:tc>
                  <a:txBody>
                    <a:bodyPr wrap="square"/>
                    <a:lstStyle/>
                    <a:p>
                      <a:pPr algn="l"/>
                      <a:r>
                        <a:rPr sz="1150" b="1">
                          <a:solidFill>
                            <a:srgbClr val="11212E"/>
                          </a:solidFill>
                          <a:latin typeface="Segoe UI"/>
                        </a:rPr>
                        <a:t>8</a:t>
                      </a:r>
                    </a:p>
                  </a:txBody>
                  <a:tcPr marL="100584" marR="64008" marT="27432" marB="27432" anchor="ctr">
                    <a:solidFill>
                      <a:srgbClr val="F1F6F8"/>
                    </a:solidFill>
                  </a:tcPr>
                </a:tc>
                <a:tc>
                  <a:txBody>
                    <a:bodyPr wrap="square"/>
                    <a:lstStyle/>
                    <a:p>
                      <a:pPr algn="l"/>
                      <a:r>
                        <a:rPr sz="1150">
                          <a:solidFill>
                            <a:srgbClr val="4A5A69"/>
                          </a:solidFill>
                          <a:latin typeface="Segoe UI"/>
                        </a:rPr>
                        <a:t>Octal</a:t>
                      </a:r>
                    </a:p>
                  </a:txBody>
                  <a:tcPr marL="100584" marR="64008" marT="27432" marB="27432" anchor="ctr">
                    <a:solidFill>
                      <a:srgbClr val="F1F6F8"/>
                    </a:solidFill>
                  </a:tcPr>
                </a:tc>
                <a:tc>
                  <a:txBody>
                    <a:bodyPr wrap="square"/>
                    <a:lstStyle/>
                    <a:p>
                      <a:pPr algn="l"/>
                      <a:r>
                        <a:rPr sz="1150">
                          <a:solidFill>
                            <a:srgbClr val="4A5A69"/>
                          </a:solidFill>
                          <a:latin typeface="Segoe UI"/>
                        </a:rPr>
                        <a:t>0 – 7</a:t>
                      </a:r>
                    </a:p>
                  </a:txBody>
                  <a:tcPr marL="100584" marR="64008" marT="27432" marB="27432" anchor="ctr">
                    <a:solidFill>
                      <a:srgbClr val="F1F6F8"/>
                    </a:solidFill>
                  </a:tcPr>
                </a:tc>
                <a:tc>
                  <a:txBody>
                    <a:bodyPr wrap="square"/>
                    <a:lstStyle/>
                    <a:p>
                      <a:pPr algn="l"/>
                      <a:r>
                        <a:rPr sz="1150">
                          <a:solidFill>
                            <a:srgbClr val="4A5A69"/>
                          </a:solidFill>
                          <a:latin typeface="Consolas"/>
                        </a:rPr>
                        <a:t>264</a:t>
                      </a:r>
                    </a:p>
                  </a:txBody>
                  <a:tcPr marL="100584" marR="64008" marT="27432" marB="27432" anchor="ctr">
                    <a:solidFill>
                      <a:srgbClr val="F1F6F8"/>
                    </a:solidFill>
                  </a:tcPr>
                </a:tc>
              </a:tr>
              <a:tr h="283464">
                <a:tc>
                  <a:txBody>
                    <a:bodyPr wrap="square"/>
                    <a:lstStyle/>
                    <a:p>
                      <a:pPr algn="l"/>
                      <a:r>
                        <a:rPr sz="1150" b="1">
                          <a:solidFill>
                            <a:srgbClr val="11212E"/>
                          </a:solidFill>
                          <a:latin typeface="Segoe UI"/>
                        </a:rPr>
                        <a:t>10</a:t>
                      </a:r>
                    </a:p>
                  </a:txBody>
                  <a:tcPr marL="100584" marR="64008" marT="27432" marB="27432" anchor="ctr">
                    <a:solidFill>
                      <a:srgbClr val="FFFFFF"/>
                    </a:solidFill>
                  </a:tcPr>
                </a:tc>
                <a:tc>
                  <a:txBody>
                    <a:bodyPr wrap="square"/>
                    <a:lstStyle/>
                    <a:p>
                      <a:pPr algn="l"/>
                      <a:r>
                        <a:rPr sz="1150">
                          <a:solidFill>
                            <a:srgbClr val="4A5A69"/>
                          </a:solidFill>
                          <a:latin typeface="Segoe UI"/>
                        </a:rPr>
                        <a:t>Decimal</a:t>
                      </a:r>
                    </a:p>
                  </a:txBody>
                  <a:tcPr marL="100584" marR="64008" marT="27432" marB="27432" anchor="ctr">
                    <a:solidFill>
                      <a:srgbClr val="FFFFFF"/>
                    </a:solidFill>
                  </a:tcPr>
                </a:tc>
                <a:tc>
                  <a:txBody>
                    <a:bodyPr wrap="square"/>
                    <a:lstStyle/>
                    <a:p>
                      <a:pPr algn="l"/>
                      <a:r>
                        <a:rPr sz="1150">
                          <a:solidFill>
                            <a:srgbClr val="4A5A69"/>
                          </a:solidFill>
                          <a:latin typeface="Segoe UI"/>
                        </a:rPr>
                        <a:t>0 – 9</a:t>
                      </a:r>
                    </a:p>
                  </a:txBody>
                  <a:tcPr marL="100584" marR="64008" marT="27432" marB="27432" anchor="ctr">
                    <a:solidFill>
                      <a:srgbClr val="FFFFFF"/>
                    </a:solidFill>
                  </a:tcPr>
                </a:tc>
                <a:tc>
                  <a:txBody>
                    <a:bodyPr wrap="square"/>
                    <a:lstStyle/>
                    <a:p>
                      <a:pPr algn="l"/>
                      <a:r>
                        <a:rPr sz="1150">
                          <a:solidFill>
                            <a:srgbClr val="4A5A69"/>
                          </a:solidFill>
                          <a:latin typeface="Consolas"/>
                        </a:rPr>
                        <a:t>180</a:t>
                      </a:r>
                    </a:p>
                  </a:txBody>
                  <a:tcPr marL="100584" marR="64008" marT="27432" marB="27432" anchor="ctr">
                    <a:solidFill>
                      <a:srgbClr val="FFFFFF"/>
                    </a:solidFill>
                  </a:tcPr>
                </a:tc>
              </a:tr>
              <a:tr h="283464">
                <a:tc>
                  <a:txBody>
                    <a:bodyPr wrap="square"/>
                    <a:lstStyle/>
                    <a:p>
                      <a:pPr algn="l"/>
                      <a:r>
                        <a:rPr sz="1150" b="1">
                          <a:solidFill>
                            <a:srgbClr val="11212E"/>
                          </a:solidFill>
                          <a:latin typeface="Segoe UI"/>
                        </a:rPr>
                        <a:t>16</a:t>
                      </a:r>
                    </a:p>
                  </a:txBody>
                  <a:tcPr marL="100584" marR="64008" marT="27432" marB="27432" anchor="ctr">
                    <a:solidFill>
                      <a:srgbClr val="F1F6F8"/>
                    </a:solidFill>
                  </a:tcPr>
                </a:tc>
                <a:tc>
                  <a:txBody>
                    <a:bodyPr wrap="square"/>
                    <a:lstStyle/>
                    <a:p>
                      <a:pPr algn="l"/>
                      <a:r>
                        <a:rPr sz="1150">
                          <a:solidFill>
                            <a:srgbClr val="4A5A69"/>
                          </a:solidFill>
                          <a:latin typeface="Segoe UI"/>
                        </a:rPr>
                        <a:t>Hex</a:t>
                      </a:r>
                    </a:p>
                  </a:txBody>
                  <a:tcPr marL="100584" marR="64008" marT="27432" marB="27432" anchor="ctr">
                    <a:solidFill>
                      <a:srgbClr val="F1F6F8"/>
                    </a:solidFill>
                  </a:tcPr>
                </a:tc>
                <a:tc>
                  <a:txBody>
                    <a:bodyPr wrap="square"/>
                    <a:lstStyle/>
                    <a:p>
                      <a:pPr algn="l"/>
                      <a:r>
                        <a:rPr sz="1150">
                          <a:solidFill>
                            <a:srgbClr val="4A5A69"/>
                          </a:solidFill>
                          <a:latin typeface="Segoe UI"/>
                        </a:rPr>
                        <a:t>0 – 9, A – F</a:t>
                      </a:r>
                    </a:p>
                  </a:txBody>
                  <a:tcPr marL="100584" marR="64008" marT="27432" marB="27432" anchor="ctr">
                    <a:solidFill>
                      <a:srgbClr val="F1F6F8"/>
                    </a:solidFill>
                  </a:tcPr>
                </a:tc>
                <a:tc>
                  <a:txBody>
                    <a:bodyPr wrap="square"/>
                    <a:lstStyle/>
                    <a:p>
                      <a:pPr algn="l"/>
                      <a:r>
                        <a:rPr sz="1150">
                          <a:solidFill>
                            <a:srgbClr val="4A5A69"/>
                          </a:solidFill>
                          <a:latin typeface="Consolas"/>
                        </a:rPr>
                        <a:t>0xB4</a:t>
                      </a:r>
                    </a:p>
                  </a:txBody>
                  <a:tcPr marL="100584" marR="64008" marT="27432" marB="27432" anchor="ctr">
                    <a:solidFill>
                      <a:srgbClr val="F1F6F8"/>
                    </a:solidFill>
                  </a:tcPr>
                </a:tc>
              </a:tr>
            </a:tbl>
          </a:graphicData>
        </a:graphic>
      </p:graphicFrame>
      <p:sp>
        <p:nvSpPr>
          <p:cNvPr id="36" name="TextBox 35"/>
          <p:cNvSpPr txBox="1"/>
          <p:nvPr/>
        </p:nvSpPr>
        <p:spPr>
          <a:xfrm>
            <a:off x="6355080" y="1748663"/>
            <a:ext cx="5120640" cy="274320"/>
          </a:xfrm>
          <a:prstGeom prst="rect">
            <a:avLst/>
          </a:prstGeom>
          <a:noFill/>
        </p:spPr>
        <p:txBody>
          <a:bodyPr wrap="square" lIns="0" rIns="0" tIns="0" bIns="0" anchor="t">
            <a:spAutoFit/>
          </a:bodyPr>
          <a:lstStyle/>
          <a:p>
            <a:pPr algn="l">
              <a:spcBef>
                <a:spcPts val="0"/>
              </a:spcBef>
              <a:spcAft>
                <a:spcPts val="0"/>
              </a:spcAft>
            </a:pPr>
            <a:r>
              <a:rPr sz="1400" b="1" i="0">
                <a:solidFill>
                  <a:srgbClr val="11212E"/>
                </a:solidFill>
                <a:latin typeface="Segoe UI Semibold"/>
              </a:rPr>
              <a:t>How many values fit in n bits?</a:t>
            </a:r>
          </a:p>
        </p:txBody>
      </p:sp>
      <p:graphicFrame>
        <p:nvGraphicFramePr>
          <p:cNvPr id="37" name="Table 36"/>
          <p:cNvGraphicFramePr>
            <a:graphicFrameLocks noGrp="1"/>
          </p:cNvGraphicFramePr>
          <p:nvPr/>
        </p:nvGraphicFramePr>
        <p:xfrm>
          <a:off x="6355080" y="2114423"/>
          <a:ext cx="5120640" cy="1700784"/>
        </p:xfrm>
        <a:graphic>
          <a:graphicData uri="http://schemas.openxmlformats.org/drawingml/2006/table">
            <a:tbl>
              <a:tblPr firstRow="1" bandRow="0">
                <a:tableStyleId>{5C22544A-7EE6-4342-B048-85BDC9FD1C3A}</a:tableStyleId>
              </a:tblPr>
              <a:tblGrid>
                <a:gridCol w="566928"/>
                <a:gridCol w="1280160"/>
                <a:gridCol w="1691640"/>
                <a:gridCol w="1581912"/>
              </a:tblGrid>
              <a:tr h="283464">
                <a:tc>
                  <a:txBody>
                    <a:bodyPr wrap="square"/>
                    <a:lstStyle/>
                    <a:p>
                      <a:pPr algn="l"/>
                      <a:r>
                        <a:rPr sz="1100" b="1">
                          <a:solidFill>
                            <a:srgbClr val="FFFFFF"/>
                          </a:solidFill>
                          <a:latin typeface="Segoe UI"/>
                        </a:rPr>
                        <a:t>n</a:t>
                      </a:r>
                    </a:p>
                  </a:txBody>
                  <a:tcPr marL="100584" marR="64008" marT="27432" marB="27432" anchor="ctr">
                    <a:solidFill>
                      <a:srgbClr val="0E7C86"/>
                    </a:solidFill>
                  </a:tcPr>
                </a:tc>
                <a:tc>
                  <a:txBody>
                    <a:bodyPr wrap="square"/>
                    <a:lstStyle/>
                    <a:p>
                      <a:pPr algn="l"/>
                      <a:r>
                        <a:rPr sz="1100" b="1">
                          <a:solidFill>
                            <a:srgbClr val="FFFFFF"/>
                          </a:solidFill>
                          <a:latin typeface="Segoe UI"/>
                        </a:rPr>
                        <a:t>Patterns</a:t>
                      </a:r>
                    </a:p>
                  </a:txBody>
                  <a:tcPr marL="100584" marR="64008" marT="27432" marB="27432" anchor="ctr">
                    <a:solidFill>
                      <a:srgbClr val="0E7C86"/>
                    </a:solidFill>
                  </a:tcPr>
                </a:tc>
                <a:tc>
                  <a:txBody>
                    <a:bodyPr wrap="square"/>
                    <a:lstStyle/>
                    <a:p>
                      <a:pPr algn="l"/>
                      <a:r>
                        <a:rPr sz="1100" b="1">
                          <a:solidFill>
                            <a:srgbClr val="FFFFFF"/>
                          </a:solidFill>
                          <a:latin typeface="Segoe UI"/>
                        </a:rPr>
                        <a:t>Unsigned range</a:t>
                      </a:r>
                    </a:p>
                  </a:txBody>
                  <a:tcPr marL="100584" marR="64008" marT="27432" marB="27432" anchor="ctr">
                    <a:solidFill>
                      <a:srgbClr val="0E7C86"/>
                    </a:solidFill>
                  </a:tcPr>
                </a:tc>
                <a:tc>
                  <a:txBody>
                    <a:bodyPr wrap="square"/>
                    <a:lstStyle/>
                    <a:p>
                      <a:pPr algn="l"/>
                      <a:r>
                        <a:rPr sz="1100" b="1">
                          <a:solidFill>
                            <a:srgbClr val="FFFFFF"/>
                          </a:solidFill>
                          <a:latin typeface="Segoe UI"/>
                        </a:rPr>
                        <a:t>Typical use</a:t>
                      </a:r>
                    </a:p>
                  </a:txBody>
                  <a:tcPr marL="100584" marR="64008" marT="27432" marB="27432" anchor="ctr">
                    <a:solidFill>
                      <a:srgbClr val="0E7C86"/>
                    </a:solidFill>
                  </a:tcPr>
                </a:tc>
              </a:tr>
              <a:tr h="283464">
                <a:tc>
                  <a:txBody>
                    <a:bodyPr wrap="square"/>
                    <a:lstStyle/>
                    <a:p>
                      <a:pPr algn="l"/>
                      <a:r>
                        <a:rPr sz="1100" b="1">
                          <a:solidFill>
                            <a:srgbClr val="11212E"/>
                          </a:solidFill>
                          <a:latin typeface="Segoe UI"/>
                        </a:rPr>
                        <a:t>1</a:t>
                      </a:r>
                    </a:p>
                  </a:txBody>
                  <a:tcPr marL="100584" marR="64008" marT="27432" marB="27432" anchor="ctr">
                    <a:solidFill>
                      <a:srgbClr val="FFFFFF"/>
                    </a:solidFill>
                  </a:tcPr>
                </a:tc>
                <a:tc>
                  <a:txBody>
                    <a:bodyPr wrap="square"/>
                    <a:lstStyle/>
                    <a:p>
                      <a:pPr algn="l"/>
                      <a:r>
                        <a:rPr sz="1100">
                          <a:solidFill>
                            <a:srgbClr val="4A5A69"/>
                          </a:solidFill>
                          <a:latin typeface="Consolas"/>
                        </a:rPr>
                        <a:t>2</a:t>
                      </a:r>
                    </a:p>
                  </a:txBody>
                  <a:tcPr marL="100584" marR="64008" marT="27432" marB="27432" anchor="ctr">
                    <a:solidFill>
                      <a:srgbClr val="FFFFFF"/>
                    </a:solidFill>
                  </a:tcPr>
                </a:tc>
                <a:tc>
                  <a:txBody>
                    <a:bodyPr wrap="square"/>
                    <a:lstStyle/>
                    <a:p>
                      <a:pPr algn="l"/>
                      <a:r>
                        <a:rPr sz="1100">
                          <a:solidFill>
                            <a:srgbClr val="4A5A69"/>
                          </a:solidFill>
                          <a:latin typeface="Consolas"/>
                        </a:rPr>
                        <a:t>0 – 1</a:t>
                      </a:r>
                    </a:p>
                  </a:txBody>
                  <a:tcPr marL="100584" marR="64008" marT="27432" marB="27432" anchor="ctr">
                    <a:solidFill>
                      <a:srgbClr val="FFFFFF"/>
                    </a:solidFill>
                  </a:tcPr>
                </a:tc>
                <a:tc>
                  <a:txBody>
                    <a:bodyPr wrap="square"/>
                    <a:lstStyle/>
                    <a:p>
                      <a:pPr algn="l"/>
                      <a:r>
                        <a:rPr sz="1100">
                          <a:solidFill>
                            <a:srgbClr val="4A5A69"/>
                          </a:solidFill>
                          <a:latin typeface="Segoe UI"/>
                        </a:rPr>
                        <a:t>flag</a:t>
                      </a:r>
                    </a:p>
                  </a:txBody>
                  <a:tcPr marL="100584" marR="64008" marT="27432" marB="27432" anchor="ctr">
                    <a:solidFill>
                      <a:srgbClr val="FFFFFF"/>
                    </a:solidFill>
                  </a:tcPr>
                </a:tc>
              </a:tr>
              <a:tr h="283464">
                <a:tc>
                  <a:txBody>
                    <a:bodyPr wrap="square"/>
                    <a:lstStyle/>
                    <a:p>
                      <a:pPr algn="l"/>
                      <a:r>
                        <a:rPr sz="1100" b="1">
                          <a:solidFill>
                            <a:srgbClr val="11212E"/>
                          </a:solidFill>
                          <a:latin typeface="Segoe UI"/>
                        </a:rPr>
                        <a:t>8</a:t>
                      </a:r>
                    </a:p>
                  </a:txBody>
                  <a:tcPr marL="100584" marR="64008" marT="27432" marB="27432" anchor="ctr">
                    <a:solidFill>
                      <a:srgbClr val="F1F6F8"/>
                    </a:solidFill>
                  </a:tcPr>
                </a:tc>
                <a:tc>
                  <a:txBody>
                    <a:bodyPr wrap="square"/>
                    <a:lstStyle/>
                    <a:p>
                      <a:pPr algn="l"/>
                      <a:r>
                        <a:rPr sz="1100">
                          <a:solidFill>
                            <a:srgbClr val="4A5A69"/>
                          </a:solidFill>
                          <a:latin typeface="Consolas"/>
                        </a:rPr>
                        <a:t>256</a:t>
                      </a:r>
                    </a:p>
                  </a:txBody>
                  <a:tcPr marL="100584" marR="64008" marT="27432" marB="27432" anchor="ctr">
                    <a:solidFill>
                      <a:srgbClr val="F1F6F8"/>
                    </a:solidFill>
                  </a:tcPr>
                </a:tc>
                <a:tc>
                  <a:txBody>
                    <a:bodyPr wrap="square"/>
                    <a:lstStyle/>
                    <a:p>
                      <a:pPr algn="l"/>
                      <a:r>
                        <a:rPr sz="1100">
                          <a:solidFill>
                            <a:srgbClr val="4A5A69"/>
                          </a:solidFill>
                          <a:latin typeface="Consolas"/>
                        </a:rPr>
                        <a:t>0 – 255</a:t>
                      </a:r>
                    </a:p>
                  </a:txBody>
                  <a:tcPr marL="100584" marR="64008" marT="27432" marB="27432" anchor="ctr">
                    <a:solidFill>
                      <a:srgbClr val="F1F6F8"/>
                    </a:solidFill>
                  </a:tcPr>
                </a:tc>
                <a:tc>
                  <a:txBody>
                    <a:bodyPr wrap="square"/>
                    <a:lstStyle/>
                    <a:p>
                      <a:pPr algn="l"/>
                      <a:r>
                        <a:rPr sz="1100">
                          <a:solidFill>
                            <a:srgbClr val="4A5A69"/>
                          </a:solidFill>
                          <a:latin typeface="Segoe UI"/>
                        </a:rPr>
                        <a:t>byte / ASCII</a:t>
                      </a:r>
                    </a:p>
                  </a:txBody>
                  <a:tcPr marL="100584" marR="64008" marT="27432" marB="27432" anchor="ctr">
                    <a:solidFill>
                      <a:srgbClr val="F1F6F8"/>
                    </a:solidFill>
                  </a:tcPr>
                </a:tc>
              </a:tr>
              <a:tr h="283464">
                <a:tc>
                  <a:txBody>
                    <a:bodyPr wrap="square"/>
                    <a:lstStyle/>
                    <a:p>
                      <a:pPr algn="l"/>
                      <a:r>
                        <a:rPr sz="1100" b="1">
                          <a:solidFill>
                            <a:srgbClr val="11212E"/>
                          </a:solidFill>
                          <a:latin typeface="Segoe UI"/>
                        </a:rPr>
                        <a:t>16</a:t>
                      </a:r>
                    </a:p>
                  </a:txBody>
                  <a:tcPr marL="100584" marR="64008" marT="27432" marB="27432" anchor="ctr">
                    <a:solidFill>
                      <a:srgbClr val="FFFFFF"/>
                    </a:solidFill>
                  </a:tcPr>
                </a:tc>
                <a:tc>
                  <a:txBody>
                    <a:bodyPr wrap="square"/>
                    <a:lstStyle/>
                    <a:p>
                      <a:pPr algn="l"/>
                      <a:r>
                        <a:rPr sz="1100">
                          <a:solidFill>
                            <a:srgbClr val="4A5A69"/>
                          </a:solidFill>
                          <a:latin typeface="Consolas"/>
                        </a:rPr>
                        <a:t>65,536</a:t>
                      </a:r>
                    </a:p>
                  </a:txBody>
                  <a:tcPr marL="100584" marR="64008" marT="27432" marB="27432" anchor="ctr">
                    <a:solidFill>
                      <a:srgbClr val="FFFFFF"/>
                    </a:solidFill>
                  </a:tcPr>
                </a:tc>
                <a:tc>
                  <a:txBody>
                    <a:bodyPr wrap="square"/>
                    <a:lstStyle/>
                    <a:p>
                      <a:pPr algn="l"/>
                      <a:r>
                        <a:rPr sz="1100">
                          <a:solidFill>
                            <a:srgbClr val="4A5A69"/>
                          </a:solidFill>
                          <a:latin typeface="Consolas"/>
                        </a:rPr>
                        <a:t>0 – 65,535</a:t>
                      </a:r>
                    </a:p>
                  </a:txBody>
                  <a:tcPr marL="100584" marR="64008" marT="27432" marB="27432" anchor="ctr">
                    <a:solidFill>
                      <a:srgbClr val="FFFFFF"/>
                    </a:solidFill>
                  </a:tcPr>
                </a:tc>
                <a:tc>
                  <a:txBody>
                    <a:bodyPr wrap="square"/>
                    <a:lstStyle/>
                    <a:p>
                      <a:pPr algn="l"/>
                      <a:r>
                        <a:rPr sz="1100">
                          <a:solidFill>
                            <a:srgbClr val="4A5A69"/>
                          </a:solidFill>
                          <a:latin typeface="Segoe UI"/>
                        </a:rPr>
                        <a:t>half-word</a:t>
                      </a:r>
                    </a:p>
                  </a:txBody>
                  <a:tcPr marL="100584" marR="64008" marT="27432" marB="27432" anchor="ctr">
                    <a:solidFill>
                      <a:srgbClr val="FFFFFF"/>
                    </a:solidFill>
                  </a:tcPr>
                </a:tc>
              </a:tr>
              <a:tr h="283464">
                <a:tc>
                  <a:txBody>
                    <a:bodyPr wrap="square"/>
                    <a:lstStyle/>
                    <a:p>
                      <a:pPr algn="l"/>
                      <a:r>
                        <a:rPr sz="1100" b="1">
                          <a:solidFill>
                            <a:srgbClr val="11212E"/>
                          </a:solidFill>
                          <a:latin typeface="Segoe UI"/>
                        </a:rPr>
                        <a:t>32</a:t>
                      </a:r>
                    </a:p>
                  </a:txBody>
                  <a:tcPr marL="100584" marR="64008" marT="27432" marB="27432" anchor="ctr">
                    <a:solidFill>
                      <a:srgbClr val="F1F6F8"/>
                    </a:solidFill>
                  </a:tcPr>
                </a:tc>
                <a:tc>
                  <a:txBody>
                    <a:bodyPr wrap="square"/>
                    <a:lstStyle/>
                    <a:p>
                      <a:pPr algn="l"/>
                      <a:r>
                        <a:rPr sz="1100">
                          <a:solidFill>
                            <a:srgbClr val="4A5A69"/>
                          </a:solidFill>
                          <a:latin typeface="Consolas"/>
                        </a:rPr>
                        <a:t>4.29 × 10⁹</a:t>
                      </a:r>
                    </a:p>
                  </a:txBody>
                  <a:tcPr marL="100584" marR="64008" marT="27432" marB="27432" anchor="ctr">
                    <a:solidFill>
                      <a:srgbClr val="F1F6F8"/>
                    </a:solidFill>
                  </a:tcPr>
                </a:tc>
                <a:tc>
                  <a:txBody>
                    <a:bodyPr wrap="square"/>
                    <a:lstStyle/>
                    <a:p>
                      <a:pPr algn="l"/>
                      <a:r>
                        <a:rPr sz="1100">
                          <a:solidFill>
                            <a:srgbClr val="4A5A69"/>
                          </a:solidFill>
                          <a:latin typeface="Consolas"/>
                        </a:rPr>
                        <a:t>0 – 2³²−1</a:t>
                      </a:r>
                    </a:p>
                  </a:txBody>
                  <a:tcPr marL="100584" marR="64008" marT="27432" marB="27432" anchor="ctr">
                    <a:solidFill>
                      <a:srgbClr val="F1F6F8"/>
                    </a:solidFill>
                  </a:tcPr>
                </a:tc>
                <a:tc>
                  <a:txBody>
                    <a:bodyPr wrap="square"/>
                    <a:lstStyle/>
                    <a:p>
                      <a:pPr algn="l"/>
                      <a:r>
                        <a:rPr sz="1100">
                          <a:solidFill>
                            <a:srgbClr val="4A5A69"/>
                          </a:solidFill>
                          <a:latin typeface="Segoe UI"/>
                        </a:rPr>
                        <a:t>word / IPv4</a:t>
                      </a:r>
                    </a:p>
                  </a:txBody>
                  <a:tcPr marL="100584" marR="64008" marT="27432" marB="27432" anchor="ctr">
                    <a:solidFill>
                      <a:srgbClr val="F1F6F8"/>
                    </a:solidFill>
                  </a:tcPr>
                </a:tc>
              </a:tr>
              <a:tr h="283464">
                <a:tc>
                  <a:txBody>
                    <a:bodyPr wrap="square"/>
                    <a:lstStyle/>
                    <a:p>
                      <a:pPr algn="l"/>
                      <a:r>
                        <a:rPr sz="1100" b="1">
                          <a:solidFill>
                            <a:srgbClr val="11212E"/>
                          </a:solidFill>
                          <a:latin typeface="Segoe UI"/>
                        </a:rPr>
                        <a:t>64</a:t>
                      </a:r>
                    </a:p>
                  </a:txBody>
                  <a:tcPr marL="100584" marR="64008" marT="27432" marB="27432" anchor="ctr">
                    <a:solidFill>
                      <a:srgbClr val="FFFFFF"/>
                    </a:solidFill>
                  </a:tcPr>
                </a:tc>
                <a:tc>
                  <a:txBody>
                    <a:bodyPr wrap="square"/>
                    <a:lstStyle/>
                    <a:p>
                      <a:pPr algn="l"/>
                      <a:r>
                        <a:rPr sz="1100">
                          <a:solidFill>
                            <a:srgbClr val="4A5A69"/>
                          </a:solidFill>
                          <a:latin typeface="Consolas"/>
                        </a:rPr>
                        <a:t>1.84 × 10¹⁹</a:t>
                      </a:r>
                    </a:p>
                  </a:txBody>
                  <a:tcPr marL="100584" marR="64008" marT="27432" marB="27432" anchor="ctr">
                    <a:solidFill>
                      <a:srgbClr val="FFFFFF"/>
                    </a:solidFill>
                  </a:tcPr>
                </a:tc>
                <a:tc>
                  <a:txBody>
                    <a:bodyPr wrap="square"/>
                    <a:lstStyle/>
                    <a:p>
                      <a:pPr algn="l"/>
                      <a:r>
                        <a:rPr sz="1100">
                          <a:solidFill>
                            <a:srgbClr val="4A5A69"/>
                          </a:solidFill>
                          <a:latin typeface="Consolas"/>
                        </a:rPr>
                        <a:t>0 – 2⁶⁴−1</a:t>
                      </a:r>
                    </a:p>
                  </a:txBody>
                  <a:tcPr marL="100584" marR="64008" marT="27432" marB="27432" anchor="ctr">
                    <a:solidFill>
                      <a:srgbClr val="FFFFFF"/>
                    </a:solidFill>
                  </a:tcPr>
                </a:tc>
                <a:tc>
                  <a:txBody>
                    <a:bodyPr wrap="square"/>
                    <a:lstStyle/>
                    <a:p>
                      <a:pPr algn="l"/>
                      <a:r>
                        <a:rPr sz="1100">
                          <a:solidFill>
                            <a:srgbClr val="4A5A69"/>
                          </a:solidFill>
                          <a:latin typeface="Segoe UI"/>
                        </a:rPr>
                        <a:t>long / address</a:t>
                      </a:r>
                    </a:p>
                  </a:txBody>
                  <a:tcPr marL="100584" marR="64008" marT="27432" marB="27432" anchor="ctr">
                    <a:solidFill>
                      <a:srgbClr val="FFFFFF"/>
                    </a:solidFill>
                  </a:tcPr>
                </a:tc>
              </a:tr>
            </a:tbl>
          </a:graphicData>
        </a:graphic>
      </p:graphicFrame>
      <p:sp>
        <p:nvSpPr>
          <p:cNvPr id="38" name="TextBox 37"/>
          <p:cNvSpPr txBox="1"/>
          <p:nvPr/>
        </p:nvSpPr>
        <p:spPr>
          <a:xfrm>
            <a:off x="6355080" y="3851783"/>
            <a:ext cx="5120640" cy="256032"/>
          </a:xfrm>
          <a:prstGeom prst="rect">
            <a:avLst/>
          </a:prstGeom>
          <a:noFill/>
        </p:spPr>
        <p:txBody>
          <a:bodyPr wrap="square" lIns="0" rIns="0" tIns="0" bIns="0" anchor="t">
            <a:spAutoFit/>
          </a:bodyPr>
          <a:lstStyle/>
          <a:p>
            <a:pPr algn="l">
              <a:spcBef>
                <a:spcPts val="0"/>
              </a:spcBef>
              <a:spcAft>
                <a:spcPts val="0"/>
              </a:spcAft>
            </a:pPr>
            <a:r>
              <a:rPr sz="1400" b="1" i="0">
                <a:solidFill>
                  <a:srgbClr val="11212E"/>
                </a:solidFill>
                <a:latin typeface="Segoe UI Semibold"/>
              </a:rPr>
              <a:t>Storage units are powers of two</a:t>
            </a:r>
          </a:p>
        </p:txBody>
      </p:sp>
      <p:sp>
        <p:nvSpPr>
          <p:cNvPr id="39" name="Rounded Rectangle 38"/>
          <p:cNvSpPr/>
          <p:nvPr/>
        </p:nvSpPr>
        <p:spPr>
          <a:xfrm>
            <a:off x="6355080" y="4199255"/>
            <a:ext cx="1197864" cy="822960"/>
          </a:xfrm>
          <a:prstGeom prst="roundRect">
            <a:avLst>
              <a:gd name="adj" fmla="val 9000"/>
            </a:avLst>
          </a:prstGeom>
          <a:solidFill>
            <a:srgbClr val="F1F6F8"/>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355080" y="4290695"/>
            <a:ext cx="1197864" cy="237744"/>
          </a:xfrm>
          <a:prstGeom prst="rect">
            <a:avLst/>
          </a:prstGeom>
          <a:noFill/>
        </p:spPr>
        <p:txBody>
          <a:bodyPr wrap="square" lIns="0" rIns="0" tIns="0" bIns="0" anchor="t">
            <a:spAutoFit/>
          </a:bodyPr>
          <a:lstStyle/>
          <a:p>
            <a:pPr algn="ctr">
              <a:spcBef>
                <a:spcPts val="0"/>
              </a:spcBef>
              <a:spcAft>
                <a:spcPts val="0"/>
              </a:spcAft>
            </a:pPr>
            <a:r>
              <a:rPr sz="1150" b="1" i="0">
                <a:solidFill>
                  <a:srgbClr val="0A5A62"/>
                </a:solidFill>
                <a:latin typeface="Segoe UI"/>
              </a:rPr>
              <a:t>1 KB</a:t>
            </a:r>
          </a:p>
        </p:txBody>
      </p:sp>
      <p:sp>
        <p:nvSpPr>
          <p:cNvPr id="41" name="TextBox 40"/>
          <p:cNvSpPr txBox="1"/>
          <p:nvPr/>
        </p:nvSpPr>
        <p:spPr>
          <a:xfrm>
            <a:off x="6355080" y="4528439"/>
            <a:ext cx="1197864" cy="219456"/>
          </a:xfrm>
          <a:prstGeom prst="rect">
            <a:avLst/>
          </a:prstGeom>
          <a:noFill/>
        </p:spPr>
        <p:txBody>
          <a:bodyPr wrap="square" lIns="0" rIns="0" tIns="0" bIns="0" anchor="t">
            <a:spAutoFit/>
          </a:bodyPr>
          <a:lstStyle/>
          <a:p>
            <a:pPr algn="ctr">
              <a:spcBef>
                <a:spcPts val="0"/>
              </a:spcBef>
              <a:spcAft>
                <a:spcPts val="0"/>
              </a:spcAft>
            </a:pPr>
            <a:r>
              <a:rPr sz="1050" b="1" i="0">
                <a:solidFill>
                  <a:srgbClr val="11212E"/>
                </a:solidFill>
                <a:latin typeface="Consolas"/>
              </a:rPr>
              <a:t>2¹⁰</a:t>
            </a:r>
          </a:p>
        </p:txBody>
      </p:sp>
      <p:sp>
        <p:nvSpPr>
          <p:cNvPr id="42" name="TextBox 41"/>
          <p:cNvSpPr txBox="1"/>
          <p:nvPr/>
        </p:nvSpPr>
        <p:spPr>
          <a:xfrm>
            <a:off x="6400800" y="4747895"/>
            <a:ext cx="1106424" cy="219456"/>
          </a:xfrm>
          <a:prstGeom prst="rect">
            <a:avLst/>
          </a:prstGeom>
          <a:noFill/>
        </p:spPr>
        <p:txBody>
          <a:bodyPr wrap="square" lIns="0" rIns="0" tIns="0" bIns="0" anchor="t">
            <a:spAutoFit/>
          </a:bodyPr>
          <a:lstStyle/>
          <a:p>
            <a:pPr algn="ctr">
              <a:spcBef>
                <a:spcPts val="0"/>
              </a:spcBef>
              <a:spcAft>
                <a:spcPts val="0"/>
              </a:spcAft>
            </a:pPr>
            <a:r>
              <a:rPr sz="800" b="0" i="0">
                <a:solidFill>
                  <a:srgbClr val="788897"/>
                </a:solidFill>
                <a:latin typeface="Segoe UI"/>
              </a:rPr>
              <a:t>1,024 B</a:t>
            </a:r>
          </a:p>
        </p:txBody>
      </p:sp>
      <p:sp>
        <p:nvSpPr>
          <p:cNvPr id="43" name="Rounded Rectangle 42"/>
          <p:cNvSpPr/>
          <p:nvPr/>
        </p:nvSpPr>
        <p:spPr>
          <a:xfrm>
            <a:off x="7662672" y="4199255"/>
            <a:ext cx="1197864" cy="822960"/>
          </a:xfrm>
          <a:prstGeom prst="roundRect">
            <a:avLst>
              <a:gd name="adj" fmla="val 9000"/>
            </a:avLst>
          </a:prstGeom>
          <a:solidFill>
            <a:srgbClr val="F1F6F8"/>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662672" y="4290695"/>
            <a:ext cx="1197864" cy="237744"/>
          </a:xfrm>
          <a:prstGeom prst="rect">
            <a:avLst/>
          </a:prstGeom>
          <a:noFill/>
        </p:spPr>
        <p:txBody>
          <a:bodyPr wrap="square" lIns="0" rIns="0" tIns="0" bIns="0" anchor="t">
            <a:spAutoFit/>
          </a:bodyPr>
          <a:lstStyle/>
          <a:p>
            <a:pPr algn="ctr">
              <a:spcBef>
                <a:spcPts val="0"/>
              </a:spcBef>
              <a:spcAft>
                <a:spcPts val="0"/>
              </a:spcAft>
            </a:pPr>
            <a:r>
              <a:rPr sz="1150" b="1" i="0">
                <a:solidFill>
                  <a:srgbClr val="0A5A62"/>
                </a:solidFill>
                <a:latin typeface="Segoe UI"/>
              </a:rPr>
              <a:t>1 MB</a:t>
            </a:r>
          </a:p>
        </p:txBody>
      </p:sp>
      <p:sp>
        <p:nvSpPr>
          <p:cNvPr id="45" name="TextBox 44"/>
          <p:cNvSpPr txBox="1"/>
          <p:nvPr/>
        </p:nvSpPr>
        <p:spPr>
          <a:xfrm>
            <a:off x="7662672" y="4528439"/>
            <a:ext cx="1197864" cy="219456"/>
          </a:xfrm>
          <a:prstGeom prst="rect">
            <a:avLst/>
          </a:prstGeom>
          <a:noFill/>
        </p:spPr>
        <p:txBody>
          <a:bodyPr wrap="square" lIns="0" rIns="0" tIns="0" bIns="0" anchor="t">
            <a:spAutoFit/>
          </a:bodyPr>
          <a:lstStyle/>
          <a:p>
            <a:pPr algn="ctr">
              <a:spcBef>
                <a:spcPts val="0"/>
              </a:spcBef>
              <a:spcAft>
                <a:spcPts val="0"/>
              </a:spcAft>
            </a:pPr>
            <a:r>
              <a:rPr sz="1050" b="1" i="0">
                <a:solidFill>
                  <a:srgbClr val="11212E"/>
                </a:solidFill>
                <a:latin typeface="Consolas"/>
              </a:rPr>
              <a:t>2²⁰</a:t>
            </a:r>
          </a:p>
        </p:txBody>
      </p:sp>
      <p:sp>
        <p:nvSpPr>
          <p:cNvPr id="46" name="TextBox 45"/>
          <p:cNvSpPr txBox="1"/>
          <p:nvPr/>
        </p:nvSpPr>
        <p:spPr>
          <a:xfrm>
            <a:off x="7708392" y="4747895"/>
            <a:ext cx="1106424" cy="219456"/>
          </a:xfrm>
          <a:prstGeom prst="rect">
            <a:avLst/>
          </a:prstGeom>
          <a:noFill/>
        </p:spPr>
        <p:txBody>
          <a:bodyPr wrap="square" lIns="0" rIns="0" tIns="0" bIns="0" anchor="t">
            <a:spAutoFit/>
          </a:bodyPr>
          <a:lstStyle/>
          <a:p>
            <a:pPr algn="ctr">
              <a:spcBef>
                <a:spcPts val="0"/>
              </a:spcBef>
              <a:spcAft>
                <a:spcPts val="0"/>
              </a:spcAft>
            </a:pPr>
            <a:r>
              <a:rPr sz="800" b="0" i="0">
                <a:solidFill>
                  <a:srgbClr val="788897"/>
                </a:solidFill>
                <a:latin typeface="Segoe UI"/>
              </a:rPr>
              <a:t>1,048,576 B</a:t>
            </a:r>
          </a:p>
        </p:txBody>
      </p:sp>
      <p:sp>
        <p:nvSpPr>
          <p:cNvPr id="47" name="Rounded Rectangle 46"/>
          <p:cNvSpPr/>
          <p:nvPr/>
        </p:nvSpPr>
        <p:spPr>
          <a:xfrm>
            <a:off x="8970264" y="4199255"/>
            <a:ext cx="1197864" cy="822960"/>
          </a:xfrm>
          <a:prstGeom prst="roundRect">
            <a:avLst>
              <a:gd name="adj" fmla="val 9000"/>
            </a:avLst>
          </a:prstGeom>
          <a:solidFill>
            <a:srgbClr val="F1F6F8"/>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970264" y="4290695"/>
            <a:ext cx="1197864" cy="237744"/>
          </a:xfrm>
          <a:prstGeom prst="rect">
            <a:avLst/>
          </a:prstGeom>
          <a:noFill/>
        </p:spPr>
        <p:txBody>
          <a:bodyPr wrap="square" lIns="0" rIns="0" tIns="0" bIns="0" anchor="t">
            <a:spAutoFit/>
          </a:bodyPr>
          <a:lstStyle/>
          <a:p>
            <a:pPr algn="ctr">
              <a:spcBef>
                <a:spcPts val="0"/>
              </a:spcBef>
              <a:spcAft>
                <a:spcPts val="0"/>
              </a:spcAft>
            </a:pPr>
            <a:r>
              <a:rPr sz="1150" b="1" i="0">
                <a:solidFill>
                  <a:srgbClr val="0A5A62"/>
                </a:solidFill>
                <a:latin typeface="Segoe UI"/>
              </a:rPr>
              <a:t>1 GB</a:t>
            </a:r>
          </a:p>
        </p:txBody>
      </p:sp>
      <p:sp>
        <p:nvSpPr>
          <p:cNvPr id="49" name="TextBox 48"/>
          <p:cNvSpPr txBox="1"/>
          <p:nvPr/>
        </p:nvSpPr>
        <p:spPr>
          <a:xfrm>
            <a:off x="8970264" y="4528439"/>
            <a:ext cx="1197864" cy="219456"/>
          </a:xfrm>
          <a:prstGeom prst="rect">
            <a:avLst/>
          </a:prstGeom>
          <a:noFill/>
        </p:spPr>
        <p:txBody>
          <a:bodyPr wrap="square" lIns="0" rIns="0" tIns="0" bIns="0" anchor="t">
            <a:spAutoFit/>
          </a:bodyPr>
          <a:lstStyle/>
          <a:p>
            <a:pPr algn="ctr">
              <a:spcBef>
                <a:spcPts val="0"/>
              </a:spcBef>
              <a:spcAft>
                <a:spcPts val="0"/>
              </a:spcAft>
            </a:pPr>
            <a:r>
              <a:rPr sz="1050" b="1" i="0">
                <a:solidFill>
                  <a:srgbClr val="11212E"/>
                </a:solidFill>
                <a:latin typeface="Consolas"/>
              </a:rPr>
              <a:t>2³⁰</a:t>
            </a:r>
          </a:p>
        </p:txBody>
      </p:sp>
      <p:sp>
        <p:nvSpPr>
          <p:cNvPr id="50" name="TextBox 49"/>
          <p:cNvSpPr txBox="1"/>
          <p:nvPr/>
        </p:nvSpPr>
        <p:spPr>
          <a:xfrm>
            <a:off x="9015984" y="4747895"/>
            <a:ext cx="1106424" cy="219456"/>
          </a:xfrm>
          <a:prstGeom prst="rect">
            <a:avLst/>
          </a:prstGeom>
          <a:noFill/>
        </p:spPr>
        <p:txBody>
          <a:bodyPr wrap="square" lIns="0" rIns="0" tIns="0" bIns="0" anchor="t">
            <a:spAutoFit/>
          </a:bodyPr>
          <a:lstStyle/>
          <a:p>
            <a:pPr algn="ctr">
              <a:spcBef>
                <a:spcPts val="0"/>
              </a:spcBef>
              <a:spcAft>
                <a:spcPts val="0"/>
              </a:spcAft>
            </a:pPr>
            <a:r>
              <a:rPr sz="800" b="0" i="0">
                <a:solidFill>
                  <a:srgbClr val="788897"/>
                </a:solidFill>
                <a:latin typeface="Segoe UI"/>
              </a:rPr>
              <a:t>1.07 × 10⁹ B</a:t>
            </a:r>
          </a:p>
        </p:txBody>
      </p:sp>
      <p:sp>
        <p:nvSpPr>
          <p:cNvPr id="51" name="Rounded Rectangle 50"/>
          <p:cNvSpPr/>
          <p:nvPr/>
        </p:nvSpPr>
        <p:spPr>
          <a:xfrm>
            <a:off x="10277856" y="4199255"/>
            <a:ext cx="1197864" cy="822960"/>
          </a:xfrm>
          <a:prstGeom prst="roundRect">
            <a:avLst>
              <a:gd name="adj" fmla="val 9000"/>
            </a:avLst>
          </a:prstGeom>
          <a:solidFill>
            <a:srgbClr val="F1F6F8"/>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10277856" y="4290695"/>
            <a:ext cx="1197864" cy="237744"/>
          </a:xfrm>
          <a:prstGeom prst="rect">
            <a:avLst/>
          </a:prstGeom>
          <a:noFill/>
        </p:spPr>
        <p:txBody>
          <a:bodyPr wrap="square" lIns="0" rIns="0" tIns="0" bIns="0" anchor="t">
            <a:spAutoFit/>
          </a:bodyPr>
          <a:lstStyle/>
          <a:p>
            <a:pPr algn="ctr">
              <a:spcBef>
                <a:spcPts val="0"/>
              </a:spcBef>
              <a:spcAft>
                <a:spcPts val="0"/>
              </a:spcAft>
            </a:pPr>
            <a:r>
              <a:rPr sz="1150" b="1" i="0">
                <a:solidFill>
                  <a:srgbClr val="0A5A62"/>
                </a:solidFill>
                <a:latin typeface="Segoe UI"/>
              </a:rPr>
              <a:t>1 TB</a:t>
            </a:r>
          </a:p>
        </p:txBody>
      </p:sp>
      <p:sp>
        <p:nvSpPr>
          <p:cNvPr id="53" name="TextBox 52"/>
          <p:cNvSpPr txBox="1"/>
          <p:nvPr/>
        </p:nvSpPr>
        <p:spPr>
          <a:xfrm>
            <a:off x="10277856" y="4528439"/>
            <a:ext cx="1197864" cy="219456"/>
          </a:xfrm>
          <a:prstGeom prst="rect">
            <a:avLst/>
          </a:prstGeom>
          <a:noFill/>
        </p:spPr>
        <p:txBody>
          <a:bodyPr wrap="square" lIns="0" rIns="0" tIns="0" bIns="0" anchor="t">
            <a:spAutoFit/>
          </a:bodyPr>
          <a:lstStyle/>
          <a:p>
            <a:pPr algn="ctr">
              <a:spcBef>
                <a:spcPts val="0"/>
              </a:spcBef>
              <a:spcAft>
                <a:spcPts val="0"/>
              </a:spcAft>
            </a:pPr>
            <a:r>
              <a:rPr sz="1050" b="1" i="0">
                <a:solidFill>
                  <a:srgbClr val="11212E"/>
                </a:solidFill>
                <a:latin typeface="Consolas"/>
              </a:rPr>
              <a:t>2⁴⁰</a:t>
            </a:r>
          </a:p>
        </p:txBody>
      </p:sp>
      <p:sp>
        <p:nvSpPr>
          <p:cNvPr id="54" name="TextBox 53"/>
          <p:cNvSpPr txBox="1"/>
          <p:nvPr/>
        </p:nvSpPr>
        <p:spPr>
          <a:xfrm>
            <a:off x="10323576" y="4747895"/>
            <a:ext cx="1106424" cy="219456"/>
          </a:xfrm>
          <a:prstGeom prst="rect">
            <a:avLst/>
          </a:prstGeom>
          <a:noFill/>
        </p:spPr>
        <p:txBody>
          <a:bodyPr wrap="square" lIns="0" rIns="0" tIns="0" bIns="0" anchor="t">
            <a:spAutoFit/>
          </a:bodyPr>
          <a:lstStyle/>
          <a:p>
            <a:pPr algn="ctr">
              <a:spcBef>
                <a:spcPts val="0"/>
              </a:spcBef>
              <a:spcAft>
                <a:spcPts val="0"/>
              </a:spcAft>
            </a:pPr>
            <a:r>
              <a:rPr sz="800" b="0" i="0">
                <a:solidFill>
                  <a:srgbClr val="788897"/>
                </a:solidFill>
                <a:latin typeface="Segoe UI"/>
              </a:rPr>
              <a:t>1.10 × 10¹² B</a:t>
            </a:r>
          </a:p>
        </p:txBody>
      </p:sp>
      <p:sp>
        <p:nvSpPr>
          <p:cNvPr id="55" name="TextBox 54"/>
          <p:cNvSpPr txBox="1"/>
          <p:nvPr/>
        </p:nvSpPr>
        <p:spPr>
          <a:xfrm>
            <a:off x="6355080" y="5131943"/>
            <a:ext cx="5120640" cy="402336"/>
          </a:xfrm>
          <a:prstGeom prst="rect">
            <a:avLst/>
          </a:prstGeom>
          <a:noFill/>
        </p:spPr>
        <p:txBody>
          <a:bodyPr wrap="square" lIns="0" rIns="0" tIns="0" bIns="0" anchor="t">
            <a:spAutoFit/>
          </a:bodyPr>
          <a:lstStyle/>
          <a:p>
            <a:pPr algn="l">
              <a:lnSpc>
                <a:spcPct val="112000"/>
              </a:lnSpc>
              <a:spcBef>
                <a:spcPts val="0"/>
              </a:spcBef>
              <a:spcAft>
                <a:spcPts val="0"/>
              </a:spcAft>
            </a:pPr>
            <a:r>
              <a:rPr sz="1050" b="1" i="0">
                <a:solidFill>
                  <a:srgbClr val="0A5A62"/>
                </a:solidFill>
                <a:latin typeface="Segoe UI"/>
              </a:rPr>
              <a:t>Why 1024 and not 1000?  </a:t>
            </a:r>
            <a:r>
              <a:rPr sz="1050" b="0" i="0">
                <a:solidFill>
                  <a:srgbClr val="4A5A69"/>
                </a:solidFill>
                <a:latin typeface="Segoe UI"/>
              </a:rPr>
              <a:t>k address bits select 2ᵏ locations, so capacity lands on powers of two.</a:t>
            </a:r>
          </a:p>
        </p:txBody>
      </p:sp>
      <p:sp>
        <p:nvSpPr>
          <p:cNvPr id="56" name="Rectangle 55"/>
          <p:cNvSpPr/>
          <p:nvPr/>
        </p:nvSpPr>
        <p:spPr>
          <a:xfrm>
            <a:off x="685800" y="5632704"/>
            <a:ext cx="10835640" cy="475488"/>
          </a:xfrm>
          <a:prstGeom prst="rect">
            <a:avLst/>
          </a:prstGeom>
          <a:solidFill>
            <a:srgbClr val="E8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685800" y="5632704"/>
            <a:ext cx="50292" cy="47548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886968" y="5715000"/>
            <a:ext cx="10451592" cy="310896"/>
          </a:xfrm>
          <a:prstGeom prst="rect">
            <a:avLst/>
          </a:prstGeom>
          <a:noFill/>
        </p:spPr>
        <p:txBody>
          <a:bodyPr wrap="square" lIns="0" rIns="0" tIns="0" bIns="0" anchor="t">
            <a:spAutoFit/>
          </a:bodyPr>
          <a:lstStyle/>
          <a:p>
            <a:pPr algn="l">
              <a:lnSpc>
                <a:spcPct val="106000"/>
              </a:lnSpc>
              <a:spcBef>
                <a:spcPts val="0"/>
              </a:spcBef>
              <a:spcAft>
                <a:spcPts val="0"/>
              </a:spcAft>
            </a:pPr>
            <a:r>
              <a:rPr sz="1050" b="1" i="0">
                <a:solidFill>
                  <a:srgbClr val="0A5A62"/>
                </a:solidFill>
                <a:latin typeface="Segoe UI"/>
              </a:rPr>
              <a:t>SAY THIS:  </a:t>
            </a:r>
            <a:r>
              <a:rPr sz="1250" b="0" i="0">
                <a:solidFill>
                  <a:srgbClr val="11212E"/>
                </a:solidFill>
                <a:latin typeface="Segoe UI"/>
              </a:rPr>
              <a:t>A bit is just ON or OFF. Each extra bit doubles the values you can store.</a:t>
            </a:r>
          </a:p>
        </p:txBody>
      </p:sp>
      <p:sp>
        <p:nvSpPr>
          <p:cNvPr id="59" name="Rectangle 58"/>
          <p:cNvSpPr/>
          <p:nvPr/>
        </p:nvSpPr>
        <p:spPr>
          <a:xfrm>
            <a:off x="685800" y="6327648"/>
            <a:ext cx="10820095" cy="10972"/>
          </a:xfrm>
          <a:prstGeom prst="rect">
            <a:avLst/>
          </a:prstGeom>
          <a:solidFill>
            <a:srgbClr val="D3DF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685800" y="6419088"/>
            <a:ext cx="6400800" cy="219456"/>
          </a:xfrm>
          <a:prstGeom prst="rect">
            <a:avLst/>
          </a:prstGeom>
          <a:noFill/>
        </p:spPr>
        <p:txBody>
          <a:bodyPr wrap="square" lIns="0" rIns="0" tIns="0" bIns="0" anchor="t">
            <a:spAutoFit/>
          </a:bodyPr>
          <a:lstStyle/>
          <a:p>
            <a:pPr algn="l">
              <a:spcBef>
                <a:spcPts val="0"/>
              </a:spcBef>
              <a:spcAft>
                <a:spcPts val="0"/>
              </a:spcAft>
            </a:pPr>
            <a:r>
              <a:rPr sz="950" b="0" i="0">
                <a:solidFill>
                  <a:srgbClr val="788897"/>
                </a:solidFill>
                <a:latin typeface="Segoe UI"/>
              </a:rPr>
              <a:t>Binary Storage and Registers</a:t>
            </a:r>
          </a:p>
        </p:txBody>
      </p:sp>
      <p:sp>
        <p:nvSpPr>
          <p:cNvPr id="61" name="TextBox 60"/>
          <p:cNvSpPr txBox="1"/>
          <p:nvPr/>
        </p:nvSpPr>
        <p:spPr>
          <a:xfrm>
            <a:off x="10865815" y="6419088"/>
            <a:ext cx="640080" cy="219456"/>
          </a:xfrm>
          <a:prstGeom prst="rect">
            <a:avLst/>
          </a:prstGeom>
          <a:noFill/>
        </p:spPr>
        <p:txBody>
          <a:bodyPr wrap="square" lIns="0" rIns="0" tIns="0" bIns="0" anchor="t">
            <a:spAutoFit/>
          </a:bodyPr>
          <a:lstStyle/>
          <a:p>
            <a:pPr algn="r">
              <a:spcBef>
                <a:spcPts val="0"/>
              </a:spcBef>
              <a:spcAft>
                <a:spcPts val="0"/>
              </a:spcAft>
            </a:pPr>
            <a:r>
              <a:rPr sz="950" b="1" i="0">
                <a:solidFill>
                  <a:srgbClr val="788897"/>
                </a:solidFill>
                <a:latin typeface="Segoe U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5800" y="384048"/>
            <a:ext cx="8229600" cy="237744"/>
          </a:xfrm>
          <a:prstGeom prst="rect">
            <a:avLst/>
          </a:prstGeom>
          <a:noFill/>
        </p:spPr>
        <p:txBody>
          <a:bodyPr wrap="square" lIns="0" rIns="0" tIns="0" bIns="0" anchor="t">
            <a:spAutoFit/>
          </a:bodyPr>
          <a:lstStyle/>
          <a:p>
            <a:pPr algn="l">
              <a:spcBef>
                <a:spcPts val="0"/>
              </a:spcBef>
              <a:spcAft>
                <a:spcPts val="0"/>
              </a:spcAft>
            </a:pPr>
            <a:r>
              <a:rPr sz="1100" b="1" i="0">
                <a:solidFill>
                  <a:srgbClr val="0E7C86"/>
                </a:solidFill>
                <a:latin typeface="Segoe UI Semibold"/>
              </a:rPr>
              <a:t>02 · STORAGE ELEMENTS</a:t>
            </a:r>
          </a:p>
        </p:txBody>
      </p:sp>
      <p:sp>
        <p:nvSpPr>
          <p:cNvPr id="4" name="TextBox 3"/>
          <p:cNvSpPr txBox="1"/>
          <p:nvPr/>
        </p:nvSpPr>
        <p:spPr>
          <a:xfrm>
            <a:off x="685800" y="640080"/>
            <a:ext cx="10424160" cy="603504"/>
          </a:xfrm>
          <a:prstGeom prst="rect">
            <a:avLst/>
          </a:prstGeom>
          <a:noFill/>
        </p:spPr>
        <p:txBody>
          <a:bodyPr wrap="square" lIns="0" rIns="0" tIns="0" bIns="0" anchor="t">
            <a:spAutoFit/>
          </a:bodyPr>
          <a:lstStyle/>
          <a:p>
            <a:pPr algn="l">
              <a:spcBef>
                <a:spcPts val="0"/>
              </a:spcBef>
              <a:spcAft>
                <a:spcPts val="0"/>
              </a:spcAft>
            </a:pPr>
            <a:r>
              <a:rPr sz="3100" b="1" i="0">
                <a:solidFill>
                  <a:srgbClr val="11212E"/>
                </a:solidFill>
                <a:latin typeface="Segoe UI Semibold"/>
              </a:rPr>
              <a:t>A bit needs a circuit that can hold a state</a:t>
            </a:r>
          </a:p>
        </p:txBody>
      </p:sp>
      <p:sp>
        <p:nvSpPr>
          <p:cNvPr id="5" name="TextBox 4"/>
          <p:cNvSpPr txBox="1"/>
          <p:nvPr/>
        </p:nvSpPr>
        <p:spPr>
          <a:xfrm>
            <a:off x="685800" y="1200023"/>
            <a:ext cx="10424160" cy="310896"/>
          </a:xfrm>
          <a:prstGeom prst="rect">
            <a:avLst/>
          </a:prstGeom>
          <a:noFill/>
        </p:spPr>
        <p:txBody>
          <a:bodyPr wrap="square" lIns="0" rIns="0" tIns="0" bIns="0" anchor="t">
            <a:spAutoFit/>
          </a:bodyPr>
          <a:lstStyle/>
          <a:p>
            <a:pPr algn="l">
              <a:spcBef>
                <a:spcPts val="0"/>
              </a:spcBef>
              <a:spcAft>
                <a:spcPts val="0"/>
              </a:spcAft>
            </a:pPr>
            <a:r>
              <a:rPr sz="1400" b="0" i="0">
                <a:solidFill>
                  <a:srgbClr val="4A5A69"/>
                </a:solidFill>
                <a:latin typeface="Segoe UI"/>
              </a:rPr>
              <a:t>Any stable two-state circuit is a bit cell. Three you should know:</a:t>
            </a:r>
          </a:p>
        </p:txBody>
      </p:sp>
      <p:sp>
        <p:nvSpPr>
          <p:cNvPr id="6" name="Rounded Rectangle 5"/>
          <p:cNvSpPr/>
          <p:nvPr/>
        </p:nvSpPr>
        <p:spPr>
          <a:xfrm>
            <a:off x="685800" y="1748663"/>
            <a:ext cx="3520440" cy="2688336"/>
          </a:xfrm>
          <a:prstGeom prst="roundRect">
            <a:avLst>
              <a:gd name="adj" fmla="val 5000"/>
            </a:avLst>
          </a:prstGeom>
          <a:solidFill>
            <a:srgbClr val="F1F6F8"/>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923544" y="1949831"/>
            <a:ext cx="1367028" cy="292608"/>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23544" y="2018411"/>
            <a:ext cx="1367028" cy="201168"/>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Segoe UI Semibold"/>
              </a:rPr>
              <a:t>A. SR LATCH</a:t>
            </a:r>
          </a:p>
        </p:txBody>
      </p:sp>
      <p:sp>
        <p:nvSpPr>
          <p:cNvPr id="9" name="TextBox 8"/>
          <p:cNvSpPr txBox="1"/>
          <p:nvPr/>
        </p:nvSpPr>
        <p:spPr>
          <a:xfrm>
            <a:off x="923544" y="2333879"/>
            <a:ext cx="3035808" cy="475488"/>
          </a:xfrm>
          <a:prstGeom prst="rect">
            <a:avLst/>
          </a:prstGeom>
          <a:noFill/>
        </p:spPr>
        <p:txBody>
          <a:bodyPr wrap="square" lIns="0" rIns="0" tIns="0" bIns="0" anchor="t">
            <a:spAutoFit/>
          </a:bodyPr>
          <a:lstStyle/>
          <a:p>
            <a:pPr algn="l">
              <a:lnSpc>
                <a:spcPct val="110000"/>
              </a:lnSpc>
              <a:spcBef>
                <a:spcPts val="0"/>
              </a:spcBef>
              <a:spcAft>
                <a:spcPts val="0"/>
              </a:spcAft>
            </a:pPr>
            <a:r>
              <a:rPr sz="1100" b="0" i="0">
                <a:solidFill>
                  <a:srgbClr val="4A5A69"/>
                </a:solidFill>
                <a:latin typeface="Segoe UI"/>
              </a:rPr>
              <a:t>Two cross-coupled NOR gates. The feedback loop keeps the value alive while power is on.</a:t>
            </a:r>
          </a:p>
        </p:txBody>
      </p:sp>
      <p:sp>
        <p:nvSpPr>
          <p:cNvPr id="10" name="Rectangle 9"/>
          <p:cNvSpPr/>
          <p:nvPr/>
        </p:nvSpPr>
        <p:spPr>
          <a:xfrm>
            <a:off x="1234440" y="2973959"/>
            <a:ext cx="1115568" cy="493776"/>
          </a:xfrm>
          <a:prstGeom prst="rect">
            <a:avLst/>
          </a:prstGeom>
          <a:solidFill>
            <a:srgbClr val="FFFFFF"/>
          </a:solidFill>
          <a:ln w="15875">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234440" y="3248279"/>
            <a:ext cx="1115568" cy="256032"/>
          </a:xfrm>
          <a:prstGeom prst="rect">
            <a:avLst/>
          </a:prstGeom>
          <a:noFill/>
        </p:spPr>
        <p:txBody>
          <a:bodyPr wrap="square" lIns="0" rIns="0" tIns="0" bIns="0" anchor="t">
            <a:spAutoFit/>
          </a:bodyPr>
          <a:lstStyle/>
          <a:p>
            <a:pPr algn="ctr">
              <a:spcBef>
                <a:spcPts val="0"/>
              </a:spcBef>
              <a:spcAft>
                <a:spcPts val="0"/>
              </a:spcAft>
            </a:pPr>
            <a:r>
              <a:rPr sz="1050" b="1" i="0">
                <a:solidFill>
                  <a:srgbClr val="0A5A62"/>
                </a:solidFill>
                <a:latin typeface="Consolas"/>
              </a:rPr>
              <a:t>NOR</a:t>
            </a:r>
          </a:p>
        </p:txBody>
      </p:sp>
      <p:sp>
        <p:nvSpPr>
          <p:cNvPr id="12" name="Rectangle 11"/>
          <p:cNvSpPr/>
          <p:nvPr/>
        </p:nvSpPr>
        <p:spPr>
          <a:xfrm>
            <a:off x="2468880" y="3833495"/>
            <a:ext cx="1115568" cy="493776"/>
          </a:xfrm>
          <a:prstGeom prst="rect">
            <a:avLst/>
          </a:prstGeom>
          <a:solidFill>
            <a:srgbClr val="FFFFFF"/>
          </a:solidFill>
          <a:ln w="15875">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468880" y="3943222"/>
            <a:ext cx="1115568" cy="256032"/>
          </a:xfrm>
          <a:prstGeom prst="rect">
            <a:avLst/>
          </a:prstGeom>
          <a:noFill/>
        </p:spPr>
        <p:txBody>
          <a:bodyPr wrap="square" lIns="0" rIns="0" tIns="0" bIns="0" anchor="t">
            <a:spAutoFit/>
          </a:bodyPr>
          <a:lstStyle/>
          <a:p>
            <a:pPr algn="ctr">
              <a:spcBef>
                <a:spcPts val="0"/>
              </a:spcBef>
              <a:spcAft>
                <a:spcPts val="0"/>
              </a:spcAft>
            </a:pPr>
            <a:r>
              <a:rPr sz="1050" b="1" i="0">
                <a:solidFill>
                  <a:srgbClr val="0A5A62"/>
                </a:solidFill>
                <a:latin typeface="Consolas"/>
              </a:rPr>
              <a:t>NOR</a:t>
            </a:r>
          </a:p>
        </p:txBody>
      </p:sp>
      <p:cxnSp>
        <p:nvCxnSpPr>
          <p:cNvPr id="14" name="Connector 13"/>
          <p:cNvCxnSpPr/>
          <p:nvPr/>
        </p:nvCxnSpPr>
        <p:spPr>
          <a:xfrm>
            <a:off x="813816" y="3101975"/>
            <a:ext cx="402336" cy="0"/>
          </a:xfrm>
          <a:prstGeom prst="line">
            <a:avLst/>
          </a:prstGeom>
          <a:ln w="15240">
            <a:solidFill>
              <a:srgbClr val="4A5A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882519"/>
            <a:ext cx="237744" cy="201168"/>
          </a:xfrm>
          <a:prstGeom prst="rect">
            <a:avLst/>
          </a:prstGeom>
          <a:noFill/>
        </p:spPr>
        <p:txBody>
          <a:bodyPr wrap="square" lIns="0" rIns="0" tIns="0" bIns="0" anchor="t">
            <a:spAutoFit/>
          </a:bodyPr>
          <a:lstStyle/>
          <a:p>
            <a:pPr algn="l">
              <a:spcBef>
                <a:spcPts val="0"/>
              </a:spcBef>
              <a:spcAft>
                <a:spcPts val="0"/>
              </a:spcAft>
            </a:pPr>
            <a:r>
              <a:rPr sz="1000" b="1" i="0">
                <a:solidFill>
                  <a:srgbClr val="11212E"/>
                </a:solidFill>
                <a:latin typeface="Consolas"/>
              </a:rPr>
              <a:t>R</a:t>
            </a:r>
          </a:p>
        </p:txBody>
      </p:sp>
      <p:cxnSp>
        <p:nvCxnSpPr>
          <p:cNvPr id="16" name="Connector 15"/>
          <p:cNvCxnSpPr/>
          <p:nvPr/>
        </p:nvCxnSpPr>
        <p:spPr>
          <a:xfrm flipH="1">
            <a:off x="3611880" y="4180967"/>
            <a:ext cx="292607" cy="0"/>
          </a:xfrm>
          <a:prstGeom prst="line">
            <a:avLst/>
          </a:prstGeom>
          <a:ln w="15240">
            <a:solidFill>
              <a:srgbClr val="4A5A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959352" y="4052951"/>
            <a:ext cx="219456" cy="201168"/>
          </a:xfrm>
          <a:prstGeom prst="rect">
            <a:avLst/>
          </a:prstGeom>
          <a:noFill/>
        </p:spPr>
        <p:txBody>
          <a:bodyPr wrap="square" lIns="0" rIns="0" tIns="0" bIns="0" anchor="t">
            <a:spAutoFit/>
          </a:bodyPr>
          <a:lstStyle/>
          <a:p>
            <a:pPr algn="l">
              <a:spcBef>
                <a:spcPts val="0"/>
              </a:spcBef>
              <a:spcAft>
                <a:spcPts val="0"/>
              </a:spcAft>
            </a:pPr>
            <a:r>
              <a:rPr sz="1000" b="1" i="0">
                <a:solidFill>
                  <a:srgbClr val="11212E"/>
                </a:solidFill>
                <a:latin typeface="Consolas"/>
              </a:rPr>
              <a:t>S</a:t>
            </a:r>
          </a:p>
        </p:txBody>
      </p:sp>
      <p:cxnSp>
        <p:nvCxnSpPr>
          <p:cNvPr id="18" name="Connector 17"/>
          <p:cNvCxnSpPr/>
          <p:nvPr/>
        </p:nvCxnSpPr>
        <p:spPr>
          <a:xfrm>
            <a:off x="2350008" y="3101975"/>
            <a:ext cx="36576" cy="0"/>
          </a:xfrm>
          <a:prstGeom prst="line">
            <a:avLst/>
          </a:prstGeom>
          <a:ln w="15875">
            <a:solidFill>
              <a:srgbClr val="0A5A6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386584" y="3101975"/>
            <a:ext cx="0" cy="859536"/>
          </a:xfrm>
          <a:prstGeom prst="line">
            <a:avLst/>
          </a:prstGeom>
          <a:ln w="15875">
            <a:solidFill>
              <a:srgbClr val="0A5A62"/>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2345436" y="3060827"/>
            <a:ext cx="82296" cy="82296"/>
          </a:xfrm>
          <a:prstGeom prst="ellipse">
            <a:avLst/>
          </a:prstGeom>
          <a:solidFill>
            <a:srgbClr val="0A5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23160" y="2864231"/>
            <a:ext cx="365760" cy="201168"/>
          </a:xfrm>
          <a:prstGeom prst="rect">
            <a:avLst/>
          </a:prstGeom>
          <a:noFill/>
        </p:spPr>
        <p:txBody>
          <a:bodyPr wrap="square" lIns="0" rIns="0" tIns="0" bIns="0" anchor="t">
            <a:spAutoFit/>
          </a:bodyPr>
          <a:lstStyle/>
          <a:p>
            <a:pPr algn="l">
              <a:spcBef>
                <a:spcPts val="0"/>
              </a:spcBef>
              <a:spcAft>
                <a:spcPts val="0"/>
              </a:spcAft>
            </a:pPr>
            <a:r>
              <a:rPr sz="1000" b="1" i="0">
                <a:solidFill>
                  <a:srgbClr val="0A5A62"/>
                </a:solidFill>
                <a:latin typeface="Consolas"/>
              </a:rPr>
              <a:t>Q</a:t>
            </a:r>
          </a:p>
        </p:txBody>
      </p:sp>
      <p:cxnSp>
        <p:nvCxnSpPr>
          <p:cNvPr id="22" name="Connector 21"/>
          <p:cNvCxnSpPr/>
          <p:nvPr/>
        </p:nvCxnSpPr>
        <p:spPr>
          <a:xfrm flipH="1">
            <a:off x="996696" y="4180967"/>
            <a:ext cx="1472184" cy="0"/>
          </a:xfrm>
          <a:prstGeom prst="line">
            <a:avLst/>
          </a:prstGeom>
          <a:ln w="15240">
            <a:solidFill>
              <a:srgbClr val="0A5A6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996696" y="3303143"/>
            <a:ext cx="0" cy="877824"/>
          </a:xfrm>
          <a:prstGeom prst="line">
            <a:avLst/>
          </a:prstGeom>
          <a:ln w="15240">
            <a:solidFill>
              <a:srgbClr val="0A5A62"/>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96696" y="3303143"/>
            <a:ext cx="219456" cy="0"/>
          </a:xfrm>
          <a:prstGeom prst="line">
            <a:avLst/>
          </a:prstGeom>
          <a:ln w="1524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51560" y="3888359"/>
            <a:ext cx="457200" cy="201168"/>
          </a:xfrm>
          <a:prstGeom prst="rect">
            <a:avLst/>
          </a:prstGeom>
          <a:noFill/>
        </p:spPr>
        <p:txBody>
          <a:bodyPr wrap="square" lIns="0" rIns="0" tIns="0" bIns="0" anchor="t">
            <a:spAutoFit/>
          </a:bodyPr>
          <a:lstStyle/>
          <a:p>
            <a:pPr algn="l">
              <a:spcBef>
                <a:spcPts val="0"/>
              </a:spcBef>
              <a:spcAft>
                <a:spcPts val="0"/>
              </a:spcAft>
            </a:pPr>
            <a:r>
              <a:rPr sz="1000" b="1" i="0">
                <a:solidFill>
                  <a:srgbClr val="788897"/>
                </a:solidFill>
                <a:latin typeface="Consolas"/>
              </a:rPr>
              <a:t>Q̅</a:t>
            </a:r>
          </a:p>
        </p:txBody>
      </p:sp>
      <p:sp>
        <p:nvSpPr>
          <p:cNvPr id="26" name="Rounded Rectangle 25"/>
          <p:cNvSpPr/>
          <p:nvPr/>
        </p:nvSpPr>
        <p:spPr>
          <a:xfrm>
            <a:off x="4480559" y="1748663"/>
            <a:ext cx="3520440" cy="2688336"/>
          </a:xfrm>
          <a:prstGeom prst="roundRect">
            <a:avLst>
              <a:gd name="adj" fmla="val 5000"/>
            </a:avLst>
          </a:prstGeom>
          <a:solidFill>
            <a:srgbClr val="F1F6F8"/>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4718303" y="1949831"/>
            <a:ext cx="1655064" cy="292608"/>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718303" y="2018411"/>
            <a:ext cx="1655064" cy="201168"/>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Segoe UI Semibold"/>
              </a:rPr>
              <a:t>B. D FLIP-FLOP</a:t>
            </a:r>
          </a:p>
        </p:txBody>
      </p:sp>
      <p:sp>
        <p:nvSpPr>
          <p:cNvPr id="29" name="TextBox 28"/>
          <p:cNvSpPr txBox="1"/>
          <p:nvPr/>
        </p:nvSpPr>
        <p:spPr>
          <a:xfrm>
            <a:off x="4718303" y="2333879"/>
            <a:ext cx="3035808" cy="475488"/>
          </a:xfrm>
          <a:prstGeom prst="rect">
            <a:avLst/>
          </a:prstGeom>
          <a:noFill/>
        </p:spPr>
        <p:txBody>
          <a:bodyPr wrap="square" lIns="0" rIns="0" tIns="0" bIns="0" anchor="t">
            <a:spAutoFit/>
          </a:bodyPr>
          <a:lstStyle/>
          <a:p>
            <a:pPr algn="l">
              <a:lnSpc>
                <a:spcPct val="110000"/>
              </a:lnSpc>
              <a:spcBef>
                <a:spcPts val="0"/>
              </a:spcBef>
              <a:spcAft>
                <a:spcPts val="0"/>
              </a:spcAft>
            </a:pPr>
            <a:r>
              <a:rPr sz="1100" b="0" i="0">
                <a:solidFill>
                  <a:srgbClr val="4A5A69"/>
                </a:solidFill>
                <a:latin typeface="Segoe UI"/>
              </a:rPr>
              <a:t>The standard 1-bit cell. Samples D only at a clock edge, so timing is predictable.</a:t>
            </a:r>
          </a:p>
        </p:txBody>
      </p:sp>
      <p:sp>
        <p:nvSpPr>
          <p:cNvPr id="30" name="Rectangle 29"/>
          <p:cNvSpPr/>
          <p:nvPr/>
        </p:nvSpPr>
        <p:spPr>
          <a:xfrm>
            <a:off x="5440679" y="2937383"/>
            <a:ext cx="1481328" cy="1115568"/>
          </a:xfrm>
          <a:prstGeom prst="rect">
            <a:avLst/>
          </a:prstGeom>
          <a:solidFill>
            <a:srgbClr val="FFFFFF"/>
          </a:solidFill>
          <a:ln w="1905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440679" y="3321431"/>
            <a:ext cx="1481328" cy="274320"/>
          </a:xfrm>
          <a:prstGeom prst="rect">
            <a:avLst/>
          </a:prstGeom>
          <a:noFill/>
        </p:spPr>
        <p:txBody>
          <a:bodyPr wrap="square" lIns="0" rIns="0" tIns="0" bIns="0" anchor="t">
            <a:spAutoFit/>
          </a:bodyPr>
          <a:lstStyle/>
          <a:p>
            <a:pPr algn="ctr">
              <a:spcBef>
                <a:spcPts val="0"/>
              </a:spcBef>
              <a:spcAft>
                <a:spcPts val="0"/>
              </a:spcAft>
            </a:pPr>
            <a:r>
              <a:rPr sz="1250" b="1" i="0">
                <a:solidFill>
                  <a:srgbClr val="0A5A62"/>
                </a:solidFill>
                <a:latin typeface="Consolas"/>
              </a:rPr>
              <a:t>D  FF</a:t>
            </a:r>
          </a:p>
        </p:txBody>
      </p:sp>
      <p:cxnSp>
        <p:nvCxnSpPr>
          <p:cNvPr id="32" name="Connector 31"/>
          <p:cNvCxnSpPr/>
          <p:nvPr/>
        </p:nvCxnSpPr>
        <p:spPr>
          <a:xfrm>
            <a:off x="4864607" y="3138551"/>
            <a:ext cx="576072" cy="0"/>
          </a:xfrm>
          <a:prstGeom prst="line">
            <a:avLst/>
          </a:prstGeom>
          <a:ln w="15875">
            <a:solidFill>
              <a:srgbClr val="0A5A6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90288" y="2937383"/>
            <a:ext cx="292608" cy="201168"/>
          </a:xfrm>
          <a:prstGeom prst="rect">
            <a:avLst/>
          </a:prstGeom>
          <a:noFill/>
        </p:spPr>
        <p:txBody>
          <a:bodyPr wrap="square" lIns="0" rIns="0" tIns="0" bIns="0" anchor="t">
            <a:spAutoFit/>
          </a:bodyPr>
          <a:lstStyle/>
          <a:p>
            <a:pPr algn="l">
              <a:spcBef>
                <a:spcPts val="0"/>
              </a:spcBef>
              <a:spcAft>
                <a:spcPts val="0"/>
              </a:spcAft>
            </a:pPr>
            <a:r>
              <a:rPr sz="1000" b="1" i="0">
                <a:solidFill>
                  <a:srgbClr val="11212E"/>
                </a:solidFill>
                <a:latin typeface="Consolas"/>
              </a:rPr>
              <a:t>D</a:t>
            </a:r>
          </a:p>
        </p:txBody>
      </p:sp>
      <p:cxnSp>
        <p:nvCxnSpPr>
          <p:cNvPr id="34" name="Connector 33"/>
          <p:cNvCxnSpPr/>
          <p:nvPr/>
        </p:nvCxnSpPr>
        <p:spPr>
          <a:xfrm>
            <a:off x="4864607" y="3760343"/>
            <a:ext cx="576072" cy="0"/>
          </a:xfrm>
          <a:prstGeom prst="line">
            <a:avLst/>
          </a:prstGeom>
          <a:ln w="15875">
            <a:solidFill>
              <a:srgbClr val="0A5A62"/>
            </a:solidFill>
          </a:ln>
        </p:spPr>
        <p:style>
          <a:lnRef idx="2">
            <a:schemeClr val="accent1"/>
          </a:lnRef>
          <a:fillRef idx="0">
            <a:schemeClr val="accent1"/>
          </a:fillRef>
          <a:effectRef idx="1">
            <a:schemeClr val="accent1"/>
          </a:effectRef>
          <a:fontRef idx="minor">
            <a:schemeClr val="tx1"/>
          </a:fontRef>
        </p:style>
      </p:cxnSp>
      <p:sp>
        <p:nvSpPr>
          <p:cNvPr id="35" name="Isosceles Triangle 34"/>
          <p:cNvSpPr/>
          <p:nvPr/>
        </p:nvSpPr>
        <p:spPr>
          <a:xfrm rot="16200000">
            <a:off x="5404103" y="3696335"/>
            <a:ext cx="128016" cy="128016"/>
          </a:xfrm>
          <a:prstGeom prst="triangle">
            <a:avLst/>
          </a:prstGeom>
          <a:solidFill>
            <a:srgbClr val="0A5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98847" y="3650615"/>
            <a:ext cx="365760" cy="201168"/>
          </a:xfrm>
          <a:prstGeom prst="rect">
            <a:avLst/>
          </a:prstGeom>
          <a:noFill/>
        </p:spPr>
        <p:txBody>
          <a:bodyPr wrap="square" lIns="0" rIns="0" tIns="0" bIns="0" anchor="t">
            <a:spAutoFit/>
          </a:bodyPr>
          <a:lstStyle/>
          <a:p>
            <a:pPr algn="l">
              <a:spcBef>
                <a:spcPts val="0"/>
              </a:spcBef>
              <a:spcAft>
                <a:spcPts val="0"/>
              </a:spcAft>
            </a:pPr>
            <a:r>
              <a:rPr sz="950" b="1" i="0">
                <a:solidFill>
                  <a:srgbClr val="11212E"/>
                </a:solidFill>
                <a:latin typeface="Consolas"/>
              </a:rPr>
              <a:t>CLK</a:t>
            </a:r>
          </a:p>
        </p:txBody>
      </p:sp>
      <p:cxnSp>
        <p:nvCxnSpPr>
          <p:cNvPr id="37" name="Connector 36"/>
          <p:cNvCxnSpPr/>
          <p:nvPr/>
        </p:nvCxnSpPr>
        <p:spPr>
          <a:xfrm>
            <a:off x="6922007" y="3138551"/>
            <a:ext cx="484633" cy="0"/>
          </a:xfrm>
          <a:prstGeom prst="line">
            <a:avLst/>
          </a:prstGeom>
          <a:ln w="15875">
            <a:solidFill>
              <a:srgbClr val="0A5A62"/>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70063" y="2937383"/>
            <a:ext cx="365760" cy="201168"/>
          </a:xfrm>
          <a:prstGeom prst="rect">
            <a:avLst/>
          </a:prstGeom>
          <a:noFill/>
        </p:spPr>
        <p:txBody>
          <a:bodyPr wrap="square" lIns="0" rIns="0" tIns="0" bIns="0" anchor="t">
            <a:spAutoFit/>
          </a:bodyPr>
          <a:lstStyle/>
          <a:p>
            <a:pPr algn="l">
              <a:spcBef>
                <a:spcPts val="0"/>
              </a:spcBef>
              <a:spcAft>
                <a:spcPts val="0"/>
              </a:spcAft>
            </a:pPr>
            <a:r>
              <a:rPr sz="1000" b="1" i="0">
                <a:solidFill>
                  <a:srgbClr val="0A5A62"/>
                </a:solidFill>
                <a:latin typeface="Consolas"/>
              </a:rPr>
              <a:t>Q</a:t>
            </a:r>
          </a:p>
        </p:txBody>
      </p:sp>
      <p:cxnSp>
        <p:nvCxnSpPr>
          <p:cNvPr id="39" name="Connector 38"/>
          <p:cNvCxnSpPr/>
          <p:nvPr/>
        </p:nvCxnSpPr>
        <p:spPr>
          <a:xfrm>
            <a:off x="6922007" y="3760343"/>
            <a:ext cx="374905" cy="0"/>
          </a:xfrm>
          <a:prstGeom prst="line">
            <a:avLst/>
          </a:prstGeom>
          <a:ln w="15875">
            <a:solidFill>
              <a:srgbClr val="0A5A62"/>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260336" y="3815207"/>
            <a:ext cx="457200" cy="201168"/>
          </a:xfrm>
          <a:prstGeom prst="rect">
            <a:avLst/>
          </a:prstGeom>
          <a:noFill/>
        </p:spPr>
        <p:txBody>
          <a:bodyPr wrap="square" lIns="0" rIns="0" tIns="0" bIns="0" anchor="t">
            <a:spAutoFit/>
          </a:bodyPr>
          <a:lstStyle/>
          <a:p>
            <a:pPr algn="l">
              <a:spcBef>
                <a:spcPts val="0"/>
              </a:spcBef>
              <a:spcAft>
                <a:spcPts val="0"/>
              </a:spcAft>
            </a:pPr>
            <a:r>
              <a:rPr sz="1000" b="1" i="0">
                <a:solidFill>
                  <a:srgbClr val="788897"/>
                </a:solidFill>
                <a:latin typeface="Consolas"/>
              </a:rPr>
              <a:t>Q̅</a:t>
            </a:r>
          </a:p>
        </p:txBody>
      </p:sp>
      <p:sp>
        <p:nvSpPr>
          <p:cNvPr id="41" name="TextBox 40"/>
          <p:cNvSpPr txBox="1"/>
          <p:nvPr/>
        </p:nvSpPr>
        <p:spPr>
          <a:xfrm>
            <a:off x="4718303" y="4144391"/>
            <a:ext cx="3035808" cy="219456"/>
          </a:xfrm>
          <a:prstGeom prst="rect">
            <a:avLst/>
          </a:prstGeom>
          <a:noFill/>
        </p:spPr>
        <p:txBody>
          <a:bodyPr wrap="square" lIns="0" rIns="0" tIns="0" bIns="0" anchor="t">
            <a:spAutoFit/>
          </a:bodyPr>
          <a:lstStyle/>
          <a:p>
            <a:pPr algn="l">
              <a:spcBef>
                <a:spcPts val="0"/>
              </a:spcBef>
              <a:spcAft>
                <a:spcPts val="0"/>
              </a:spcAft>
            </a:pPr>
            <a:r>
              <a:rPr sz="950" b="1" i="0">
                <a:solidFill>
                  <a:srgbClr val="0A5A62"/>
                </a:solidFill>
                <a:latin typeface="Consolas"/>
              </a:rPr>
              <a:t>Q(next) = D on every rising clock edge</a:t>
            </a:r>
          </a:p>
        </p:txBody>
      </p:sp>
      <p:sp>
        <p:nvSpPr>
          <p:cNvPr id="42" name="Rounded Rectangle 41"/>
          <p:cNvSpPr/>
          <p:nvPr/>
        </p:nvSpPr>
        <p:spPr>
          <a:xfrm>
            <a:off x="8275320" y="1748663"/>
            <a:ext cx="3520440" cy="2688336"/>
          </a:xfrm>
          <a:prstGeom prst="roundRect">
            <a:avLst>
              <a:gd name="adj" fmla="val 5000"/>
            </a:avLst>
          </a:prstGeom>
          <a:solidFill>
            <a:srgbClr val="F1F6F8"/>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8513064" y="1949831"/>
            <a:ext cx="1463040" cy="292608"/>
          </a:xfrm>
          <a:prstGeom prst="roundRect">
            <a:avLst>
              <a:gd name="adj" fmla="val 25000"/>
            </a:avLst>
          </a:prstGeom>
          <a:solidFill>
            <a:srgbClr val="D98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513064" y="2018411"/>
            <a:ext cx="1463040" cy="201168"/>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Segoe UI Semibold"/>
              </a:rPr>
              <a:t>C. DRAM CELL</a:t>
            </a:r>
          </a:p>
        </p:txBody>
      </p:sp>
      <p:sp>
        <p:nvSpPr>
          <p:cNvPr id="45" name="TextBox 44"/>
          <p:cNvSpPr txBox="1"/>
          <p:nvPr/>
        </p:nvSpPr>
        <p:spPr>
          <a:xfrm>
            <a:off x="8513064" y="2333879"/>
            <a:ext cx="3035808" cy="475488"/>
          </a:xfrm>
          <a:prstGeom prst="rect">
            <a:avLst/>
          </a:prstGeom>
          <a:noFill/>
        </p:spPr>
        <p:txBody>
          <a:bodyPr wrap="square" lIns="0" rIns="0" tIns="0" bIns="0" anchor="t">
            <a:spAutoFit/>
          </a:bodyPr>
          <a:lstStyle/>
          <a:p>
            <a:pPr algn="l">
              <a:lnSpc>
                <a:spcPct val="110000"/>
              </a:lnSpc>
              <a:spcBef>
                <a:spcPts val="0"/>
              </a:spcBef>
              <a:spcAft>
                <a:spcPts val="0"/>
              </a:spcAft>
            </a:pPr>
            <a:r>
              <a:rPr sz="1100" b="0" i="0">
                <a:solidFill>
                  <a:srgbClr val="4A5A69"/>
                </a:solidFill>
                <a:latin typeface="Segoe UI"/>
              </a:rPr>
              <a:t>One transistor and one capacitor: charge = 1, no charge = 0.</a:t>
            </a:r>
          </a:p>
        </p:txBody>
      </p:sp>
      <p:cxnSp>
        <p:nvCxnSpPr>
          <p:cNvPr id="46" name="Connector 45"/>
          <p:cNvCxnSpPr/>
          <p:nvPr/>
        </p:nvCxnSpPr>
        <p:spPr>
          <a:xfrm>
            <a:off x="8686800" y="3394583"/>
            <a:ext cx="1691640" cy="0"/>
          </a:xfrm>
          <a:prstGeom prst="line">
            <a:avLst/>
          </a:prstGeom>
          <a:ln w="15875">
            <a:solidFill>
              <a:srgbClr val="0A5A62"/>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415016" y="3229991"/>
            <a:ext cx="822960" cy="201168"/>
          </a:xfrm>
          <a:prstGeom prst="rect">
            <a:avLst/>
          </a:prstGeom>
          <a:noFill/>
        </p:spPr>
        <p:txBody>
          <a:bodyPr wrap="square" lIns="0" rIns="0" tIns="0" bIns="0" anchor="t">
            <a:spAutoFit/>
          </a:bodyPr>
          <a:lstStyle/>
          <a:p>
            <a:pPr algn="l">
              <a:spcBef>
                <a:spcPts val="0"/>
              </a:spcBef>
              <a:spcAft>
                <a:spcPts val="0"/>
              </a:spcAft>
            </a:pPr>
            <a:r>
              <a:rPr sz="850" b="0" i="0">
                <a:solidFill>
                  <a:srgbClr val="788897"/>
                </a:solidFill>
                <a:latin typeface="Segoe UI"/>
              </a:rPr>
              <a:t>bit line</a:t>
            </a:r>
          </a:p>
        </p:txBody>
      </p:sp>
      <p:sp>
        <p:nvSpPr>
          <p:cNvPr id="48" name="Rectangle 47"/>
          <p:cNvSpPr/>
          <p:nvPr/>
        </p:nvSpPr>
        <p:spPr>
          <a:xfrm>
            <a:off x="9354312" y="3248279"/>
            <a:ext cx="310896" cy="274320"/>
          </a:xfrm>
          <a:prstGeom prst="rect">
            <a:avLst/>
          </a:prstGeom>
          <a:solidFill>
            <a:srgbClr val="0A5A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9" name="Connector 48"/>
          <p:cNvCxnSpPr/>
          <p:nvPr/>
        </p:nvCxnSpPr>
        <p:spPr>
          <a:xfrm flipV="1">
            <a:off x="9509760" y="2919095"/>
            <a:ext cx="0" cy="329184"/>
          </a:xfrm>
          <a:prstGeom prst="line">
            <a:avLst/>
          </a:prstGeom>
          <a:ln w="16510">
            <a:solidFill>
              <a:srgbClr val="D984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509760" y="2919095"/>
            <a:ext cx="1097280" cy="0"/>
          </a:xfrm>
          <a:prstGeom prst="line">
            <a:avLst/>
          </a:prstGeom>
          <a:ln w="16510">
            <a:solidFill>
              <a:srgbClr val="D9840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9509760" y="2699639"/>
            <a:ext cx="1097280" cy="201168"/>
          </a:xfrm>
          <a:prstGeom prst="rect">
            <a:avLst/>
          </a:prstGeom>
          <a:noFill/>
        </p:spPr>
        <p:txBody>
          <a:bodyPr wrap="square" lIns="0" rIns="0" tIns="0" bIns="0" anchor="t">
            <a:spAutoFit/>
          </a:bodyPr>
          <a:lstStyle/>
          <a:p>
            <a:pPr algn="l">
              <a:spcBef>
                <a:spcPts val="0"/>
              </a:spcBef>
              <a:spcAft>
                <a:spcPts val="0"/>
              </a:spcAft>
            </a:pPr>
            <a:r>
              <a:rPr sz="850" b="0" i="0">
                <a:solidFill>
                  <a:srgbClr val="D98400"/>
                </a:solidFill>
                <a:latin typeface="Segoe UI"/>
              </a:rPr>
              <a:t>word line</a:t>
            </a:r>
          </a:p>
        </p:txBody>
      </p:sp>
      <p:cxnSp>
        <p:nvCxnSpPr>
          <p:cNvPr id="52" name="Connector 51"/>
          <p:cNvCxnSpPr/>
          <p:nvPr/>
        </p:nvCxnSpPr>
        <p:spPr>
          <a:xfrm>
            <a:off x="9509760" y="3522599"/>
            <a:ext cx="0" cy="384048"/>
          </a:xfrm>
          <a:prstGeom prst="line">
            <a:avLst/>
          </a:prstGeom>
          <a:ln w="15240">
            <a:solidFill>
              <a:srgbClr val="0A5A62"/>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262872" y="3906647"/>
            <a:ext cx="493776" cy="0"/>
          </a:xfrm>
          <a:prstGeom prst="line">
            <a:avLst/>
          </a:prstGeom>
          <a:ln w="27940">
            <a:solidFill>
              <a:srgbClr val="0A5A62"/>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262872" y="3906647"/>
            <a:ext cx="493776" cy="0"/>
          </a:xfrm>
          <a:prstGeom prst="line">
            <a:avLst/>
          </a:prstGeom>
          <a:ln w="27940">
            <a:solidFill>
              <a:srgbClr val="0A5A6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509760" y="3906647"/>
            <a:ext cx="0" cy="182879"/>
          </a:xfrm>
          <a:prstGeom prst="line">
            <a:avLst/>
          </a:prstGeom>
          <a:ln w="15240">
            <a:solidFill>
              <a:srgbClr val="0A5A6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144000" y="4089526"/>
            <a:ext cx="758952" cy="0"/>
          </a:xfrm>
          <a:prstGeom prst="line">
            <a:avLst/>
          </a:prstGeom>
          <a:ln w="17780">
            <a:solidFill>
              <a:srgbClr val="788897"/>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829800" y="3723767"/>
            <a:ext cx="365760" cy="201168"/>
          </a:xfrm>
          <a:prstGeom prst="rect">
            <a:avLst/>
          </a:prstGeom>
          <a:noFill/>
        </p:spPr>
        <p:txBody>
          <a:bodyPr wrap="square" lIns="0" rIns="0" tIns="0" bIns="0" anchor="t">
            <a:spAutoFit/>
          </a:bodyPr>
          <a:lstStyle/>
          <a:p>
            <a:pPr algn="l">
              <a:spcBef>
                <a:spcPts val="0"/>
              </a:spcBef>
              <a:spcAft>
                <a:spcPts val="0"/>
              </a:spcAft>
            </a:pPr>
            <a:r>
              <a:rPr sz="950" b="1" i="0">
                <a:solidFill>
                  <a:srgbClr val="11212E"/>
                </a:solidFill>
                <a:latin typeface="Consolas"/>
              </a:rPr>
              <a:t>Cs</a:t>
            </a:r>
          </a:p>
        </p:txBody>
      </p:sp>
      <p:sp>
        <p:nvSpPr>
          <p:cNvPr id="58" name="TextBox 57"/>
          <p:cNvSpPr txBox="1"/>
          <p:nvPr/>
        </p:nvSpPr>
        <p:spPr>
          <a:xfrm>
            <a:off x="8513064" y="4144391"/>
            <a:ext cx="3035808" cy="219456"/>
          </a:xfrm>
          <a:prstGeom prst="rect">
            <a:avLst/>
          </a:prstGeom>
          <a:noFill/>
        </p:spPr>
        <p:txBody>
          <a:bodyPr wrap="square" lIns="0" rIns="0" tIns="0" bIns="0" anchor="t">
            <a:spAutoFit/>
          </a:bodyPr>
          <a:lstStyle/>
          <a:p>
            <a:pPr algn="l">
              <a:spcBef>
                <a:spcPts val="0"/>
              </a:spcBef>
              <a:spcAft>
                <a:spcPts val="0"/>
              </a:spcAft>
            </a:pPr>
            <a:r>
              <a:rPr sz="950" b="1" i="0">
                <a:solidFill>
                  <a:srgbClr val="D98400"/>
                </a:solidFill>
                <a:latin typeface="Consolas"/>
              </a:rPr>
              <a:t>Needs refreshing every ~64 ms</a:t>
            </a:r>
          </a:p>
        </p:txBody>
      </p:sp>
      <p:sp>
        <p:nvSpPr>
          <p:cNvPr id="59" name="Rectangle 58"/>
          <p:cNvSpPr/>
          <p:nvPr/>
        </p:nvSpPr>
        <p:spPr>
          <a:xfrm>
            <a:off x="685800" y="4546727"/>
            <a:ext cx="10835640" cy="1005840"/>
          </a:xfrm>
          <a:prstGeom prst="rect">
            <a:avLst/>
          </a:prstGeom>
          <a:solidFill>
            <a:srgbClr val="E7F0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896112" y="4619879"/>
            <a:ext cx="10424160" cy="219456"/>
          </a:xfrm>
          <a:prstGeom prst="rect">
            <a:avLst/>
          </a:prstGeom>
          <a:noFill/>
        </p:spPr>
        <p:txBody>
          <a:bodyPr wrap="square" lIns="0" rIns="0" tIns="0" bIns="0" anchor="t">
            <a:spAutoFit/>
          </a:bodyPr>
          <a:lstStyle/>
          <a:p>
            <a:pPr algn="l">
              <a:spcBef>
                <a:spcPts val="0"/>
              </a:spcBef>
              <a:spcAft>
                <a:spcPts val="0"/>
              </a:spcAft>
            </a:pPr>
            <a:r>
              <a:rPr sz="900" b="1" i="0">
                <a:solidFill>
                  <a:srgbClr val="0E7C86"/>
                </a:solidFill>
                <a:latin typeface="Segoe UI Semibold"/>
              </a:rPr>
              <a:t>THE TRADE-OFF</a:t>
            </a:r>
          </a:p>
        </p:txBody>
      </p:sp>
      <p:sp>
        <p:nvSpPr>
          <p:cNvPr id="61" name="TextBox 60"/>
          <p:cNvSpPr txBox="1"/>
          <p:nvPr/>
        </p:nvSpPr>
        <p:spPr>
          <a:xfrm>
            <a:off x="896112" y="4857623"/>
            <a:ext cx="10424160" cy="237744"/>
          </a:xfrm>
          <a:prstGeom prst="rect">
            <a:avLst/>
          </a:prstGeom>
          <a:noFill/>
        </p:spPr>
        <p:txBody>
          <a:bodyPr wrap="square" lIns="0" rIns="0" tIns="0" bIns="0" anchor="t">
            <a:spAutoFit/>
          </a:bodyPr>
          <a:lstStyle/>
          <a:p>
            <a:pPr algn="l">
              <a:spcBef>
                <a:spcPts val="0"/>
              </a:spcBef>
              <a:spcAft>
                <a:spcPts val="0"/>
              </a:spcAft>
            </a:pPr>
            <a:r>
              <a:rPr sz="1050" b="1" i="0">
                <a:solidFill>
                  <a:srgbClr val="0A5A62"/>
                </a:solidFill>
                <a:latin typeface="Segoe UI"/>
              </a:rPr>
              <a:t>Flip-flop:  </a:t>
            </a:r>
            <a:r>
              <a:rPr sz="1050" b="0" i="0">
                <a:solidFill>
                  <a:srgbClr val="4A5A69"/>
                </a:solidFill>
                <a:latin typeface="Segoe UI"/>
              </a:rPr>
              <a:t>~6 transistors per bit, no refresh, fast — the right choice inside the CPU.</a:t>
            </a:r>
          </a:p>
        </p:txBody>
      </p:sp>
      <p:sp>
        <p:nvSpPr>
          <p:cNvPr id="62" name="TextBox 61"/>
          <p:cNvSpPr txBox="1"/>
          <p:nvPr/>
        </p:nvSpPr>
        <p:spPr>
          <a:xfrm>
            <a:off x="896112" y="5150231"/>
            <a:ext cx="10424160" cy="237744"/>
          </a:xfrm>
          <a:prstGeom prst="rect">
            <a:avLst/>
          </a:prstGeom>
          <a:noFill/>
        </p:spPr>
        <p:txBody>
          <a:bodyPr wrap="square" lIns="0" rIns="0" tIns="0" bIns="0" anchor="t">
            <a:spAutoFit/>
          </a:bodyPr>
          <a:lstStyle/>
          <a:p>
            <a:pPr algn="l">
              <a:spcBef>
                <a:spcPts val="0"/>
              </a:spcBef>
              <a:spcAft>
                <a:spcPts val="0"/>
              </a:spcAft>
            </a:pPr>
            <a:r>
              <a:rPr sz="1050" b="1" i="0">
                <a:solidFill>
                  <a:srgbClr val="D98400"/>
                </a:solidFill>
                <a:latin typeface="Segoe UI"/>
              </a:rPr>
              <a:t>DRAM cell:  </a:t>
            </a:r>
            <a:r>
              <a:rPr sz="1050" b="0" i="0">
                <a:solidFill>
                  <a:srgbClr val="4A5A69"/>
                </a:solidFill>
                <a:latin typeface="Segoe UI"/>
              </a:rPr>
              <a:t>1 transistor + 1 capacitor, needs refresh — the right choice for gigabytes.</a:t>
            </a:r>
          </a:p>
        </p:txBody>
      </p:sp>
      <p:sp>
        <p:nvSpPr>
          <p:cNvPr id="63" name="Rectangle 62"/>
          <p:cNvSpPr/>
          <p:nvPr/>
        </p:nvSpPr>
        <p:spPr>
          <a:xfrm>
            <a:off x="685800" y="5632704"/>
            <a:ext cx="10835640" cy="475488"/>
          </a:xfrm>
          <a:prstGeom prst="rect">
            <a:avLst/>
          </a:prstGeom>
          <a:solidFill>
            <a:srgbClr val="E8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685800" y="5632704"/>
            <a:ext cx="50292" cy="47548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886968" y="5715000"/>
            <a:ext cx="10451592" cy="310896"/>
          </a:xfrm>
          <a:prstGeom prst="rect">
            <a:avLst/>
          </a:prstGeom>
          <a:noFill/>
        </p:spPr>
        <p:txBody>
          <a:bodyPr wrap="square" lIns="0" rIns="0" tIns="0" bIns="0" anchor="t">
            <a:spAutoFit/>
          </a:bodyPr>
          <a:lstStyle/>
          <a:p>
            <a:pPr algn="l">
              <a:lnSpc>
                <a:spcPct val="106000"/>
              </a:lnSpc>
              <a:spcBef>
                <a:spcPts val="0"/>
              </a:spcBef>
              <a:spcAft>
                <a:spcPts val="0"/>
              </a:spcAft>
            </a:pPr>
            <a:r>
              <a:rPr sz="1050" b="1" i="0">
                <a:solidFill>
                  <a:srgbClr val="0A5A62"/>
                </a:solidFill>
                <a:latin typeface="Segoe UI"/>
              </a:rPr>
              <a:t>SAY THIS:  </a:t>
            </a:r>
            <a:r>
              <a:rPr sz="1250" b="0" i="0">
                <a:solidFill>
                  <a:srgbClr val="11212E"/>
                </a:solidFill>
                <a:latin typeface="Segoe UI"/>
              </a:rPr>
              <a:t>A flip-flop remembers one bit by feeding its own output back into itself.</a:t>
            </a:r>
          </a:p>
        </p:txBody>
      </p:sp>
      <p:sp>
        <p:nvSpPr>
          <p:cNvPr id="66" name="Rectangle 65"/>
          <p:cNvSpPr/>
          <p:nvPr/>
        </p:nvSpPr>
        <p:spPr>
          <a:xfrm>
            <a:off x="685800" y="6327648"/>
            <a:ext cx="10820095" cy="10972"/>
          </a:xfrm>
          <a:prstGeom prst="rect">
            <a:avLst/>
          </a:prstGeom>
          <a:solidFill>
            <a:srgbClr val="D3DF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685800" y="6419088"/>
            <a:ext cx="6400800" cy="219456"/>
          </a:xfrm>
          <a:prstGeom prst="rect">
            <a:avLst/>
          </a:prstGeom>
          <a:noFill/>
        </p:spPr>
        <p:txBody>
          <a:bodyPr wrap="square" lIns="0" rIns="0" tIns="0" bIns="0" anchor="t">
            <a:spAutoFit/>
          </a:bodyPr>
          <a:lstStyle/>
          <a:p>
            <a:pPr algn="l">
              <a:spcBef>
                <a:spcPts val="0"/>
              </a:spcBef>
              <a:spcAft>
                <a:spcPts val="0"/>
              </a:spcAft>
            </a:pPr>
            <a:r>
              <a:rPr sz="950" b="0" i="0">
                <a:solidFill>
                  <a:srgbClr val="788897"/>
                </a:solidFill>
                <a:latin typeface="Segoe UI"/>
              </a:rPr>
              <a:t>Binary Storage and Registers</a:t>
            </a:r>
          </a:p>
        </p:txBody>
      </p:sp>
      <p:sp>
        <p:nvSpPr>
          <p:cNvPr id="68" name="TextBox 67"/>
          <p:cNvSpPr txBox="1"/>
          <p:nvPr/>
        </p:nvSpPr>
        <p:spPr>
          <a:xfrm>
            <a:off x="10865815" y="6419088"/>
            <a:ext cx="640080" cy="219456"/>
          </a:xfrm>
          <a:prstGeom prst="rect">
            <a:avLst/>
          </a:prstGeom>
          <a:noFill/>
        </p:spPr>
        <p:txBody>
          <a:bodyPr wrap="square" lIns="0" rIns="0" tIns="0" bIns="0" anchor="t">
            <a:spAutoFit/>
          </a:bodyPr>
          <a:lstStyle/>
          <a:p>
            <a:pPr algn="r">
              <a:spcBef>
                <a:spcPts val="0"/>
              </a:spcBef>
              <a:spcAft>
                <a:spcPts val="0"/>
              </a:spcAft>
            </a:pPr>
            <a:r>
              <a:rPr sz="950" b="1" i="0">
                <a:solidFill>
                  <a:srgbClr val="788897"/>
                </a:solidFill>
                <a:latin typeface="Segoe U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5800" y="384048"/>
            <a:ext cx="8229600" cy="237744"/>
          </a:xfrm>
          <a:prstGeom prst="rect">
            <a:avLst/>
          </a:prstGeom>
          <a:noFill/>
        </p:spPr>
        <p:txBody>
          <a:bodyPr wrap="square" lIns="0" rIns="0" tIns="0" bIns="0" anchor="t">
            <a:spAutoFit/>
          </a:bodyPr>
          <a:lstStyle/>
          <a:p>
            <a:pPr algn="l">
              <a:spcBef>
                <a:spcPts val="0"/>
              </a:spcBef>
              <a:spcAft>
                <a:spcPts val="0"/>
              </a:spcAft>
            </a:pPr>
            <a:r>
              <a:rPr sz="1100" b="1" i="0">
                <a:solidFill>
                  <a:srgbClr val="0E7C86"/>
                </a:solidFill>
                <a:latin typeface="Segoe UI Semibold"/>
              </a:rPr>
              <a:t>03 · THE REGISTER</a:t>
            </a:r>
          </a:p>
        </p:txBody>
      </p:sp>
      <p:sp>
        <p:nvSpPr>
          <p:cNvPr id="4" name="TextBox 3"/>
          <p:cNvSpPr txBox="1"/>
          <p:nvPr/>
        </p:nvSpPr>
        <p:spPr>
          <a:xfrm>
            <a:off x="685800" y="640080"/>
            <a:ext cx="10424160" cy="603504"/>
          </a:xfrm>
          <a:prstGeom prst="rect">
            <a:avLst/>
          </a:prstGeom>
          <a:noFill/>
        </p:spPr>
        <p:txBody>
          <a:bodyPr wrap="square" lIns="0" rIns="0" tIns="0" bIns="0" anchor="t">
            <a:spAutoFit/>
          </a:bodyPr>
          <a:lstStyle/>
          <a:p>
            <a:pPr algn="l">
              <a:spcBef>
                <a:spcPts val="0"/>
              </a:spcBef>
              <a:spcAft>
                <a:spcPts val="0"/>
              </a:spcAft>
            </a:pPr>
            <a:r>
              <a:rPr sz="3100" b="1" i="0">
                <a:solidFill>
                  <a:srgbClr val="11212E"/>
                </a:solidFill>
                <a:latin typeface="Segoe UI Semibold"/>
              </a:rPr>
              <a:t>A register is n flip-flops sharing one clock</a:t>
            </a:r>
          </a:p>
        </p:txBody>
      </p:sp>
      <p:sp>
        <p:nvSpPr>
          <p:cNvPr id="5" name="TextBox 4"/>
          <p:cNvSpPr txBox="1"/>
          <p:nvPr/>
        </p:nvSpPr>
        <p:spPr>
          <a:xfrm>
            <a:off x="685800" y="1200023"/>
            <a:ext cx="10424160" cy="310896"/>
          </a:xfrm>
          <a:prstGeom prst="rect">
            <a:avLst/>
          </a:prstGeom>
          <a:noFill/>
        </p:spPr>
        <p:txBody>
          <a:bodyPr wrap="square" lIns="0" rIns="0" tIns="0" bIns="0" anchor="t">
            <a:spAutoFit/>
          </a:bodyPr>
          <a:lstStyle/>
          <a:p>
            <a:pPr algn="l">
              <a:spcBef>
                <a:spcPts val="0"/>
              </a:spcBef>
              <a:spcAft>
                <a:spcPts val="0"/>
              </a:spcAft>
            </a:pPr>
            <a:r>
              <a:rPr sz="1400" b="0" i="0">
                <a:solidFill>
                  <a:srgbClr val="4A5A69"/>
                </a:solidFill>
                <a:latin typeface="Segoe UI"/>
              </a:rPr>
              <a:t>It stores one binary word and is read or written as a unit — selected by name, not by address.</a:t>
            </a:r>
          </a:p>
        </p:txBody>
      </p:sp>
      <p:sp>
        <p:nvSpPr>
          <p:cNvPr id="6" name="Rounded Rectangle 5"/>
          <p:cNvSpPr/>
          <p:nvPr/>
        </p:nvSpPr>
        <p:spPr>
          <a:xfrm>
            <a:off x="1371600" y="2516759"/>
            <a:ext cx="868680" cy="1042415"/>
          </a:xfrm>
          <a:prstGeom prst="roundRect">
            <a:avLst>
              <a:gd name="adj" fmla="val 7000"/>
            </a:avLst>
          </a:prstGeom>
          <a:solidFill>
            <a:srgbClr val="FFFFFF"/>
          </a:solidFill>
          <a:ln w="1905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371600" y="2791079"/>
            <a:ext cx="868680" cy="384048"/>
          </a:xfrm>
          <a:prstGeom prst="rect">
            <a:avLst/>
          </a:prstGeom>
          <a:noFill/>
        </p:spPr>
        <p:txBody>
          <a:bodyPr wrap="square" lIns="0" rIns="0" tIns="0" bIns="0" anchor="t">
            <a:spAutoFit/>
          </a:bodyPr>
          <a:lstStyle/>
          <a:p>
            <a:pPr algn="ctr">
              <a:spcBef>
                <a:spcPts val="0"/>
              </a:spcBef>
              <a:spcAft>
                <a:spcPts val="0"/>
              </a:spcAft>
            </a:pPr>
            <a:r>
              <a:rPr sz="1350" b="1" i="0">
                <a:solidFill>
                  <a:srgbClr val="0A5A62"/>
                </a:solidFill>
                <a:latin typeface="Consolas"/>
              </a:rPr>
              <a:t>FF</a:t>
            </a:r>
          </a:p>
        </p:txBody>
      </p:sp>
      <p:sp>
        <p:nvSpPr>
          <p:cNvPr id="8" name="TextBox 7"/>
          <p:cNvSpPr txBox="1"/>
          <p:nvPr/>
        </p:nvSpPr>
        <p:spPr>
          <a:xfrm>
            <a:off x="1371600" y="3248279"/>
            <a:ext cx="868680" cy="201168"/>
          </a:xfrm>
          <a:prstGeom prst="rect">
            <a:avLst/>
          </a:prstGeom>
          <a:noFill/>
        </p:spPr>
        <p:txBody>
          <a:bodyPr wrap="square" lIns="0" rIns="0" tIns="0" bIns="0" anchor="t">
            <a:spAutoFit/>
          </a:bodyPr>
          <a:lstStyle/>
          <a:p>
            <a:pPr algn="ctr">
              <a:spcBef>
                <a:spcPts val="0"/>
              </a:spcBef>
              <a:spcAft>
                <a:spcPts val="0"/>
              </a:spcAft>
            </a:pPr>
            <a:r>
              <a:rPr sz="850" b="0" i="0">
                <a:solidFill>
                  <a:srgbClr val="788897"/>
                </a:solidFill>
                <a:latin typeface="Segoe UI"/>
              </a:rPr>
              <a:t>bit 3</a:t>
            </a:r>
          </a:p>
        </p:txBody>
      </p:sp>
      <p:cxnSp>
        <p:nvCxnSpPr>
          <p:cNvPr id="9" name="Connector 8"/>
          <p:cNvCxnSpPr/>
          <p:nvPr/>
        </p:nvCxnSpPr>
        <p:spPr>
          <a:xfrm>
            <a:off x="1805940" y="2150999"/>
            <a:ext cx="0" cy="347472"/>
          </a:xfrm>
          <a:prstGeom prst="line">
            <a:avLst/>
          </a:prstGeom>
          <a:ln w="15240">
            <a:solidFill>
              <a:srgbClr val="4A5A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531620" y="1876678"/>
            <a:ext cx="548640" cy="219456"/>
          </a:xfrm>
          <a:prstGeom prst="rect">
            <a:avLst/>
          </a:prstGeom>
          <a:noFill/>
        </p:spPr>
        <p:txBody>
          <a:bodyPr wrap="square" lIns="0" rIns="0" tIns="0" bIns="0" anchor="t">
            <a:spAutoFit/>
          </a:bodyPr>
          <a:lstStyle/>
          <a:p>
            <a:pPr algn="ctr">
              <a:spcBef>
                <a:spcPts val="0"/>
              </a:spcBef>
              <a:spcAft>
                <a:spcPts val="0"/>
              </a:spcAft>
            </a:pPr>
            <a:r>
              <a:rPr sz="1100" b="1" i="0">
                <a:solidFill>
                  <a:srgbClr val="11212E"/>
                </a:solidFill>
                <a:latin typeface="Consolas"/>
              </a:rPr>
              <a:t>D₃</a:t>
            </a:r>
          </a:p>
        </p:txBody>
      </p:sp>
      <p:cxnSp>
        <p:nvCxnSpPr>
          <p:cNvPr id="11" name="Connector 10"/>
          <p:cNvCxnSpPr/>
          <p:nvPr/>
        </p:nvCxnSpPr>
        <p:spPr>
          <a:xfrm>
            <a:off x="1805940" y="3577463"/>
            <a:ext cx="0" cy="329184"/>
          </a:xfrm>
          <a:prstGeom prst="line">
            <a:avLst/>
          </a:prstGeom>
          <a:ln w="15875">
            <a:solidFill>
              <a:srgbClr val="0A5A6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805940" y="3815207"/>
            <a:ext cx="0" cy="109728"/>
          </a:xfrm>
          <a:prstGeom prst="line">
            <a:avLst/>
          </a:prstGeom>
          <a:ln w="1524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531620" y="3961511"/>
            <a:ext cx="548640" cy="219456"/>
          </a:xfrm>
          <a:prstGeom prst="rect">
            <a:avLst/>
          </a:prstGeom>
          <a:noFill/>
        </p:spPr>
        <p:txBody>
          <a:bodyPr wrap="square" lIns="0" rIns="0" tIns="0" bIns="0" anchor="t">
            <a:spAutoFit/>
          </a:bodyPr>
          <a:lstStyle/>
          <a:p>
            <a:pPr algn="ctr">
              <a:spcBef>
                <a:spcPts val="0"/>
              </a:spcBef>
              <a:spcAft>
                <a:spcPts val="0"/>
              </a:spcAft>
            </a:pPr>
            <a:r>
              <a:rPr sz="1100" b="1" i="0">
                <a:solidFill>
                  <a:srgbClr val="0A5A62"/>
                </a:solidFill>
                <a:latin typeface="Consolas"/>
              </a:rPr>
              <a:t>Q₃</a:t>
            </a:r>
          </a:p>
        </p:txBody>
      </p:sp>
      <p:sp>
        <p:nvSpPr>
          <p:cNvPr id="14" name="Rounded Rectangle 13"/>
          <p:cNvSpPr/>
          <p:nvPr/>
        </p:nvSpPr>
        <p:spPr>
          <a:xfrm>
            <a:off x="2514600" y="2516759"/>
            <a:ext cx="868680" cy="1042415"/>
          </a:xfrm>
          <a:prstGeom prst="roundRect">
            <a:avLst>
              <a:gd name="adj" fmla="val 7000"/>
            </a:avLst>
          </a:prstGeom>
          <a:solidFill>
            <a:srgbClr val="FFFFFF"/>
          </a:solidFill>
          <a:ln w="1905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514600" y="2791079"/>
            <a:ext cx="868680" cy="384048"/>
          </a:xfrm>
          <a:prstGeom prst="rect">
            <a:avLst/>
          </a:prstGeom>
          <a:noFill/>
        </p:spPr>
        <p:txBody>
          <a:bodyPr wrap="square" lIns="0" rIns="0" tIns="0" bIns="0" anchor="t">
            <a:spAutoFit/>
          </a:bodyPr>
          <a:lstStyle/>
          <a:p>
            <a:pPr algn="ctr">
              <a:spcBef>
                <a:spcPts val="0"/>
              </a:spcBef>
              <a:spcAft>
                <a:spcPts val="0"/>
              </a:spcAft>
            </a:pPr>
            <a:r>
              <a:rPr sz="1350" b="1" i="0">
                <a:solidFill>
                  <a:srgbClr val="0A5A62"/>
                </a:solidFill>
                <a:latin typeface="Consolas"/>
              </a:rPr>
              <a:t>FF</a:t>
            </a:r>
          </a:p>
        </p:txBody>
      </p:sp>
      <p:sp>
        <p:nvSpPr>
          <p:cNvPr id="16" name="TextBox 15"/>
          <p:cNvSpPr txBox="1"/>
          <p:nvPr/>
        </p:nvSpPr>
        <p:spPr>
          <a:xfrm>
            <a:off x="2514600" y="3248279"/>
            <a:ext cx="868680" cy="201168"/>
          </a:xfrm>
          <a:prstGeom prst="rect">
            <a:avLst/>
          </a:prstGeom>
          <a:noFill/>
        </p:spPr>
        <p:txBody>
          <a:bodyPr wrap="square" lIns="0" rIns="0" tIns="0" bIns="0" anchor="t">
            <a:spAutoFit/>
          </a:bodyPr>
          <a:lstStyle/>
          <a:p>
            <a:pPr algn="ctr">
              <a:spcBef>
                <a:spcPts val="0"/>
              </a:spcBef>
              <a:spcAft>
                <a:spcPts val="0"/>
              </a:spcAft>
            </a:pPr>
            <a:r>
              <a:rPr sz="850" b="0" i="0">
                <a:solidFill>
                  <a:srgbClr val="788897"/>
                </a:solidFill>
                <a:latin typeface="Segoe UI"/>
              </a:rPr>
              <a:t>bit 2</a:t>
            </a:r>
          </a:p>
        </p:txBody>
      </p:sp>
      <p:cxnSp>
        <p:nvCxnSpPr>
          <p:cNvPr id="17" name="Connector 16"/>
          <p:cNvCxnSpPr/>
          <p:nvPr/>
        </p:nvCxnSpPr>
        <p:spPr>
          <a:xfrm>
            <a:off x="2948940" y="2150999"/>
            <a:ext cx="0" cy="347472"/>
          </a:xfrm>
          <a:prstGeom prst="line">
            <a:avLst/>
          </a:prstGeom>
          <a:ln w="15240">
            <a:solidFill>
              <a:srgbClr val="4A5A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674620" y="1876678"/>
            <a:ext cx="548640" cy="219456"/>
          </a:xfrm>
          <a:prstGeom prst="rect">
            <a:avLst/>
          </a:prstGeom>
          <a:noFill/>
        </p:spPr>
        <p:txBody>
          <a:bodyPr wrap="square" lIns="0" rIns="0" tIns="0" bIns="0" anchor="t">
            <a:spAutoFit/>
          </a:bodyPr>
          <a:lstStyle/>
          <a:p>
            <a:pPr algn="ctr">
              <a:spcBef>
                <a:spcPts val="0"/>
              </a:spcBef>
              <a:spcAft>
                <a:spcPts val="0"/>
              </a:spcAft>
            </a:pPr>
            <a:r>
              <a:rPr sz="1100" b="1" i="0">
                <a:solidFill>
                  <a:srgbClr val="11212E"/>
                </a:solidFill>
                <a:latin typeface="Consolas"/>
              </a:rPr>
              <a:t>D₂</a:t>
            </a:r>
          </a:p>
        </p:txBody>
      </p:sp>
      <p:cxnSp>
        <p:nvCxnSpPr>
          <p:cNvPr id="19" name="Connector 18"/>
          <p:cNvCxnSpPr/>
          <p:nvPr/>
        </p:nvCxnSpPr>
        <p:spPr>
          <a:xfrm>
            <a:off x="2948940" y="3577463"/>
            <a:ext cx="0" cy="329184"/>
          </a:xfrm>
          <a:prstGeom prst="line">
            <a:avLst/>
          </a:prstGeom>
          <a:ln w="15875">
            <a:solidFill>
              <a:srgbClr val="0A5A62"/>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948940" y="3815207"/>
            <a:ext cx="0" cy="109728"/>
          </a:xfrm>
          <a:prstGeom prst="line">
            <a:avLst/>
          </a:prstGeom>
          <a:ln w="1524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674620" y="3961511"/>
            <a:ext cx="548640" cy="219456"/>
          </a:xfrm>
          <a:prstGeom prst="rect">
            <a:avLst/>
          </a:prstGeom>
          <a:noFill/>
        </p:spPr>
        <p:txBody>
          <a:bodyPr wrap="square" lIns="0" rIns="0" tIns="0" bIns="0" anchor="t">
            <a:spAutoFit/>
          </a:bodyPr>
          <a:lstStyle/>
          <a:p>
            <a:pPr algn="ctr">
              <a:spcBef>
                <a:spcPts val="0"/>
              </a:spcBef>
              <a:spcAft>
                <a:spcPts val="0"/>
              </a:spcAft>
            </a:pPr>
            <a:r>
              <a:rPr sz="1100" b="1" i="0">
                <a:solidFill>
                  <a:srgbClr val="0A5A62"/>
                </a:solidFill>
                <a:latin typeface="Consolas"/>
              </a:rPr>
              <a:t>Q₂</a:t>
            </a:r>
          </a:p>
        </p:txBody>
      </p:sp>
      <p:sp>
        <p:nvSpPr>
          <p:cNvPr id="22" name="Rounded Rectangle 21"/>
          <p:cNvSpPr/>
          <p:nvPr/>
        </p:nvSpPr>
        <p:spPr>
          <a:xfrm>
            <a:off x="3657600" y="2516759"/>
            <a:ext cx="868680" cy="1042415"/>
          </a:xfrm>
          <a:prstGeom prst="roundRect">
            <a:avLst>
              <a:gd name="adj" fmla="val 7000"/>
            </a:avLst>
          </a:prstGeom>
          <a:solidFill>
            <a:srgbClr val="FFFFFF"/>
          </a:solidFill>
          <a:ln w="1905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657600" y="2791079"/>
            <a:ext cx="868680" cy="384048"/>
          </a:xfrm>
          <a:prstGeom prst="rect">
            <a:avLst/>
          </a:prstGeom>
          <a:noFill/>
        </p:spPr>
        <p:txBody>
          <a:bodyPr wrap="square" lIns="0" rIns="0" tIns="0" bIns="0" anchor="t">
            <a:spAutoFit/>
          </a:bodyPr>
          <a:lstStyle/>
          <a:p>
            <a:pPr algn="ctr">
              <a:spcBef>
                <a:spcPts val="0"/>
              </a:spcBef>
              <a:spcAft>
                <a:spcPts val="0"/>
              </a:spcAft>
            </a:pPr>
            <a:r>
              <a:rPr sz="1350" b="1" i="0">
                <a:solidFill>
                  <a:srgbClr val="0A5A62"/>
                </a:solidFill>
                <a:latin typeface="Consolas"/>
              </a:rPr>
              <a:t>FF</a:t>
            </a:r>
          </a:p>
        </p:txBody>
      </p:sp>
      <p:sp>
        <p:nvSpPr>
          <p:cNvPr id="24" name="TextBox 23"/>
          <p:cNvSpPr txBox="1"/>
          <p:nvPr/>
        </p:nvSpPr>
        <p:spPr>
          <a:xfrm>
            <a:off x="3657600" y="3248279"/>
            <a:ext cx="868680" cy="201168"/>
          </a:xfrm>
          <a:prstGeom prst="rect">
            <a:avLst/>
          </a:prstGeom>
          <a:noFill/>
        </p:spPr>
        <p:txBody>
          <a:bodyPr wrap="square" lIns="0" rIns="0" tIns="0" bIns="0" anchor="t">
            <a:spAutoFit/>
          </a:bodyPr>
          <a:lstStyle/>
          <a:p>
            <a:pPr algn="ctr">
              <a:spcBef>
                <a:spcPts val="0"/>
              </a:spcBef>
              <a:spcAft>
                <a:spcPts val="0"/>
              </a:spcAft>
            </a:pPr>
            <a:r>
              <a:rPr sz="850" b="0" i="0">
                <a:solidFill>
                  <a:srgbClr val="788897"/>
                </a:solidFill>
                <a:latin typeface="Segoe UI"/>
              </a:rPr>
              <a:t>bit 1</a:t>
            </a:r>
          </a:p>
        </p:txBody>
      </p:sp>
      <p:cxnSp>
        <p:nvCxnSpPr>
          <p:cNvPr id="25" name="Connector 24"/>
          <p:cNvCxnSpPr/>
          <p:nvPr/>
        </p:nvCxnSpPr>
        <p:spPr>
          <a:xfrm>
            <a:off x="4091939" y="2150999"/>
            <a:ext cx="0" cy="347472"/>
          </a:xfrm>
          <a:prstGeom prst="line">
            <a:avLst/>
          </a:prstGeom>
          <a:ln w="15240">
            <a:solidFill>
              <a:srgbClr val="4A5A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817620" y="1876678"/>
            <a:ext cx="548640" cy="219456"/>
          </a:xfrm>
          <a:prstGeom prst="rect">
            <a:avLst/>
          </a:prstGeom>
          <a:noFill/>
        </p:spPr>
        <p:txBody>
          <a:bodyPr wrap="square" lIns="0" rIns="0" tIns="0" bIns="0" anchor="t">
            <a:spAutoFit/>
          </a:bodyPr>
          <a:lstStyle/>
          <a:p>
            <a:pPr algn="ctr">
              <a:spcBef>
                <a:spcPts val="0"/>
              </a:spcBef>
              <a:spcAft>
                <a:spcPts val="0"/>
              </a:spcAft>
            </a:pPr>
            <a:r>
              <a:rPr sz="1100" b="1" i="0">
                <a:solidFill>
                  <a:srgbClr val="11212E"/>
                </a:solidFill>
                <a:latin typeface="Consolas"/>
              </a:rPr>
              <a:t>D₁</a:t>
            </a:r>
          </a:p>
        </p:txBody>
      </p:sp>
      <p:cxnSp>
        <p:nvCxnSpPr>
          <p:cNvPr id="27" name="Connector 26"/>
          <p:cNvCxnSpPr/>
          <p:nvPr/>
        </p:nvCxnSpPr>
        <p:spPr>
          <a:xfrm>
            <a:off x="4091939" y="3577463"/>
            <a:ext cx="0" cy="329184"/>
          </a:xfrm>
          <a:prstGeom prst="line">
            <a:avLst/>
          </a:prstGeom>
          <a:ln w="15875">
            <a:solidFill>
              <a:srgbClr val="0A5A62"/>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091939" y="3815207"/>
            <a:ext cx="0" cy="109728"/>
          </a:xfrm>
          <a:prstGeom prst="line">
            <a:avLst/>
          </a:prstGeom>
          <a:ln w="1524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817620" y="3961511"/>
            <a:ext cx="548640" cy="219456"/>
          </a:xfrm>
          <a:prstGeom prst="rect">
            <a:avLst/>
          </a:prstGeom>
          <a:noFill/>
        </p:spPr>
        <p:txBody>
          <a:bodyPr wrap="square" lIns="0" rIns="0" tIns="0" bIns="0" anchor="t">
            <a:spAutoFit/>
          </a:bodyPr>
          <a:lstStyle/>
          <a:p>
            <a:pPr algn="ctr">
              <a:spcBef>
                <a:spcPts val="0"/>
              </a:spcBef>
              <a:spcAft>
                <a:spcPts val="0"/>
              </a:spcAft>
            </a:pPr>
            <a:r>
              <a:rPr sz="1100" b="1" i="0">
                <a:solidFill>
                  <a:srgbClr val="0A5A62"/>
                </a:solidFill>
                <a:latin typeface="Consolas"/>
              </a:rPr>
              <a:t>Q₁</a:t>
            </a:r>
          </a:p>
        </p:txBody>
      </p:sp>
      <p:sp>
        <p:nvSpPr>
          <p:cNvPr id="30" name="Rounded Rectangle 29"/>
          <p:cNvSpPr/>
          <p:nvPr/>
        </p:nvSpPr>
        <p:spPr>
          <a:xfrm>
            <a:off x="4800600" y="2516759"/>
            <a:ext cx="868680" cy="1042415"/>
          </a:xfrm>
          <a:prstGeom prst="roundRect">
            <a:avLst>
              <a:gd name="adj" fmla="val 7000"/>
            </a:avLst>
          </a:prstGeom>
          <a:solidFill>
            <a:srgbClr val="FFFFFF"/>
          </a:solidFill>
          <a:ln w="1905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800600" y="2791079"/>
            <a:ext cx="868680" cy="384048"/>
          </a:xfrm>
          <a:prstGeom prst="rect">
            <a:avLst/>
          </a:prstGeom>
          <a:noFill/>
        </p:spPr>
        <p:txBody>
          <a:bodyPr wrap="square" lIns="0" rIns="0" tIns="0" bIns="0" anchor="t">
            <a:spAutoFit/>
          </a:bodyPr>
          <a:lstStyle/>
          <a:p>
            <a:pPr algn="ctr">
              <a:spcBef>
                <a:spcPts val="0"/>
              </a:spcBef>
              <a:spcAft>
                <a:spcPts val="0"/>
              </a:spcAft>
            </a:pPr>
            <a:r>
              <a:rPr sz="1350" b="1" i="0">
                <a:solidFill>
                  <a:srgbClr val="0A5A62"/>
                </a:solidFill>
                <a:latin typeface="Consolas"/>
              </a:rPr>
              <a:t>FF</a:t>
            </a:r>
          </a:p>
        </p:txBody>
      </p:sp>
      <p:sp>
        <p:nvSpPr>
          <p:cNvPr id="32" name="TextBox 31"/>
          <p:cNvSpPr txBox="1"/>
          <p:nvPr/>
        </p:nvSpPr>
        <p:spPr>
          <a:xfrm>
            <a:off x="4800600" y="3248279"/>
            <a:ext cx="868680" cy="201168"/>
          </a:xfrm>
          <a:prstGeom prst="rect">
            <a:avLst/>
          </a:prstGeom>
          <a:noFill/>
        </p:spPr>
        <p:txBody>
          <a:bodyPr wrap="square" lIns="0" rIns="0" tIns="0" bIns="0" anchor="t">
            <a:spAutoFit/>
          </a:bodyPr>
          <a:lstStyle/>
          <a:p>
            <a:pPr algn="ctr">
              <a:spcBef>
                <a:spcPts val="0"/>
              </a:spcBef>
              <a:spcAft>
                <a:spcPts val="0"/>
              </a:spcAft>
            </a:pPr>
            <a:r>
              <a:rPr sz="850" b="0" i="0">
                <a:solidFill>
                  <a:srgbClr val="788897"/>
                </a:solidFill>
                <a:latin typeface="Segoe UI"/>
              </a:rPr>
              <a:t>bit 0</a:t>
            </a:r>
          </a:p>
        </p:txBody>
      </p:sp>
      <p:cxnSp>
        <p:nvCxnSpPr>
          <p:cNvPr id="33" name="Connector 32"/>
          <p:cNvCxnSpPr/>
          <p:nvPr/>
        </p:nvCxnSpPr>
        <p:spPr>
          <a:xfrm>
            <a:off x="5234940" y="2150999"/>
            <a:ext cx="0" cy="347472"/>
          </a:xfrm>
          <a:prstGeom prst="line">
            <a:avLst/>
          </a:prstGeom>
          <a:ln w="15240">
            <a:solidFill>
              <a:srgbClr val="4A5A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960620" y="1876678"/>
            <a:ext cx="548640" cy="219456"/>
          </a:xfrm>
          <a:prstGeom prst="rect">
            <a:avLst/>
          </a:prstGeom>
          <a:noFill/>
        </p:spPr>
        <p:txBody>
          <a:bodyPr wrap="square" lIns="0" rIns="0" tIns="0" bIns="0" anchor="t">
            <a:spAutoFit/>
          </a:bodyPr>
          <a:lstStyle/>
          <a:p>
            <a:pPr algn="ctr">
              <a:spcBef>
                <a:spcPts val="0"/>
              </a:spcBef>
              <a:spcAft>
                <a:spcPts val="0"/>
              </a:spcAft>
            </a:pPr>
            <a:r>
              <a:rPr sz="1100" b="1" i="0">
                <a:solidFill>
                  <a:srgbClr val="11212E"/>
                </a:solidFill>
                <a:latin typeface="Consolas"/>
              </a:rPr>
              <a:t>D₀</a:t>
            </a:r>
          </a:p>
        </p:txBody>
      </p:sp>
      <p:cxnSp>
        <p:nvCxnSpPr>
          <p:cNvPr id="35" name="Connector 34"/>
          <p:cNvCxnSpPr/>
          <p:nvPr/>
        </p:nvCxnSpPr>
        <p:spPr>
          <a:xfrm>
            <a:off x="5234940" y="3577463"/>
            <a:ext cx="0" cy="329184"/>
          </a:xfrm>
          <a:prstGeom prst="line">
            <a:avLst/>
          </a:prstGeom>
          <a:ln w="15875">
            <a:solidFill>
              <a:srgbClr val="0A5A62"/>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234940" y="3815207"/>
            <a:ext cx="0" cy="109728"/>
          </a:xfrm>
          <a:prstGeom prst="line">
            <a:avLst/>
          </a:prstGeom>
          <a:ln w="1524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960620" y="3961511"/>
            <a:ext cx="548640" cy="219456"/>
          </a:xfrm>
          <a:prstGeom prst="rect">
            <a:avLst/>
          </a:prstGeom>
          <a:noFill/>
        </p:spPr>
        <p:txBody>
          <a:bodyPr wrap="square" lIns="0" rIns="0" tIns="0" bIns="0" anchor="t">
            <a:spAutoFit/>
          </a:bodyPr>
          <a:lstStyle/>
          <a:p>
            <a:pPr algn="ctr">
              <a:spcBef>
                <a:spcPts val="0"/>
              </a:spcBef>
              <a:spcAft>
                <a:spcPts val="0"/>
              </a:spcAft>
            </a:pPr>
            <a:r>
              <a:rPr sz="1100" b="1" i="0">
                <a:solidFill>
                  <a:srgbClr val="0A5A62"/>
                </a:solidFill>
                <a:latin typeface="Consolas"/>
              </a:rPr>
              <a:t>Q₀</a:t>
            </a:r>
          </a:p>
        </p:txBody>
      </p:sp>
      <p:cxnSp>
        <p:nvCxnSpPr>
          <p:cNvPr id="38" name="Connector 37"/>
          <p:cNvCxnSpPr/>
          <p:nvPr/>
        </p:nvCxnSpPr>
        <p:spPr>
          <a:xfrm>
            <a:off x="914400" y="3742055"/>
            <a:ext cx="4983480" cy="0"/>
          </a:xfrm>
          <a:prstGeom prst="line">
            <a:avLst/>
          </a:prstGeom>
          <a:ln w="20320">
            <a:solidFill>
              <a:srgbClr val="D984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805940" y="3559174"/>
            <a:ext cx="0" cy="182881"/>
          </a:xfrm>
          <a:prstGeom prst="line">
            <a:avLst/>
          </a:prstGeom>
          <a:ln w="15240">
            <a:solidFill>
              <a:srgbClr val="D9840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764792" y="3700907"/>
            <a:ext cx="82296" cy="82296"/>
          </a:xfrm>
          <a:prstGeom prst="ellipse">
            <a:avLst/>
          </a:prstGeom>
          <a:solidFill>
            <a:srgbClr val="D98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flipV="1">
            <a:off x="2948940" y="3559174"/>
            <a:ext cx="0" cy="182881"/>
          </a:xfrm>
          <a:prstGeom prst="line">
            <a:avLst/>
          </a:prstGeom>
          <a:ln w="15240">
            <a:solidFill>
              <a:srgbClr val="D98400"/>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2907792" y="3700907"/>
            <a:ext cx="82296" cy="82296"/>
          </a:xfrm>
          <a:prstGeom prst="ellipse">
            <a:avLst/>
          </a:prstGeom>
          <a:solidFill>
            <a:srgbClr val="D98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flipV="1">
            <a:off x="4091939" y="3559174"/>
            <a:ext cx="0" cy="182881"/>
          </a:xfrm>
          <a:prstGeom prst="line">
            <a:avLst/>
          </a:prstGeom>
          <a:ln w="15240">
            <a:solidFill>
              <a:srgbClr val="D98400"/>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4050791" y="3700907"/>
            <a:ext cx="82296" cy="82296"/>
          </a:xfrm>
          <a:prstGeom prst="ellipse">
            <a:avLst/>
          </a:prstGeom>
          <a:solidFill>
            <a:srgbClr val="D98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flipV="1">
            <a:off x="5234940" y="3559174"/>
            <a:ext cx="0" cy="182881"/>
          </a:xfrm>
          <a:prstGeom prst="line">
            <a:avLst/>
          </a:prstGeom>
          <a:ln w="15240">
            <a:solidFill>
              <a:srgbClr val="D98400"/>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193792" y="3700907"/>
            <a:ext cx="82296" cy="82296"/>
          </a:xfrm>
          <a:prstGeom prst="ellipse">
            <a:avLst/>
          </a:prstGeom>
          <a:solidFill>
            <a:srgbClr val="D98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 y="3431159"/>
            <a:ext cx="640080" cy="219456"/>
          </a:xfrm>
          <a:prstGeom prst="rect">
            <a:avLst/>
          </a:prstGeom>
          <a:noFill/>
        </p:spPr>
        <p:txBody>
          <a:bodyPr wrap="square" lIns="0" rIns="0" tIns="0" bIns="0" anchor="t">
            <a:spAutoFit/>
          </a:bodyPr>
          <a:lstStyle/>
          <a:p>
            <a:pPr algn="ctr">
              <a:spcBef>
                <a:spcPts val="0"/>
              </a:spcBef>
              <a:spcAft>
                <a:spcPts val="0"/>
              </a:spcAft>
            </a:pPr>
            <a:r>
              <a:rPr sz="1050" b="1" i="0">
                <a:solidFill>
                  <a:srgbClr val="D98400"/>
                </a:solidFill>
                <a:latin typeface="Consolas"/>
              </a:rPr>
              <a:t>CLK</a:t>
            </a:r>
          </a:p>
        </p:txBody>
      </p:sp>
      <p:cxnSp>
        <p:nvCxnSpPr>
          <p:cNvPr id="48" name="Connector 47"/>
          <p:cNvCxnSpPr/>
          <p:nvPr/>
        </p:nvCxnSpPr>
        <p:spPr>
          <a:xfrm>
            <a:off x="1371600" y="4254118"/>
            <a:ext cx="0" cy="128016"/>
          </a:xfrm>
          <a:prstGeom prst="line">
            <a:avLst/>
          </a:prstGeom>
          <a:ln w="13970">
            <a:solidFill>
              <a:srgbClr val="788897"/>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669280" y="4254118"/>
            <a:ext cx="0" cy="128016"/>
          </a:xfrm>
          <a:prstGeom prst="line">
            <a:avLst/>
          </a:prstGeom>
          <a:ln w="13970">
            <a:solidFill>
              <a:srgbClr val="788897"/>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371600" y="4382134"/>
            <a:ext cx="4297680" cy="0"/>
          </a:xfrm>
          <a:prstGeom prst="line">
            <a:avLst/>
          </a:prstGeom>
          <a:ln w="13970">
            <a:solidFill>
              <a:srgbClr val="788897"/>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05840" y="4418710"/>
            <a:ext cx="5074920" cy="219456"/>
          </a:xfrm>
          <a:prstGeom prst="rect">
            <a:avLst/>
          </a:prstGeom>
          <a:noFill/>
        </p:spPr>
        <p:txBody>
          <a:bodyPr wrap="square" lIns="0" rIns="0" tIns="0" bIns="0" anchor="t">
            <a:spAutoFit/>
          </a:bodyPr>
          <a:lstStyle/>
          <a:p>
            <a:pPr algn="ctr">
              <a:spcBef>
                <a:spcPts val="0"/>
              </a:spcBef>
              <a:spcAft>
                <a:spcPts val="0"/>
              </a:spcAft>
            </a:pPr>
            <a:r>
              <a:rPr sz="1000" b="1" i="0">
                <a:solidFill>
                  <a:srgbClr val="11212E"/>
                </a:solidFill>
                <a:latin typeface="Segoe UI"/>
              </a:rPr>
              <a:t>one 4-bit register — value stored = Q₃Q₂Q₁Q₀</a:t>
            </a:r>
          </a:p>
        </p:txBody>
      </p:sp>
      <p:sp>
        <p:nvSpPr>
          <p:cNvPr id="52" name="TextBox 51"/>
          <p:cNvSpPr txBox="1"/>
          <p:nvPr/>
        </p:nvSpPr>
        <p:spPr>
          <a:xfrm>
            <a:off x="960120" y="4711318"/>
            <a:ext cx="219456" cy="274320"/>
          </a:xfrm>
          <a:prstGeom prst="rect">
            <a:avLst/>
          </a:prstGeom>
          <a:noFill/>
        </p:spPr>
        <p:txBody>
          <a:bodyPr wrap="square" lIns="0" rIns="0" tIns="0" bIns="0" anchor="t">
            <a:spAutoFit/>
          </a:bodyPr>
          <a:lstStyle/>
          <a:p>
            <a:pPr algn="l">
              <a:spcBef>
                <a:spcPts val="0"/>
              </a:spcBef>
              <a:spcAft>
                <a:spcPts val="0"/>
              </a:spcAft>
            </a:pPr>
            <a:r>
              <a:rPr sz="1100" b="1" i="0">
                <a:solidFill>
                  <a:srgbClr val="0E7C86"/>
                </a:solidFill>
                <a:latin typeface="Segoe UI"/>
              </a:rPr>
              <a:t>•</a:t>
            </a:r>
          </a:p>
        </p:txBody>
      </p:sp>
      <p:sp>
        <p:nvSpPr>
          <p:cNvPr id="53" name="TextBox 52"/>
          <p:cNvSpPr txBox="1"/>
          <p:nvPr/>
        </p:nvSpPr>
        <p:spPr>
          <a:xfrm>
            <a:off x="1234440" y="4711318"/>
            <a:ext cx="4160520" cy="385686"/>
          </a:xfrm>
          <a:prstGeom prst="rect">
            <a:avLst/>
          </a:prstGeom>
          <a:noFill/>
        </p:spPr>
        <p:txBody>
          <a:bodyPr wrap="square" lIns="0" rIns="0" tIns="0" bIns="0" anchor="t">
            <a:spAutoFit/>
          </a:bodyPr>
          <a:lstStyle/>
          <a:p>
            <a:pPr algn="l">
              <a:lnSpc>
                <a:spcPct val="105000"/>
              </a:lnSpc>
              <a:spcBef>
                <a:spcPts val="0"/>
              </a:spcBef>
              <a:spcAft>
                <a:spcPts val="0"/>
              </a:spcAft>
            </a:pPr>
            <a:r>
              <a:rPr sz="1100" b="1" i="0">
                <a:solidFill>
                  <a:srgbClr val="11212E"/>
                </a:solidFill>
                <a:latin typeface="Segoe UI"/>
              </a:rPr>
              <a:t>One clock, one update. </a:t>
            </a:r>
            <a:r>
              <a:rPr sz="1100" b="0" i="0">
                <a:solidFill>
                  <a:srgbClr val="11212E"/>
                </a:solidFill>
                <a:latin typeface="Segoe UI"/>
              </a:rPr>
              <a:t>All bits change together, so a word is never half-written.</a:t>
            </a:r>
          </a:p>
        </p:txBody>
      </p:sp>
      <p:sp>
        <p:nvSpPr>
          <p:cNvPr id="54" name="TextBox 53"/>
          <p:cNvSpPr txBox="1"/>
          <p:nvPr/>
        </p:nvSpPr>
        <p:spPr>
          <a:xfrm>
            <a:off x="960120" y="5315628"/>
            <a:ext cx="219456" cy="274320"/>
          </a:xfrm>
          <a:prstGeom prst="rect">
            <a:avLst/>
          </a:prstGeom>
          <a:noFill/>
        </p:spPr>
        <p:txBody>
          <a:bodyPr wrap="square" lIns="0" rIns="0" tIns="0" bIns="0" anchor="t">
            <a:spAutoFit/>
          </a:bodyPr>
          <a:lstStyle/>
          <a:p>
            <a:pPr algn="l">
              <a:spcBef>
                <a:spcPts val="0"/>
              </a:spcBef>
              <a:spcAft>
                <a:spcPts val="0"/>
              </a:spcAft>
            </a:pPr>
            <a:r>
              <a:rPr sz="1100" b="1" i="0">
                <a:solidFill>
                  <a:srgbClr val="0E7C86"/>
                </a:solidFill>
                <a:latin typeface="Segoe UI"/>
              </a:rPr>
              <a:t>•</a:t>
            </a:r>
          </a:p>
        </p:txBody>
      </p:sp>
      <p:sp>
        <p:nvSpPr>
          <p:cNvPr id="55" name="TextBox 54"/>
          <p:cNvSpPr txBox="1"/>
          <p:nvPr/>
        </p:nvSpPr>
        <p:spPr>
          <a:xfrm>
            <a:off x="1234440" y="5315628"/>
            <a:ext cx="4160520" cy="211131"/>
          </a:xfrm>
          <a:prstGeom prst="rect">
            <a:avLst/>
          </a:prstGeom>
          <a:noFill/>
        </p:spPr>
        <p:txBody>
          <a:bodyPr wrap="square" lIns="0" rIns="0" tIns="0" bIns="0" anchor="t">
            <a:spAutoFit/>
          </a:bodyPr>
          <a:lstStyle/>
          <a:p>
            <a:pPr algn="l">
              <a:lnSpc>
                <a:spcPct val="105000"/>
              </a:lnSpc>
              <a:spcBef>
                <a:spcPts val="0"/>
              </a:spcBef>
              <a:spcAft>
                <a:spcPts val="0"/>
              </a:spcAft>
            </a:pPr>
            <a:r>
              <a:rPr sz="1100" b="1" i="0">
                <a:solidFill>
                  <a:srgbClr val="11212E"/>
                </a:solidFill>
                <a:latin typeface="Segoe UI"/>
              </a:rPr>
              <a:t>Width = flip-flop count. </a:t>
            </a:r>
            <a:r>
              <a:rPr sz="1100" b="0" i="0">
                <a:solidFill>
                  <a:srgbClr val="11212E"/>
                </a:solidFill>
                <a:latin typeface="Segoe UI"/>
              </a:rPr>
              <a:t>An 8-bit register is 8 flip-flops.</a:t>
            </a:r>
          </a:p>
        </p:txBody>
      </p:sp>
      <p:sp>
        <p:nvSpPr>
          <p:cNvPr id="56" name="TextBox 55"/>
          <p:cNvSpPr txBox="1"/>
          <p:nvPr/>
        </p:nvSpPr>
        <p:spPr>
          <a:xfrm>
            <a:off x="5989320" y="1748663"/>
            <a:ext cx="5486400" cy="274320"/>
          </a:xfrm>
          <a:prstGeom prst="rect">
            <a:avLst/>
          </a:prstGeom>
          <a:noFill/>
        </p:spPr>
        <p:txBody>
          <a:bodyPr wrap="square" lIns="0" rIns="0" tIns="0" bIns="0" anchor="t">
            <a:spAutoFit/>
          </a:bodyPr>
          <a:lstStyle/>
          <a:p>
            <a:pPr algn="l">
              <a:spcBef>
                <a:spcPts val="0"/>
              </a:spcBef>
              <a:spcAft>
                <a:spcPts val="0"/>
              </a:spcAft>
            </a:pPr>
            <a:r>
              <a:rPr sz="1400" b="1" i="0">
                <a:solidFill>
                  <a:srgbClr val="11212E"/>
                </a:solidFill>
                <a:latin typeface="Segoe UI Semibold"/>
              </a:rPr>
              <a:t>Registers you will meet inside a CPU</a:t>
            </a:r>
          </a:p>
        </p:txBody>
      </p:sp>
      <p:graphicFrame>
        <p:nvGraphicFramePr>
          <p:cNvPr id="57" name="Table 56"/>
          <p:cNvGraphicFramePr>
            <a:graphicFrameLocks noGrp="1"/>
          </p:cNvGraphicFramePr>
          <p:nvPr/>
        </p:nvGraphicFramePr>
        <p:xfrm>
          <a:off x="5989320" y="2114423"/>
          <a:ext cx="5486399" cy="2377440"/>
        </p:xfrm>
        <a:graphic>
          <a:graphicData uri="http://schemas.openxmlformats.org/drawingml/2006/table">
            <a:tbl>
              <a:tblPr firstRow="1" bandRow="0">
                <a:tableStyleId>{5C22544A-7EE6-4342-B048-85BDC9FD1C3A}</a:tableStyleId>
              </a:tblPr>
              <a:tblGrid>
                <a:gridCol w="603504"/>
                <a:gridCol w="2084831"/>
                <a:gridCol w="2798064"/>
              </a:tblGrid>
              <a:tr h="297180">
                <a:tc>
                  <a:txBody>
                    <a:bodyPr wrap="square"/>
                    <a:lstStyle/>
                    <a:p>
                      <a:pPr algn="l"/>
                      <a:r>
                        <a:rPr sz="1050" b="1">
                          <a:solidFill>
                            <a:srgbClr val="FFFFFF"/>
                          </a:solidFill>
                          <a:latin typeface="Segoe UI"/>
                        </a:rPr>
                        <a:t>Reg</a:t>
                      </a:r>
                    </a:p>
                  </a:txBody>
                  <a:tcPr marL="100584" marR="64008" marT="27432" marB="27432" anchor="ctr">
                    <a:solidFill>
                      <a:srgbClr val="0E7C86"/>
                    </a:solidFill>
                  </a:tcPr>
                </a:tc>
                <a:tc>
                  <a:txBody>
                    <a:bodyPr wrap="square"/>
                    <a:lstStyle/>
                    <a:p>
                      <a:pPr algn="l"/>
                      <a:r>
                        <a:rPr sz="1050" b="1">
                          <a:solidFill>
                            <a:srgbClr val="FFFFFF"/>
                          </a:solidFill>
                          <a:latin typeface="Segoe UI"/>
                        </a:rPr>
                        <a:t>Full name</a:t>
                      </a:r>
                    </a:p>
                  </a:txBody>
                  <a:tcPr marL="100584" marR="64008" marT="27432" marB="27432" anchor="ctr">
                    <a:solidFill>
                      <a:srgbClr val="0E7C86"/>
                    </a:solidFill>
                  </a:tcPr>
                </a:tc>
                <a:tc>
                  <a:txBody>
                    <a:bodyPr wrap="square"/>
                    <a:lstStyle/>
                    <a:p>
                      <a:pPr algn="l"/>
                      <a:r>
                        <a:rPr sz="1050" b="1">
                          <a:solidFill>
                            <a:srgbClr val="FFFFFF"/>
                          </a:solidFill>
                          <a:latin typeface="Segoe UI"/>
                        </a:rPr>
                        <a:t>Holds</a:t>
                      </a:r>
                    </a:p>
                  </a:txBody>
                  <a:tcPr marL="100584" marR="64008" marT="27432" marB="27432" anchor="ctr">
                    <a:solidFill>
                      <a:srgbClr val="0E7C86"/>
                    </a:solidFill>
                  </a:tcPr>
                </a:tc>
              </a:tr>
              <a:tr h="297180">
                <a:tc>
                  <a:txBody>
                    <a:bodyPr wrap="square"/>
                    <a:lstStyle/>
                    <a:p>
                      <a:pPr algn="l"/>
                      <a:r>
                        <a:rPr sz="1050" b="1">
                          <a:solidFill>
                            <a:srgbClr val="11212E"/>
                          </a:solidFill>
                          <a:latin typeface="Segoe UI"/>
                        </a:rPr>
                        <a:t>PC</a:t>
                      </a:r>
                    </a:p>
                  </a:txBody>
                  <a:tcPr marL="100584" marR="64008" marT="27432" marB="27432" anchor="ctr">
                    <a:solidFill>
                      <a:srgbClr val="FFFFFF"/>
                    </a:solidFill>
                  </a:tcPr>
                </a:tc>
                <a:tc>
                  <a:txBody>
                    <a:bodyPr wrap="square"/>
                    <a:lstStyle/>
                    <a:p>
                      <a:pPr algn="l"/>
                      <a:r>
                        <a:rPr sz="1050">
                          <a:solidFill>
                            <a:srgbClr val="4A5A69"/>
                          </a:solidFill>
                          <a:latin typeface="Segoe UI"/>
                        </a:rPr>
                        <a:t>Program Counter</a:t>
                      </a:r>
                    </a:p>
                  </a:txBody>
                  <a:tcPr marL="100584" marR="64008" marT="27432" marB="27432" anchor="ctr">
                    <a:solidFill>
                      <a:srgbClr val="FFFFFF"/>
                    </a:solidFill>
                  </a:tcPr>
                </a:tc>
                <a:tc>
                  <a:txBody>
                    <a:bodyPr wrap="square"/>
                    <a:lstStyle/>
                    <a:p>
                      <a:pPr algn="l"/>
                      <a:r>
                        <a:rPr sz="1050">
                          <a:solidFill>
                            <a:srgbClr val="4A5A69"/>
                          </a:solidFill>
                          <a:latin typeface="Segoe UI"/>
                        </a:rPr>
                        <a:t>address of the next instruction</a:t>
                      </a:r>
                    </a:p>
                  </a:txBody>
                  <a:tcPr marL="100584" marR="64008" marT="27432" marB="27432" anchor="ctr">
                    <a:solidFill>
                      <a:srgbClr val="FFFFFF"/>
                    </a:solidFill>
                  </a:tcPr>
                </a:tc>
              </a:tr>
              <a:tr h="297180">
                <a:tc>
                  <a:txBody>
                    <a:bodyPr wrap="square"/>
                    <a:lstStyle/>
                    <a:p>
                      <a:pPr algn="l"/>
                      <a:r>
                        <a:rPr sz="1050" b="1">
                          <a:solidFill>
                            <a:srgbClr val="11212E"/>
                          </a:solidFill>
                          <a:latin typeface="Segoe UI"/>
                        </a:rPr>
                        <a:t>IR</a:t>
                      </a:r>
                    </a:p>
                  </a:txBody>
                  <a:tcPr marL="100584" marR="64008" marT="27432" marB="27432" anchor="ctr">
                    <a:solidFill>
                      <a:srgbClr val="F1F6F8"/>
                    </a:solidFill>
                  </a:tcPr>
                </a:tc>
                <a:tc>
                  <a:txBody>
                    <a:bodyPr wrap="square"/>
                    <a:lstStyle/>
                    <a:p>
                      <a:pPr algn="l"/>
                      <a:r>
                        <a:rPr sz="1050">
                          <a:solidFill>
                            <a:srgbClr val="4A5A69"/>
                          </a:solidFill>
                          <a:latin typeface="Segoe UI"/>
                        </a:rPr>
                        <a:t>Instruction Register</a:t>
                      </a:r>
                    </a:p>
                  </a:txBody>
                  <a:tcPr marL="100584" marR="64008" marT="27432" marB="27432" anchor="ctr">
                    <a:solidFill>
                      <a:srgbClr val="F1F6F8"/>
                    </a:solidFill>
                  </a:tcPr>
                </a:tc>
                <a:tc>
                  <a:txBody>
                    <a:bodyPr wrap="square"/>
                    <a:lstStyle/>
                    <a:p>
                      <a:pPr algn="l"/>
                      <a:r>
                        <a:rPr sz="1050">
                          <a:solidFill>
                            <a:srgbClr val="4A5A69"/>
                          </a:solidFill>
                          <a:latin typeface="Segoe UI"/>
                        </a:rPr>
                        <a:t>the instruction being decoded</a:t>
                      </a:r>
                    </a:p>
                  </a:txBody>
                  <a:tcPr marL="100584" marR="64008" marT="27432" marB="27432" anchor="ctr">
                    <a:solidFill>
                      <a:srgbClr val="F1F6F8"/>
                    </a:solidFill>
                  </a:tcPr>
                </a:tc>
              </a:tr>
              <a:tr h="297180">
                <a:tc>
                  <a:txBody>
                    <a:bodyPr wrap="square"/>
                    <a:lstStyle/>
                    <a:p>
                      <a:pPr algn="l"/>
                      <a:r>
                        <a:rPr sz="1050" b="1">
                          <a:solidFill>
                            <a:srgbClr val="11212E"/>
                          </a:solidFill>
                          <a:latin typeface="Segoe UI"/>
                        </a:rPr>
                        <a:t>MAR</a:t>
                      </a:r>
                    </a:p>
                  </a:txBody>
                  <a:tcPr marL="100584" marR="64008" marT="27432" marB="27432" anchor="ctr">
                    <a:solidFill>
                      <a:srgbClr val="FFFFFF"/>
                    </a:solidFill>
                  </a:tcPr>
                </a:tc>
                <a:tc>
                  <a:txBody>
                    <a:bodyPr wrap="square"/>
                    <a:lstStyle/>
                    <a:p>
                      <a:pPr algn="l"/>
                      <a:r>
                        <a:rPr sz="1050">
                          <a:solidFill>
                            <a:srgbClr val="4A5A69"/>
                          </a:solidFill>
                          <a:latin typeface="Segoe UI"/>
                        </a:rPr>
                        <a:t>Memory Address Register</a:t>
                      </a:r>
                    </a:p>
                  </a:txBody>
                  <a:tcPr marL="100584" marR="64008" marT="27432" marB="27432" anchor="ctr">
                    <a:solidFill>
                      <a:srgbClr val="FFFFFF"/>
                    </a:solidFill>
                  </a:tcPr>
                </a:tc>
                <a:tc>
                  <a:txBody>
                    <a:bodyPr wrap="square"/>
                    <a:lstStyle/>
                    <a:p>
                      <a:pPr algn="l"/>
                      <a:r>
                        <a:rPr sz="1050">
                          <a:solidFill>
                            <a:srgbClr val="4A5A69"/>
                          </a:solidFill>
                          <a:latin typeface="Segoe UI"/>
                        </a:rPr>
                        <a:t>address sent to memory</a:t>
                      </a:r>
                    </a:p>
                  </a:txBody>
                  <a:tcPr marL="100584" marR="64008" marT="27432" marB="27432" anchor="ctr">
                    <a:solidFill>
                      <a:srgbClr val="FFFFFF"/>
                    </a:solidFill>
                  </a:tcPr>
                </a:tc>
              </a:tr>
              <a:tr h="297180">
                <a:tc>
                  <a:txBody>
                    <a:bodyPr wrap="square"/>
                    <a:lstStyle/>
                    <a:p>
                      <a:pPr algn="l"/>
                      <a:r>
                        <a:rPr sz="1050" b="1">
                          <a:solidFill>
                            <a:srgbClr val="11212E"/>
                          </a:solidFill>
                          <a:latin typeface="Segoe UI"/>
                        </a:rPr>
                        <a:t>MDR</a:t>
                      </a:r>
                    </a:p>
                  </a:txBody>
                  <a:tcPr marL="100584" marR="64008" marT="27432" marB="27432" anchor="ctr">
                    <a:solidFill>
                      <a:srgbClr val="F1F6F8"/>
                    </a:solidFill>
                  </a:tcPr>
                </a:tc>
                <a:tc>
                  <a:txBody>
                    <a:bodyPr wrap="square"/>
                    <a:lstStyle/>
                    <a:p>
                      <a:pPr algn="l"/>
                      <a:r>
                        <a:rPr sz="1050">
                          <a:solidFill>
                            <a:srgbClr val="4A5A69"/>
                          </a:solidFill>
                          <a:latin typeface="Segoe UI"/>
                        </a:rPr>
                        <a:t>Memory Data Register</a:t>
                      </a:r>
                    </a:p>
                  </a:txBody>
                  <a:tcPr marL="100584" marR="64008" marT="27432" marB="27432" anchor="ctr">
                    <a:solidFill>
                      <a:srgbClr val="F1F6F8"/>
                    </a:solidFill>
                  </a:tcPr>
                </a:tc>
                <a:tc>
                  <a:txBody>
                    <a:bodyPr wrap="square"/>
                    <a:lstStyle/>
                    <a:p>
                      <a:pPr algn="l"/>
                      <a:r>
                        <a:rPr sz="1050">
                          <a:solidFill>
                            <a:srgbClr val="4A5A69"/>
                          </a:solidFill>
                          <a:latin typeface="Segoe UI"/>
                        </a:rPr>
                        <a:t>data read / to be written</a:t>
                      </a:r>
                    </a:p>
                  </a:txBody>
                  <a:tcPr marL="100584" marR="64008" marT="27432" marB="27432" anchor="ctr">
                    <a:solidFill>
                      <a:srgbClr val="F1F6F8"/>
                    </a:solidFill>
                  </a:tcPr>
                </a:tc>
              </a:tr>
              <a:tr h="297180">
                <a:tc>
                  <a:txBody>
                    <a:bodyPr wrap="square"/>
                    <a:lstStyle/>
                    <a:p>
                      <a:pPr algn="l"/>
                      <a:r>
                        <a:rPr sz="1050" b="1">
                          <a:solidFill>
                            <a:srgbClr val="11212E"/>
                          </a:solidFill>
                          <a:latin typeface="Segoe UI"/>
                        </a:rPr>
                        <a:t>ACC</a:t>
                      </a:r>
                    </a:p>
                  </a:txBody>
                  <a:tcPr marL="100584" marR="64008" marT="27432" marB="27432" anchor="ctr">
                    <a:solidFill>
                      <a:srgbClr val="FFFFFF"/>
                    </a:solidFill>
                  </a:tcPr>
                </a:tc>
                <a:tc>
                  <a:txBody>
                    <a:bodyPr wrap="square"/>
                    <a:lstStyle/>
                    <a:p>
                      <a:pPr algn="l"/>
                      <a:r>
                        <a:rPr sz="1050">
                          <a:solidFill>
                            <a:srgbClr val="4A5A69"/>
                          </a:solidFill>
                          <a:latin typeface="Segoe UI"/>
                        </a:rPr>
                        <a:t>Accumulator</a:t>
                      </a:r>
                    </a:p>
                  </a:txBody>
                  <a:tcPr marL="100584" marR="64008" marT="27432" marB="27432" anchor="ctr">
                    <a:solidFill>
                      <a:srgbClr val="FFFFFF"/>
                    </a:solidFill>
                  </a:tcPr>
                </a:tc>
                <a:tc>
                  <a:txBody>
                    <a:bodyPr wrap="square"/>
                    <a:lstStyle/>
                    <a:p>
                      <a:pPr algn="l"/>
                      <a:r>
                        <a:rPr sz="1050">
                          <a:solidFill>
                            <a:srgbClr val="4A5A69"/>
                          </a:solidFill>
                          <a:latin typeface="Segoe UI"/>
                        </a:rPr>
                        <a:t>intermediate ALU result</a:t>
                      </a:r>
                    </a:p>
                  </a:txBody>
                  <a:tcPr marL="100584" marR="64008" marT="27432" marB="27432" anchor="ctr">
                    <a:solidFill>
                      <a:srgbClr val="FFFFFF"/>
                    </a:solidFill>
                  </a:tcPr>
                </a:tc>
              </a:tr>
              <a:tr h="297180">
                <a:tc>
                  <a:txBody>
                    <a:bodyPr wrap="square"/>
                    <a:lstStyle/>
                    <a:p>
                      <a:pPr algn="l"/>
                      <a:r>
                        <a:rPr sz="1050" b="1">
                          <a:solidFill>
                            <a:srgbClr val="11212E"/>
                          </a:solidFill>
                          <a:latin typeface="Segoe UI"/>
                        </a:rPr>
                        <a:t>SP</a:t>
                      </a:r>
                    </a:p>
                  </a:txBody>
                  <a:tcPr marL="100584" marR="64008" marT="27432" marB="27432" anchor="ctr">
                    <a:solidFill>
                      <a:srgbClr val="F1F6F8"/>
                    </a:solidFill>
                  </a:tcPr>
                </a:tc>
                <a:tc>
                  <a:txBody>
                    <a:bodyPr wrap="square"/>
                    <a:lstStyle/>
                    <a:p>
                      <a:pPr algn="l"/>
                      <a:r>
                        <a:rPr sz="1050">
                          <a:solidFill>
                            <a:srgbClr val="4A5A69"/>
                          </a:solidFill>
                          <a:latin typeface="Segoe UI"/>
                        </a:rPr>
                        <a:t>Stack Pointer</a:t>
                      </a:r>
                    </a:p>
                  </a:txBody>
                  <a:tcPr marL="100584" marR="64008" marT="27432" marB="27432" anchor="ctr">
                    <a:solidFill>
                      <a:srgbClr val="F1F6F8"/>
                    </a:solidFill>
                  </a:tcPr>
                </a:tc>
                <a:tc>
                  <a:txBody>
                    <a:bodyPr wrap="square"/>
                    <a:lstStyle/>
                    <a:p>
                      <a:pPr algn="l"/>
                      <a:r>
                        <a:rPr sz="1050">
                          <a:solidFill>
                            <a:srgbClr val="4A5A69"/>
                          </a:solidFill>
                          <a:latin typeface="Segoe UI"/>
                        </a:rPr>
                        <a:t>top of the stack</a:t>
                      </a:r>
                    </a:p>
                  </a:txBody>
                  <a:tcPr marL="100584" marR="64008" marT="27432" marB="27432" anchor="ctr">
                    <a:solidFill>
                      <a:srgbClr val="F1F6F8"/>
                    </a:solidFill>
                  </a:tcPr>
                </a:tc>
              </a:tr>
              <a:tr h="297180">
                <a:tc>
                  <a:txBody>
                    <a:bodyPr wrap="square"/>
                    <a:lstStyle/>
                    <a:p>
                      <a:pPr algn="l"/>
                      <a:r>
                        <a:rPr sz="1050" b="1">
                          <a:solidFill>
                            <a:srgbClr val="11212E"/>
                          </a:solidFill>
                          <a:latin typeface="Segoe UI"/>
                        </a:rPr>
                        <a:t>PSW</a:t>
                      </a:r>
                    </a:p>
                  </a:txBody>
                  <a:tcPr marL="100584" marR="64008" marT="27432" marB="27432" anchor="ctr">
                    <a:solidFill>
                      <a:srgbClr val="FFFFFF"/>
                    </a:solidFill>
                  </a:tcPr>
                </a:tc>
                <a:tc>
                  <a:txBody>
                    <a:bodyPr wrap="square"/>
                    <a:lstStyle/>
                    <a:p>
                      <a:pPr algn="l"/>
                      <a:r>
                        <a:rPr sz="1050">
                          <a:solidFill>
                            <a:srgbClr val="4A5A69"/>
                          </a:solidFill>
                          <a:latin typeface="Segoe UI"/>
                        </a:rPr>
                        <a:t>Status / Flags</a:t>
                      </a:r>
                    </a:p>
                  </a:txBody>
                  <a:tcPr marL="100584" marR="64008" marT="27432" marB="27432" anchor="ctr">
                    <a:solidFill>
                      <a:srgbClr val="FFFFFF"/>
                    </a:solidFill>
                  </a:tcPr>
                </a:tc>
                <a:tc>
                  <a:txBody>
                    <a:bodyPr wrap="square"/>
                    <a:lstStyle/>
                    <a:p>
                      <a:pPr algn="l"/>
                      <a:r>
                        <a:rPr sz="1050">
                          <a:solidFill>
                            <a:srgbClr val="4A5A69"/>
                          </a:solidFill>
                          <a:latin typeface="Segoe UI"/>
                        </a:rPr>
                        <a:t>zero, carry, sign, overflow</a:t>
                      </a:r>
                    </a:p>
                  </a:txBody>
                  <a:tcPr marL="100584" marR="64008" marT="27432" marB="27432" anchor="ctr">
                    <a:solidFill>
                      <a:srgbClr val="FFFFFF"/>
                    </a:solidFill>
                  </a:tcPr>
                </a:tc>
              </a:tr>
            </a:tbl>
          </a:graphicData>
        </a:graphic>
      </p:graphicFrame>
      <p:sp>
        <p:nvSpPr>
          <p:cNvPr id="58" name="TextBox 57"/>
          <p:cNvSpPr txBox="1"/>
          <p:nvPr/>
        </p:nvSpPr>
        <p:spPr>
          <a:xfrm>
            <a:off x="5989320" y="4565015"/>
            <a:ext cx="5486400" cy="237744"/>
          </a:xfrm>
          <a:prstGeom prst="rect">
            <a:avLst/>
          </a:prstGeom>
          <a:noFill/>
        </p:spPr>
        <p:txBody>
          <a:bodyPr wrap="square" lIns="0" rIns="0" tIns="0" bIns="0" anchor="t">
            <a:spAutoFit/>
          </a:bodyPr>
          <a:lstStyle/>
          <a:p>
            <a:pPr algn="l">
              <a:spcBef>
                <a:spcPts val="0"/>
              </a:spcBef>
              <a:spcAft>
                <a:spcPts val="0"/>
              </a:spcAft>
            </a:pPr>
            <a:r>
              <a:rPr sz="1350" b="1" i="0">
                <a:solidFill>
                  <a:srgbClr val="11212E"/>
                </a:solidFill>
                <a:latin typeface="Segoe UI Semibold"/>
              </a:rPr>
              <a:t>Register transfer notation</a:t>
            </a:r>
          </a:p>
        </p:txBody>
      </p:sp>
      <p:sp>
        <p:nvSpPr>
          <p:cNvPr id="59" name="Rounded Rectangle 58"/>
          <p:cNvSpPr/>
          <p:nvPr/>
        </p:nvSpPr>
        <p:spPr>
          <a:xfrm>
            <a:off x="5989320" y="4857623"/>
            <a:ext cx="5486400" cy="512064"/>
          </a:xfrm>
          <a:prstGeom prst="roundRect">
            <a:avLst>
              <a:gd name="adj" fmla="val 5000"/>
            </a:avLst>
          </a:prstGeom>
          <a:solidFill>
            <a:srgbClr val="0F24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6245352" y="5003927"/>
            <a:ext cx="4974336" cy="237743"/>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D6F0EE"/>
                </a:solidFill>
                <a:latin typeface="Consolas"/>
              </a:rPr>
              <a:t>R2 ← R1    copy     R3 ← R1 + R2    add</a:t>
            </a:r>
          </a:p>
        </p:txBody>
      </p:sp>
      <p:sp>
        <p:nvSpPr>
          <p:cNvPr id="61" name="TextBox 60"/>
          <p:cNvSpPr txBox="1"/>
          <p:nvPr/>
        </p:nvSpPr>
        <p:spPr>
          <a:xfrm>
            <a:off x="5989320" y="5461127"/>
            <a:ext cx="5486400" cy="365760"/>
          </a:xfrm>
          <a:prstGeom prst="rect">
            <a:avLst/>
          </a:prstGeom>
          <a:noFill/>
        </p:spPr>
        <p:txBody>
          <a:bodyPr wrap="square" lIns="0" rIns="0" tIns="0" bIns="0" anchor="t">
            <a:spAutoFit/>
          </a:bodyPr>
          <a:lstStyle/>
          <a:p>
            <a:pPr algn="l">
              <a:spcBef>
                <a:spcPts val="0"/>
              </a:spcBef>
              <a:spcAft>
                <a:spcPts val="0"/>
              </a:spcAft>
            </a:pPr>
            <a:r>
              <a:rPr sz="1000" b="1" i="0">
                <a:solidFill>
                  <a:srgbClr val="11212E"/>
                </a:solidFill>
                <a:latin typeface="Segoe UI"/>
              </a:rPr>
              <a:t>Read right to left: </a:t>
            </a:r>
            <a:r>
              <a:rPr sz="1000" b="0" i="0">
                <a:solidFill>
                  <a:srgbClr val="4A5A69"/>
                </a:solidFill>
                <a:latin typeface="Segoe UI"/>
              </a:rPr>
              <a:t>the source is copied, the destination overwritten.</a:t>
            </a:r>
          </a:p>
        </p:txBody>
      </p:sp>
      <p:sp>
        <p:nvSpPr>
          <p:cNvPr id="62" name="Rectangle 61"/>
          <p:cNvSpPr/>
          <p:nvPr/>
        </p:nvSpPr>
        <p:spPr>
          <a:xfrm>
            <a:off x="685800" y="5632704"/>
            <a:ext cx="10835640" cy="475488"/>
          </a:xfrm>
          <a:prstGeom prst="rect">
            <a:avLst/>
          </a:prstGeom>
          <a:solidFill>
            <a:srgbClr val="E8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685800" y="5632704"/>
            <a:ext cx="50292" cy="47548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86968" y="5715000"/>
            <a:ext cx="10451592" cy="310896"/>
          </a:xfrm>
          <a:prstGeom prst="rect">
            <a:avLst/>
          </a:prstGeom>
          <a:noFill/>
        </p:spPr>
        <p:txBody>
          <a:bodyPr wrap="square" lIns="0" rIns="0" tIns="0" bIns="0" anchor="t">
            <a:spAutoFit/>
          </a:bodyPr>
          <a:lstStyle/>
          <a:p>
            <a:pPr algn="l">
              <a:lnSpc>
                <a:spcPct val="106000"/>
              </a:lnSpc>
              <a:spcBef>
                <a:spcPts val="0"/>
              </a:spcBef>
              <a:spcAft>
                <a:spcPts val="0"/>
              </a:spcAft>
            </a:pPr>
            <a:r>
              <a:rPr sz="1050" b="1" i="0">
                <a:solidFill>
                  <a:srgbClr val="0A5A62"/>
                </a:solidFill>
                <a:latin typeface="Segoe UI"/>
              </a:rPr>
              <a:t>SAY THIS:  </a:t>
            </a:r>
            <a:r>
              <a:rPr sz="1250" b="0" i="0">
                <a:solidFill>
                  <a:srgbClr val="11212E"/>
                </a:solidFill>
                <a:latin typeface="Segoe UI"/>
              </a:rPr>
              <a:t>A register is a row of flip-flops that all take a new value at the same instant.</a:t>
            </a:r>
          </a:p>
        </p:txBody>
      </p:sp>
      <p:sp>
        <p:nvSpPr>
          <p:cNvPr id="65" name="Rectangle 64"/>
          <p:cNvSpPr/>
          <p:nvPr/>
        </p:nvSpPr>
        <p:spPr>
          <a:xfrm>
            <a:off x="685800" y="6327648"/>
            <a:ext cx="10820095" cy="10972"/>
          </a:xfrm>
          <a:prstGeom prst="rect">
            <a:avLst/>
          </a:prstGeom>
          <a:solidFill>
            <a:srgbClr val="D3DF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685800" y="6419088"/>
            <a:ext cx="6400800" cy="219456"/>
          </a:xfrm>
          <a:prstGeom prst="rect">
            <a:avLst/>
          </a:prstGeom>
          <a:noFill/>
        </p:spPr>
        <p:txBody>
          <a:bodyPr wrap="square" lIns="0" rIns="0" tIns="0" bIns="0" anchor="t">
            <a:spAutoFit/>
          </a:bodyPr>
          <a:lstStyle/>
          <a:p>
            <a:pPr algn="l">
              <a:spcBef>
                <a:spcPts val="0"/>
              </a:spcBef>
              <a:spcAft>
                <a:spcPts val="0"/>
              </a:spcAft>
            </a:pPr>
            <a:r>
              <a:rPr sz="950" b="0" i="0">
                <a:solidFill>
                  <a:srgbClr val="788897"/>
                </a:solidFill>
                <a:latin typeface="Segoe UI"/>
              </a:rPr>
              <a:t>Binary Storage and Registers</a:t>
            </a:r>
          </a:p>
        </p:txBody>
      </p:sp>
      <p:sp>
        <p:nvSpPr>
          <p:cNvPr id="67" name="TextBox 66"/>
          <p:cNvSpPr txBox="1"/>
          <p:nvPr/>
        </p:nvSpPr>
        <p:spPr>
          <a:xfrm>
            <a:off x="10865815" y="6419088"/>
            <a:ext cx="640080" cy="219456"/>
          </a:xfrm>
          <a:prstGeom prst="rect">
            <a:avLst/>
          </a:prstGeom>
          <a:noFill/>
        </p:spPr>
        <p:txBody>
          <a:bodyPr wrap="square" lIns="0" rIns="0" tIns="0" bIns="0" anchor="t">
            <a:spAutoFit/>
          </a:bodyPr>
          <a:lstStyle/>
          <a:p>
            <a:pPr algn="r">
              <a:spcBef>
                <a:spcPts val="0"/>
              </a:spcBef>
              <a:spcAft>
                <a:spcPts val="0"/>
              </a:spcAft>
            </a:pPr>
            <a:r>
              <a:rPr sz="950" b="1" i="0">
                <a:solidFill>
                  <a:srgbClr val="788897"/>
                </a:solidFill>
                <a:latin typeface="Segoe U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5800" y="384048"/>
            <a:ext cx="8229600" cy="237744"/>
          </a:xfrm>
          <a:prstGeom prst="rect">
            <a:avLst/>
          </a:prstGeom>
          <a:noFill/>
        </p:spPr>
        <p:txBody>
          <a:bodyPr wrap="square" lIns="0" rIns="0" tIns="0" bIns="0" anchor="t">
            <a:spAutoFit/>
          </a:bodyPr>
          <a:lstStyle/>
          <a:p>
            <a:pPr algn="l">
              <a:spcBef>
                <a:spcPts val="0"/>
              </a:spcBef>
              <a:spcAft>
                <a:spcPts val="0"/>
              </a:spcAft>
            </a:pPr>
            <a:r>
              <a:rPr sz="1100" b="1" i="0">
                <a:solidFill>
                  <a:srgbClr val="0E7C86"/>
                </a:solidFill>
                <a:latin typeface="Segoe UI Semibold"/>
              </a:rPr>
              <a:t>04 · CONTROL</a:t>
            </a:r>
          </a:p>
        </p:txBody>
      </p:sp>
      <p:sp>
        <p:nvSpPr>
          <p:cNvPr id="4" name="TextBox 3"/>
          <p:cNvSpPr txBox="1"/>
          <p:nvPr/>
        </p:nvSpPr>
        <p:spPr>
          <a:xfrm>
            <a:off x="685800" y="640080"/>
            <a:ext cx="10424160" cy="603504"/>
          </a:xfrm>
          <a:prstGeom prst="rect">
            <a:avLst/>
          </a:prstGeom>
          <a:noFill/>
        </p:spPr>
        <p:txBody>
          <a:bodyPr wrap="square" lIns="0" rIns="0" tIns="0" bIns="0" anchor="t">
            <a:spAutoFit/>
          </a:bodyPr>
          <a:lstStyle/>
          <a:p>
            <a:pPr algn="l">
              <a:spcBef>
                <a:spcPts val="0"/>
              </a:spcBef>
              <a:spcAft>
                <a:spcPts val="0"/>
              </a:spcAft>
            </a:pPr>
            <a:r>
              <a:rPr sz="3100" b="1" i="0">
                <a:solidFill>
                  <a:srgbClr val="11212E"/>
                </a:solidFill>
                <a:latin typeface="Segoe UI Semibold"/>
              </a:rPr>
              <a:t>Control: load, shift, and the shared bus</a:t>
            </a:r>
          </a:p>
        </p:txBody>
      </p:sp>
      <p:sp>
        <p:nvSpPr>
          <p:cNvPr id="5" name="TextBox 4"/>
          <p:cNvSpPr txBox="1"/>
          <p:nvPr/>
        </p:nvSpPr>
        <p:spPr>
          <a:xfrm>
            <a:off x="685800" y="1200023"/>
            <a:ext cx="10424160" cy="310896"/>
          </a:xfrm>
          <a:prstGeom prst="rect">
            <a:avLst/>
          </a:prstGeom>
          <a:noFill/>
        </p:spPr>
        <p:txBody>
          <a:bodyPr wrap="square" lIns="0" rIns="0" tIns="0" bIns="0" anchor="t">
            <a:spAutoFit/>
          </a:bodyPr>
          <a:lstStyle/>
          <a:p>
            <a:pPr algn="l">
              <a:spcBef>
                <a:spcPts val="0"/>
              </a:spcBef>
              <a:spcAft>
                <a:spcPts val="0"/>
              </a:spcAft>
            </a:pPr>
            <a:r>
              <a:rPr sz="1400" b="0" i="0">
                <a:solidFill>
                  <a:srgbClr val="4A5A69"/>
                </a:solidFill>
                <a:latin typeface="Segoe UI"/>
              </a:rPr>
              <a:t>A register only does something when a control signal says so — and only one output may drive the bus at a time.</a:t>
            </a:r>
          </a:p>
        </p:txBody>
      </p:sp>
      <p:sp>
        <p:nvSpPr>
          <p:cNvPr id="6" name="TextBox 5"/>
          <p:cNvSpPr txBox="1"/>
          <p:nvPr/>
        </p:nvSpPr>
        <p:spPr>
          <a:xfrm>
            <a:off x="685800" y="1712087"/>
            <a:ext cx="5440680" cy="256032"/>
          </a:xfrm>
          <a:prstGeom prst="rect">
            <a:avLst/>
          </a:prstGeom>
          <a:noFill/>
        </p:spPr>
        <p:txBody>
          <a:bodyPr wrap="square" lIns="0" rIns="0" tIns="0" bIns="0" anchor="t">
            <a:spAutoFit/>
          </a:bodyPr>
          <a:lstStyle/>
          <a:p>
            <a:pPr algn="l">
              <a:spcBef>
                <a:spcPts val="0"/>
              </a:spcBef>
              <a:spcAft>
                <a:spcPts val="0"/>
              </a:spcAft>
            </a:pPr>
            <a:r>
              <a:rPr sz="1300" b="1" i="0">
                <a:solidFill>
                  <a:srgbClr val="11212E"/>
                </a:solidFill>
                <a:latin typeface="Segoe UI Semibold"/>
              </a:rPr>
              <a:t>(a) Parallel load</a:t>
            </a:r>
          </a:p>
        </p:txBody>
      </p:sp>
      <p:sp>
        <p:nvSpPr>
          <p:cNvPr id="7" name="TextBox 6"/>
          <p:cNvSpPr txBox="1"/>
          <p:nvPr/>
        </p:nvSpPr>
        <p:spPr>
          <a:xfrm>
            <a:off x="685800" y="2004694"/>
            <a:ext cx="5440680" cy="256032"/>
          </a:xfrm>
          <a:prstGeom prst="rect">
            <a:avLst/>
          </a:prstGeom>
          <a:noFill/>
        </p:spPr>
        <p:txBody>
          <a:bodyPr wrap="square" lIns="0" rIns="0" tIns="0" bIns="0" anchor="t">
            <a:spAutoFit/>
          </a:bodyPr>
          <a:lstStyle/>
          <a:p>
            <a:pPr algn="l">
              <a:spcBef>
                <a:spcPts val="0"/>
              </a:spcBef>
              <a:spcAft>
                <a:spcPts val="0"/>
              </a:spcAft>
            </a:pPr>
            <a:r>
              <a:rPr sz="1050" b="0" i="0">
                <a:solidFill>
                  <a:srgbClr val="4A5A69"/>
                </a:solidFill>
                <a:latin typeface="Segoe UI"/>
              </a:rPr>
              <a:t>A 2:1 mux in front of each flip-flop decides: new data, or hold.</a:t>
            </a:r>
          </a:p>
        </p:txBody>
      </p:sp>
      <p:sp>
        <p:nvSpPr>
          <p:cNvPr id="8" name="TextBox 7"/>
          <p:cNvSpPr txBox="1"/>
          <p:nvPr/>
        </p:nvSpPr>
        <p:spPr>
          <a:xfrm>
            <a:off x="685800" y="2407031"/>
            <a:ext cx="329184" cy="201168"/>
          </a:xfrm>
          <a:prstGeom prst="rect">
            <a:avLst/>
          </a:prstGeom>
          <a:noFill/>
        </p:spPr>
        <p:txBody>
          <a:bodyPr wrap="square" lIns="0" rIns="0" tIns="0" bIns="0" anchor="t">
            <a:spAutoFit/>
          </a:bodyPr>
          <a:lstStyle/>
          <a:p>
            <a:pPr algn="l">
              <a:spcBef>
                <a:spcPts val="0"/>
              </a:spcBef>
              <a:spcAft>
                <a:spcPts val="0"/>
              </a:spcAft>
            </a:pPr>
            <a:r>
              <a:rPr sz="950" b="1" i="0">
                <a:solidFill>
                  <a:srgbClr val="11212E"/>
                </a:solidFill>
                <a:latin typeface="Consolas"/>
              </a:rPr>
              <a:t>D0</a:t>
            </a:r>
          </a:p>
        </p:txBody>
      </p:sp>
      <p:cxnSp>
        <p:nvCxnSpPr>
          <p:cNvPr id="9" name="Connector 8"/>
          <p:cNvCxnSpPr/>
          <p:nvPr/>
        </p:nvCxnSpPr>
        <p:spPr>
          <a:xfrm>
            <a:off x="1042415" y="2498471"/>
            <a:ext cx="1682497" cy="0"/>
          </a:xfrm>
          <a:prstGeom prst="line">
            <a:avLst/>
          </a:prstGeom>
          <a:ln w="12700">
            <a:solidFill>
              <a:srgbClr val="4A5A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rapezoid 9"/>
          <p:cNvSpPr/>
          <p:nvPr/>
        </p:nvSpPr>
        <p:spPr>
          <a:xfrm rot="16200000">
            <a:off x="2743200" y="2324735"/>
            <a:ext cx="512064" cy="347472"/>
          </a:xfrm>
          <a:prstGeom prst="trapezoid">
            <a:avLst/>
          </a:prstGeom>
          <a:solidFill>
            <a:srgbClr val="FFFFFF"/>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0" y="2370455"/>
            <a:ext cx="457200" cy="182880"/>
          </a:xfrm>
          <a:prstGeom prst="rect">
            <a:avLst/>
          </a:prstGeom>
          <a:noFill/>
        </p:spPr>
        <p:txBody>
          <a:bodyPr wrap="square" lIns="0" rIns="0" tIns="0" bIns="0" anchor="t">
            <a:spAutoFit/>
          </a:bodyPr>
          <a:lstStyle/>
          <a:p>
            <a:pPr algn="ctr">
              <a:spcBef>
                <a:spcPts val="0"/>
              </a:spcBef>
              <a:spcAft>
                <a:spcPts val="0"/>
              </a:spcAft>
            </a:pPr>
            <a:r>
              <a:rPr sz="750" b="0" i="0">
                <a:solidFill>
                  <a:srgbClr val="788897"/>
                </a:solidFill>
                <a:latin typeface="Consolas"/>
              </a:rPr>
              <a:t>0/1</a:t>
            </a:r>
          </a:p>
        </p:txBody>
      </p:sp>
      <p:cxnSp>
        <p:nvCxnSpPr>
          <p:cNvPr id="12" name="Connector 11"/>
          <p:cNvCxnSpPr/>
          <p:nvPr/>
        </p:nvCxnSpPr>
        <p:spPr>
          <a:xfrm>
            <a:off x="3273552" y="2498471"/>
            <a:ext cx="768096" cy="0"/>
          </a:xfrm>
          <a:prstGeom prst="line">
            <a:avLst/>
          </a:prstGeom>
          <a:ln w="1270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059936" y="2343023"/>
            <a:ext cx="512064" cy="310896"/>
          </a:xfrm>
          <a:prstGeom prst="roundRect">
            <a:avLst>
              <a:gd name="adj" fmla="val 10000"/>
            </a:avLst>
          </a:prstGeom>
          <a:solidFill>
            <a:srgbClr val="FFFFFF"/>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059936" y="2407031"/>
            <a:ext cx="512064" cy="201168"/>
          </a:xfrm>
          <a:prstGeom prst="rect">
            <a:avLst/>
          </a:prstGeom>
          <a:noFill/>
        </p:spPr>
        <p:txBody>
          <a:bodyPr wrap="square" lIns="0" rIns="0" tIns="0" bIns="0" anchor="t">
            <a:spAutoFit/>
          </a:bodyPr>
          <a:lstStyle/>
          <a:p>
            <a:pPr algn="ctr">
              <a:spcBef>
                <a:spcPts val="0"/>
              </a:spcBef>
              <a:spcAft>
                <a:spcPts val="0"/>
              </a:spcAft>
            </a:pPr>
            <a:r>
              <a:rPr sz="950" b="1" i="0">
                <a:solidFill>
                  <a:srgbClr val="0A5A62"/>
                </a:solidFill>
                <a:latin typeface="Consolas"/>
              </a:rPr>
              <a:t>FF</a:t>
            </a:r>
          </a:p>
        </p:txBody>
      </p:sp>
      <p:cxnSp>
        <p:nvCxnSpPr>
          <p:cNvPr id="15" name="Connector 14"/>
          <p:cNvCxnSpPr/>
          <p:nvPr/>
        </p:nvCxnSpPr>
        <p:spPr>
          <a:xfrm>
            <a:off x="4590288" y="2498471"/>
            <a:ext cx="365760" cy="0"/>
          </a:xfrm>
          <a:prstGeom prst="line">
            <a:avLst/>
          </a:prstGeom>
          <a:ln w="1270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74336" y="2407031"/>
            <a:ext cx="384048" cy="201168"/>
          </a:xfrm>
          <a:prstGeom prst="rect">
            <a:avLst/>
          </a:prstGeom>
          <a:noFill/>
        </p:spPr>
        <p:txBody>
          <a:bodyPr wrap="square" lIns="0" rIns="0" tIns="0" bIns="0" anchor="t">
            <a:spAutoFit/>
          </a:bodyPr>
          <a:lstStyle/>
          <a:p>
            <a:pPr algn="l">
              <a:spcBef>
                <a:spcPts val="0"/>
              </a:spcBef>
              <a:spcAft>
                <a:spcPts val="0"/>
              </a:spcAft>
            </a:pPr>
            <a:r>
              <a:rPr sz="950" b="1" i="0">
                <a:solidFill>
                  <a:srgbClr val="0A5A62"/>
                </a:solidFill>
                <a:latin typeface="Consolas"/>
              </a:rPr>
              <a:t>Q0</a:t>
            </a:r>
          </a:p>
        </p:txBody>
      </p:sp>
      <p:sp>
        <p:nvSpPr>
          <p:cNvPr id="17" name="TextBox 16"/>
          <p:cNvSpPr txBox="1"/>
          <p:nvPr/>
        </p:nvSpPr>
        <p:spPr>
          <a:xfrm>
            <a:off x="685800" y="2882519"/>
            <a:ext cx="329184" cy="201168"/>
          </a:xfrm>
          <a:prstGeom prst="rect">
            <a:avLst/>
          </a:prstGeom>
          <a:noFill/>
        </p:spPr>
        <p:txBody>
          <a:bodyPr wrap="square" lIns="0" rIns="0" tIns="0" bIns="0" anchor="t">
            <a:spAutoFit/>
          </a:bodyPr>
          <a:lstStyle/>
          <a:p>
            <a:pPr algn="l">
              <a:spcBef>
                <a:spcPts val="0"/>
              </a:spcBef>
              <a:spcAft>
                <a:spcPts val="0"/>
              </a:spcAft>
            </a:pPr>
            <a:r>
              <a:rPr sz="950" b="1" i="0">
                <a:solidFill>
                  <a:srgbClr val="11212E"/>
                </a:solidFill>
                <a:latin typeface="Consolas"/>
              </a:rPr>
              <a:t>D1</a:t>
            </a:r>
          </a:p>
        </p:txBody>
      </p:sp>
      <p:cxnSp>
        <p:nvCxnSpPr>
          <p:cNvPr id="18" name="Connector 17"/>
          <p:cNvCxnSpPr/>
          <p:nvPr/>
        </p:nvCxnSpPr>
        <p:spPr>
          <a:xfrm>
            <a:off x="1042415" y="2973959"/>
            <a:ext cx="1682497" cy="0"/>
          </a:xfrm>
          <a:prstGeom prst="line">
            <a:avLst/>
          </a:prstGeom>
          <a:ln w="12700">
            <a:solidFill>
              <a:srgbClr val="4A5A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rapezoid 18"/>
          <p:cNvSpPr/>
          <p:nvPr/>
        </p:nvSpPr>
        <p:spPr>
          <a:xfrm rot="16200000">
            <a:off x="2743200" y="2800223"/>
            <a:ext cx="512064" cy="347472"/>
          </a:xfrm>
          <a:prstGeom prst="trapezoid">
            <a:avLst/>
          </a:prstGeom>
          <a:solidFill>
            <a:srgbClr val="FFFFFF"/>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7520" y="2845943"/>
            <a:ext cx="457200" cy="182880"/>
          </a:xfrm>
          <a:prstGeom prst="rect">
            <a:avLst/>
          </a:prstGeom>
          <a:noFill/>
        </p:spPr>
        <p:txBody>
          <a:bodyPr wrap="square" lIns="0" rIns="0" tIns="0" bIns="0" anchor="t">
            <a:spAutoFit/>
          </a:bodyPr>
          <a:lstStyle/>
          <a:p>
            <a:pPr algn="ctr">
              <a:spcBef>
                <a:spcPts val="0"/>
              </a:spcBef>
              <a:spcAft>
                <a:spcPts val="0"/>
              </a:spcAft>
            </a:pPr>
            <a:r>
              <a:rPr sz="750" b="0" i="0">
                <a:solidFill>
                  <a:srgbClr val="788897"/>
                </a:solidFill>
                <a:latin typeface="Consolas"/>
              </a:rPr>
              <a:t>0/1</a:t>
            </a:r>
          </a:p>
        </p:txBody>
      </p:sp>
      <p:cxnSp>
        <p:nvCxnSpPr>
          <p:cNvPr id="21" name="Connector 20"/>
          <p:cNvCxnSpPr/>
          <p:nvPr/>
        </p:nvCxnSpPr>
        <p:spPr>
          <a:xfrm>
            <a:off x="3273552" y="2973959"/>
            <a:ext cx="768096" cy="0"/>
          </a:xfrm>
          <a:prstGeom prst="line">
            <a:avLst/>
          </a:prstGeom>
          <a:ln w="1270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059936" y="2818511"/>
            <a:ext cx="512064" cy="310896"/>
          </a:xfrm>
          <a:prstGeom prst="roundRect">
            <a:avLst>
              <a:gd name="adj" fmla="val 10000"/>
            </a:avLst>
          </a:prstGeom>
          <a:solidFill>
            <a:srgbClr val="FFFFFF"/>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059936" y="2882519"/>
            <a:ext cx="512064" cy="201168"/>
          </a:xfrm>
          <a:prstGeom prst="rect">
            <a:avLst/>
          </a:prstGeom>
          <a:noFill/>
        </p:spPr>
        <p:txBody>
          <a:bodyPr wrap="square" lIns="0" rIns="0" tIns="0" bIns="0" anchor="t">
            <a:spAutoFit/>
          </a:bodyPr>
          <a:lstStyle/>
          <a:p>
            <a:pPr algn="ctr">
              <a:spcBef>
                <a:spcPts val="0"/>
              </a:spcBef>
              <a:spcAft>
                <a:spcPts val="0"/>
              </a:spcAft>
            </a:pPr>
            <a:r>
              <a:rPr sz="950" b="1" i="0">
                <a:solidFill>
                  <a:srgbClr val="0A5A62"/>
                </a:solidFill>
                <a:latin typeface="Consolas"/>
              </a:rPr>
              <a:t>FF</a:t>
            </a:r>
          </a:p>
        </p:txBody>
      </p:sp>
      <p:cxnSp>
        <p:nvCxnSpPr>
          <p:cNvPr id="24" name="Connector 23"/>
          <p:cNvCxnSpPr/>
          <p:nvPr/>
        </p:nvCxnSpPr>
        <p:spPr>
          <a:xfrm>
            <a:off x="4590288" y="2973959"/>
            <a:ext cx="365760" cy="0"/>
          </a:xfrm>
          <a:prstGeom prst="line">
            <a:avLst/>
          </a:prstGeom>
          <a:ln w="1270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974336" y="2882519"/>
            <a:ext cx="384048" cy="201168"/>
          </a:xfrm>
          <a:prstGeom prst="rect">
            <a:avLst/>
          </a:prstGeom>
          <a:noFill/>
        </p:spPr>
        <p:txBody>
          <a:bodyPr wrap="square" lIns="0" rIns="0" tIns="0" bIns="0" anchor="t">
            <a:spAutoFit/>
          </a:bodyPr>
          <a:lstStyle/>
          <a:p>
            <a:pPr algn="l">
              <a:spcBef>
                <a:spcPts val="0"/>
              </a:spcBef>
              <a:spcAft>
                <a:spcPts val="0"/>
              </a:spcAft>
            </a:pPr>
            <a:r>
              <a:rPr sz="950" b="1" i="0">
                <a:solidFill>
                  <a:srgbClr val="0A5A62"/>
                </a:solidFill>
                <a:latin typeface="Consolas"/>
              </a:rPr>
              <a:t>Q1</a:t>
            </a:r>
          </a:p>
        </p:txBody>
      </p:sp>
      <p:sp>
        <p:nvSpPr>
          <p:cNvPr id="26" name="TextBox 25"/>
          <p:cNvSpPr txBox="1"/>
          <p:nvPr/>
        </p:nvSpPr>
        <p:spPr>
          <a:xfrm>
            <a:off x="685800" y="3358007"/>
            <a:ext cx="329184" cy="201168"/>
          </a:xfrm>
          <a:prstGeom prst="rect">
            <a:avLst/>
          </a:prstGeom>
          <a:noFill/>
        </p:spPr>
        <p:txBody>
          <a:bodyPr wrap="square" lIns="0" rIns="0" tIns="0" bIns="0" anchor="t">
            <a:spAutoFit/>
          </a:bodyPr>
          <a:lstStyle/>
          <a:p>
            <a:pPr algn="l">
              <a:spcBef>
                <a:spcPts val="0"/>
              </a:spcBef>
              <a:spcAft>
                <a:spcPts val="0"/>
              </a:spcAft>
            </a:pPr>
            <a:r>
              <a:rPr sz="950" b="1" i="0">
                <a:solidFill>
                  <a:srgbClr val="11212E"/>
                </a:solidFill>
                <a:latin typeface="Consolas"/>
              </a:rPr>
              <a:t>D2</a:t>
            </a:r>
          </a:p>
        </p:txBody>
      </p:sp>
      <p:cxnSp>
        <p:nvCxnSpPr>
          <p:cNvPr id="27" name="Connector 26"/>
          <p:cNvCxnSpPr/>
          <p:nvPr/>
        </p:nvCxnSpPr>
        <p:spPr>
          <a:xfrm>
            <a:off x="1042415" y="3449447"/>
            <a:ext cx="1682497" cy="0"/>
          </a:xfrm>
          <a:prstGeom prst="line">
            <a:avLst/>
          </a:prstGeom>
          <a:ln w="12700">
            <a:solidFill>
              <a:srgbClr val="4A5A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rapezoid 27"/>
          <p:cNvSpPr/>
          <p:nvPr/>
        </p:nvSpPr>
        <p:spPr>
          <a:xfrm rot="16200000">
            <a:off x="2743200" y="3275711"/>
            <a:ext cx="512064" cy="347472"/>
          </a:xfrm>
          <a:prstGeom prst="trapezoid">
            <a:avLst/>
          </a:prstGeom>
          <a:solidFill>
            <a:srgbClr val="FFFFFF"/>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17520" y="3321431"/>
            <a:ext cx="457200" cy="182880"/>
          </a:xfrm>
          <a:prstGeom prst="rect">
            <a:avLst/>
          </a:prstGeom>
          <a:noFill/>
        </p:spPr>
        <p:txBody>
          <a:bodyPr wrap="square" lIns="0" rIns="0" tIns="0" bIns="0" anchor="t">
            <a:spAutoFit/>
          </a:bodyPr>
          <a:lstStyle/>
          <a:p>
            <a:pPr algn="ctr">
              <a:spcBef>
                <a:spcPts val="0"/>
              </a:spcBef>
              <a:spcAft>
                <a:spcPts val="0"/>
              </a:spcAft>
            </a:pPr>
            <a:r>
              <a:rPr sz="750" b="0" i="0">
                <a:solidFill>
                  <a:srgbClr val="788897"/>
                </a:solidFill>
                <a:latin typeface="Consolas"/>
              </a:rPr>
              <a:t>0/1</a:t>
            </a:r>
          </a:p>
        </p:txBody>
      </p:sp>
      <p:cxnSp>
        <p:nvCxnSpPr>
          <p:cNvPr id="30" name="Connector 29"/>
          <p:cNvCxnSpPr/>
          <p:nvPr/>
        </p:nvCxnSpPr>
        <p:spPr>
          <a:xfrm>
            <a:off x="3273552" y="3449447"/>
            <a:ext cx="768096" cy="0"/>
          </a:xfrm>
          <a:prstGeom prst="line">
            <a:avLst/>
          </a:prstGeom>
          <a:ln w="1270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059936" y="3293999"/>
            <a:ext cx="512064" cy="310896"/>
          </a:xfrm>
          <a:prstGeom prst="roundRect">
            <a:avLst>
              <a:gd name="adj" fmla="val 10000"/>
            </a:avLst>
          </a:prstGeom>
          <a:solidFill>
            <a:srgbClr val="FFFFFF"/>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059936" y="3358007"/>
            <a:ext cx="512064" cy="201168"/>
          </a:xfrm>
          <a:prstGeom prst="rect">
            <a:avLst/>
          </a:prstGeom>
          <a:noFill/>
        </p:spPr>
        <p:txBody>
          <a:bodyPr wrap="square" lIns="0" rIns="0" tIns="0" bIns="0" anchor="t">
            <a:spAutoFit/>
          </a:bodyPr>
          <a:lstStyle/>
          <a:p>
            <a:pPr algn="ctr">
              <a:spcBef>
                <a:spcPts val="0"/>
              </a:spcBef>
              <a:spcAft>
                <a:spcPts val="0"/>
              </a:spcAft>
            </a:pPr>
            <a:r>
              <a:rPr sz="950" b="1" i="0">
                <a:solidFill>
                  <a:srgbClr val="0A5A62"/>
                </a:solidFill>
                <a:latin typeface="Consolas"/>
              </a:rPr>
              <a:t>FF</a:t>
            </a:r>
          </a:p>
        </p:txBody>
      </p:sp>
      <p:cxnSp>
        <p:nvCxnSpPr>
          <p:cNvPr id="33" name="Connector 32"/>
          <p:cNvCxnSpPr/>
          <p:nvPr/>
        </p:nvCxnSpPr>
        <p:spPr>
          <a:xfrm>
            <a:off x="4590288" y="3449447"/>
            <a:ext cx="365760" cy="0"/>
          </a:xfrm>
          <a:prstGeom prst="line">
            <a:avLst/>
          </a:prstGeom>
          <a:ln w="1270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974336" y="3358007"/>
            <a:ext cx="384048" cy="201168"/>
          </a:xfrm>
          <a:prstGeom prst="rect">
            <a:avLst/>
          </a:prstGeom>
          <a:noFill/>
        </p:spPr>
        <p:txBody>
          <a:bodyPr wrap="square" lIns="0" rIns="0" tIns="0" bIns="0" anchor="t">
            <a:spAutoFit/>
          </a:bodyPr>
          <a:lstStyle/>
          <a:p>
            <a:pPr algn="l">
              <a:spcBef>
                <a:spcPts val="0"/>
              </a:spcBef>
              <a:spcAft>
                <a:spcPts val="0"/>
              </a:spcAft>
            </a:pPr>
            <a:r>
              <a:rPr sz="950" b="1" i="0">
                <a:solidFill>
                  <a:srgbClr val="0A5A62"/>
                </a:solidFill>
                <a:latin typeface="Consolas"/>
              </a:rPr>
              <a:t>Q2</a:t>
            </a:r>
          </a:p>
        </p:txBody>
      </p:sp>
      <p:sp>
        <p:nvSpPr>
          <p:cNvPr id="35" name="TextBox 34"/>
          <p:cNvSpPr txBox="1"/>
          <p:nvPr/>
        </p:nvSpPr>
        <p:spPr>
          <a:xfrm>
            <a:off x="685800" y="3833494"/>
            <a:ext cx="329184" cy="201168"/>
          </a:xfrm>
          <a:prstGeom prst="rect">
            <a:avLst/>
          </a:prstGeom>
          <a:noFill/>
        </p:spPr>
        <p:txBody>
          <a:bodyPr wrap="square" lIns="0" rIns="0" tIns="0" bIns="0" anchor="t">
            <a:spAutoFit/>
          </a:bodyPr>
          <a:lstStyle/>
          <a:p>
            <a:pPr algn="l">
              <a:spcBef>
                <a:spcPts val="0"/>
              </a:spcBef>
              <a:spcAft>
                <a:spcPts val="0"/>
              </a:spcAft>
            </a:pPr>
            <a:r>
              <a:rPr sz="950" b="1" i="0">
                <a:solidFill>
                  <a:srgbClr val="11212E"/>
                </a:solidFill>
                <a:latin typeface="Consolas"/>
              </a:rPr>
              <a:t>D3</a:t>
            </a:r>
          </a:p>
        </p:txBody>
      </p:sp>
      <p:cxnSp>
        <p:nvCxnSpPr>
          <p:cNvPr id="36" name="Connector 35"/>
          <p:cNvCxnSpPr/>
          <p:nvPr/>
        </p:nvCxnSpPr>
        <p:spPr>
          <a:xfrm>
            <a:off x="1042415" y="3924935"/>
            <a:ext cx="1682497" cy="0"/>
          </a:xfrm>
          <a:prstGeom prst="line">
            <a:avLst/>
          </a:prstGeom>
          <a:ln w="12700">
            <a:solidFill>
              <a:srgbClr val="4A5A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rapezoid 36"/>
          <p:cNvSpPr/>
          <p:nvPr/>
        </p:nvSpPr>
        <p:spPr>
          <a:xfrm rot="16200000">
            <a:off x="2743200" y="3751198"/>
            <a:ext cx="512064" cy="347472"/>
          </a:xfrm>
          <a:prstGeom prst="trapezoid">
            <a:avLst/>
          </a:prstGeom>
          <a:solidFill>
            <a:srgbClr val="FFFFFF"/>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17520" y="3796918"/>
            <a:ext cx="457200" cy="182880"/>
          </a:xfrm>
          <a:prstGeom prst="rect">
            <a:avLst/>
          </a:prstGeom>
          <a:noFill/>
        </p:spPr>
        <p:txBody>
          <a:bodyPr wrap="square" lIns="0" rIns="0" tIns="0" bIns="0" anchor="t">
            <a:spAutoFit/>
          </a:bodyPr>
          <a:lstStyle/>
          <a:p>
            <a:pPr algn="ctr">
              <a:spcBef>
                <a:spcPts val="0"/>
              </a:spcBef>
              <a:spcAft>
                <a:spcPts val="0"/>
              </a:spcAft>
            </a:pPr>
            <a:r>
              <a:rPr sz="750" b="0" i="0">
                <a:solidFill>
                  <a:srgbClr val="788897"/>
                </a:solidFill>
                <a:latin typeface="Consolas"/>
              </a:rPr>
              <a:t>0/1</a:t>
            </a:r>
          </a:p>
        </p:txBody>
      </p:sp>
      <p:cxnSp>
        <p:nvCxnSpPr>
          <p:cNvPr id="39" name="Connector 38"/>
          <p:cNvCxnSpPr/>
          <p:nvPr/>
        </p:nvCxnSpPr>
        <p:spPr>
          <a:xfrm>
            <a:off x="3273552" y="3924935"/>
            <a:ext cx="768096" cy="0"/>
          </a:xfrm>
          <a:prstGeom prst="line">
            <a:avLst/>
          </a:prstGeom>
          <a:ln w="1270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059936" y="3769487"/>
            <a:ext cx="512064" cy="310896"/>
          </a:xfrm>
          <a:prstGeom prst="roundRect">
            <a:avLst>
              <a:gd name="adj" fmla="val 10000"/>
            </a:avLst>
          </a:prstGeom>
          <a:solidFill>
            <a:srgbClr val="FFFFFF"/>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059936" y="3833494"/>
            <a:ext cx="512064" cy="201168"/>
          </a:xfrm>
          <a:prstGeom prst="rect">
            <a:avLst/>
          </a:prstGeom>
          <a:noFill/>
        </p:spPr>
        <p:txBody>
          <a:bodyPr wrap="square" lIns="0" rIns="0" tIns="0" bIns="0" anchor="t">
            <a:spAutoFit/>
          </a:bodyPr>
          <a:lstStyle/>
          <a:p>
            <a:pPr algn="ctr">
              <a:spcBef>
                <a:spcPts val="0"/>
              </a:spcBef>
              <a:spcAft>
                <a:spcPts val="0"/>
              </a:spcAft>
            </a:pPr>
            <a:r>
              <a:rPr sz="950" b="1" i="0">
                <a:solidFill>
                  <a:srgbClr val="0A5A62"/>
                </a:solidFill>
                <a:latin typeface="Consolas"/>
              </a:rPr>
              <a:t>FF</a:t>
            </a:r>
          </a:p>
        </p:txBody>
      </p:sp>
      <p:cxnSp>
        <p:nvCxnSpPr>
          <p:cNvPr id="42" name="Connector 41"/>
          <p:cNvCxnSpPr/>
          <p:nvPr/>
        </p:nvCxnSpPr>
        <p:spPr>
          <a:xfrm>
            <a:off x="4590288" y="3924935"/>
            <a:ext cx="365760" cy="0"/>
          </a:xfrm>
          <a:prstGeom prst="line">
            <a:avLst/>
          </a:prstGeom>
          <a:ln w="1270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974336" y="3833494"/>
            <a:ext cx="384048" cy="201168"/>
          </a:xfrm>
          <a:prstGeom prst="rect">
            <a:avLst/>
          </a:prstGeom>
          <a:noFill/>
        </p:spPr>
        <p:txBody>
          <a:bodyPr wrap="square" lIns="0" rIns="0" tIns="0" bIns="0" anchor="t">
            <a:spAutoFit/>
          </a:bodyPr>
          <a:lstStyle/>
          <a:p>
            <a:pPr algn="l">
              <a:spcBef>
                <a:spcPts val="0"/>
              </a:spcBef>
              <a:spcAft>
                <a:spcPts val="0"/>
              </a:spcAft>
            </a:pPr>
            <a:r>
              <a:rPr sz="950" b="1" i="0">
                <a:solidFill>
                  <a:srgbClr val="0A5A62"/>
                </a:solidFill>
                <a:latin typeface="Consolas"/>
              </a:rPr>
              <a:t>Q3</a:t>
            </a:r>
          </a:p>
        </p:txBody>
      </p:sp>
      <p:cxnSp>
        <p:nvCxnSpPr>
          <p:cNvPr id="44" name="Connector 43"/>
          <p:cNvCxnSpPr/>
          <p:nvPr/>
        </p:nvCxnSpPr>
        <p:spPr>
          <a:xfrm flipV="1">
            <a:off x="2999232" y="4052951"/>
            <a:ext cx="0" cy="256032"/>
          </a:xfrm>
          <a:prstGeom prst="line">
            <a:avLst/>
          </a:prstGeom>
          <a:ln w="19050">
            <a:solidFill>
              <a:srgbClr val="D9840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2958084" y="4011803"/>
            <a:ext cx="82296" cy="82296"/>
          </a:xfrm>
          <a:prstGeom prst="ellipse">
            <a:avLst/>
          </a:prstGeom>
          <a:solidFill>
            <a:srgbClr val="D98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212848" y="4363847"/>
            <a:ext cx="676656" cy="201168"/>
          </a:xfrm>
          <a:prstGeom prst="rect">
            <a:avLst/>
          </a:prstGeom>
          <a:noFill/>
        </p:spPr>
        <p:txBody>
          <a:bodyPr wrap="square" lIns="0" rIns="0" tIns="0" bIns="0" anchor="t">
            <a:spAutoFit/>
          </a:bodyPr>
          <a:lstStyle/>
          <a:p>
            <a:pPr algn="r">
              <a:spcBef>
                <a:spcPts val="0"/>
              </a:spcBef>
              <a:spcAft>
                <a:spcPts val="0"/>
              </a:spcAft>
            </a:pPr>
            <a:r>
              <a:rPr sz="950" b="1" i="0">
                <a:solidFill>
                  <a:srgbClr val="D98400"/>
                </a:solidFill>
                <a:latin typeface="Consolas"/>
              </a:rPr>
              <a:t>LOAD</a:t>
            </a:r>
          </a:p>
        </p:txBody>
      </p:sp>
      <p:sp>
        <p:nvSpPr>
          <p:cNvPr id="47" name="TextBox 46"/>
          <p:cNvSpPr txBox="1"/>
          <p:nvPr/>
        </p:nvSpPr>
        <p:spPr>
          <a:xfrm>
            <a:off x="685800" y="4565015"/>
            <a:ext cx="5440680" cy="402336"/>
          </a:xfrm>
          <a:prstGeom prst="rect">
            <a:avLst/>
          </a:prstGeom>
          <a:noFill/>
        </p:spPr>
        <p:txBody>
          <a:bodyPr wrap="square" lIns="0" rIns="0" tIns="0" bIns="0" anchor="t">
            <a:spAutoFit/>
          </a:bodyPr>
          <a:lstStyle/>
          <a:p>
            <a:pPr algn="l">
              <a:lnSpc>
                <a:spcPct val="110000"/>
              </a:lnSpc>
              <a:spcBef>
                <a:spcPts val="0"/>
              </a:spcBef>
              <a:spcAft>
                <a:spcPts val="0"/>
              </a:spcAft>
            </a:pPr>
            <a:r>
              <a:rPr sz="950" b="0" i="0">
                <a:solidFill>
                  <a:srgbClr val="788897"/>
                </a:solidFill>
                <a:latin typeface="Segoe UI"/>
              </a:rPr>
              <a:t>Load = 1 → mux passes D, register takes the word.   Load = 0 → mux feeds Q back, value is held.</a:t>
            </a:r>
          </a:p>
        </p:txBody>
      </p:sp>
      <p:sp>
        <p:nvSpPr>
          <p:cNvPr id="48" name="TextBox 47"/>
          <p:cNvSpPr txBox="1"/>
          <p:nvPr/>
        </p:nvSpPr>
        <p:spPr>
          <a:xfrm>
            <a:off x="6355080" y="1712087"/>
            <a:ext cx="5120640" cy="256032"/>
          </a:xfrm>
          <a:prstGeom prst="rect">
            <a:avLst/>
          </a:prstGeom>
          <a:noFill/>
        </p:spPr>
        <p:txBody>
          <a:bodyPr wrap="square" lIns="0" rIns="0" tIns="0" bIns="0" anchor="t">
            <a:spAutoFit/>
          </a:bodyPr>
          <a:lstStyle/>
          <a:p>
            <a:pPr algn="l">
              <a:spcBef>
                <a:spcPts val="0"/>
              </a:spcBef>
              <a:spcAft>
                <a:spcPts val="0"/>
              </a:spcAft>
            </a:pPr>
            <a:r>
              <a:rPr sz="1300" b="1" i="0">
                <a:solidFill>
                  <a:srgbClr val="11212E"/>
                </a:solidFill>
                <a:latin typeface="Segoe UI Semibold"/>
              </a:rPr>
              <a:t>(b) Shift and rotate</a:t>
            </a:r>
          </a:p>
        </p:txBody>
      </p:sp>
      <p:sp>
        <p:nvSpPr>
          <p:cNvPr id="49" name="Rounded Rectangle 48"/>
          <p:cNvSpPr/>
          <p:nvPr/>
        </p:nvSpPr>
        <p:spPr>
          <a:xfrm>
            <a:off x="6903720" y="2077847"/>
            <a:ext cx="786384" cy="512064"/>
          </a:xfrm>
          <a:prstGeom prst="roundRect">
            <a:avLst>
              <a:gd name="adj" fmla="val 8000"/>
            </a:avLst>
          </a:prstGeom>
          <a:solidFill>
            <a:srgbClr val="FFFFFF"/>
          </a:solidFill>
          <a:ln w="1524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903720" y="2224151"/>
            <a:ext cx="786384" cy="237744"/>
          </a:xfrm>
          <a:prstGeom prst="rect">
            <a:avLst/>
          </a:prstGeom>
          <a:noFill/>
        </p:spPr>
        <p:txBody>
          <a:bodyPr wrap="square" lIns="0" rIns="0" tIns="0" bIns="0" anchor="t">
            <a:spAutoFit/>
          </a:bodyPr>
          <a:lstStyle/>
          <a:p>
            <a:pPr algn="ctr">
              <a:spcBef>
                <a:spcPts val="0"/>
              </a:spcBef>
              <a:spcAft>
                <a:spcPts val="0"/>
              </a:spcAft>
            </a:pPr>
            <a:r>
              <a:rPr sz="950" b="1" i="0">
                <a:solidFill>
                  <a:srgbClr val="0A5A62"/>
                </a:solidFill>
                <a:latin typeface="Consolas"/>
              </a:rPr>
              <a:t>FF3</a:t>
            </a:r>
          </a:p>
        </p:txBody>
      </p:sp>
      <p:cxnSp>
        <p:nvCxnSpPr>
          <p:cNvPr id="51" name="Connector 50"/>
          <p:cNvCxnSpPr/>
          <p:nvPr/>
        </p:nvCxnSpPr>
        <p:spPr>
          <a:xfrm>
            <a:off x="7699248" y="2333879"/>
            <a:ext cx="219456" cy="0"/>
          </a:xfrm>
          <a:prstGeom prst="line">
            <a:avLst/>
          </a:prstGeom>
          <a:ln w="1397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7946136" y="2077847"/>
            <a:ext cx="786384" cy="512064"/>
          </a:xfrm>
          <a:prstGeom prst="roundRect">
            <a:avLst>
              <a:gd name="adj" fmla="val 8000"/>
            </a:avLst>
          </a:prstGeom>
          <a:solidFill>
            <a:srgbClr val="FFFFFF"/>
          </a:solidFill>
          <a:ln w="1524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946136" y="2224151"/>
            <a:ext cx="786384" cy="237744"/>
          </a:xfrm>
          <a:prstGeom prst="rect">
            <a:avLst/>
          </a:prstGeom>
          <a:noFill/>
        </p:spPr>
        <p:txBody>
          <a:bodyPr wrap="square" lIns="0" rIns="0" tIns="0" bIns="0" anchor="t">
            <a:spAutoFit/>
          </a:bodyPr>
          <a:lstStyle/>
          <a:p>
            <a:pPr algn="ctr">
              <a:spcBef>
                <a:spcPts val="0"/>
              </a:spcBef>
              <a:spcAft>
                <a:spcPts val="0"/>
              </a:spcAft>
            </a:pPr>
            <a:r>
              <a:rPr sz="950" b="1" i="0">
                <a:solidFill>
                  <a:srgbClr val="0A5A62"/>
                </a:solidFill>
                <a:latin typeface="Consolas"/>
              </a:rPr>
              <a:t>FF2</a:t>
            </a:r>
          </a:p>
        </p:txBody>
      </p:sp>
      <p:cxnSp>
        <p:nvCxnSpPr>
          <p:cNvPr id="54" name="Connector 53"/>
          <p:cNvCxnSpPr/>
          <p:nvPr/>
        </p:nvCxnSpPr>
        <p:spPr>
          <a:xfrm>
            <a:off x="8741663" y="2333879"/>
            <a:ext cx="219457" cy="0"/>
          </a:xfrm>
          <a:prstGeom prst="line">
            <a:avLst/>
          </a:prstGeom>
          <a:ln w="1397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8988552" y="2077847"/>
            <a:ext cx="786384" cy="512064"/>
          </a:xfrm>
          <a:prstGeom prst="roundRect">
            <a:avLst>
              <a:gd name="adj" fmla="val 8000"/>
            </a:avLst>
          </a:prstGeom>
          <a:solidFill>
            <a:srgbClr val="FFFFFF"/>
          </a:solidFill>
          <a:ln w="1524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8988552" y="2224151"/>
            <a:ext cx="786384" cy="237744"/>
          </a:xfrm>
          <a:prstGeom prst="rect">
            <a:avLst/>
          </a:prstGeom>
          <a:noFill/>
        </p:spPr>
        <p:txBody>
          <a:bodyPr wrap="square" lIns="0" rIns="0" tIns="0" bIns="0" anchor="t">
            <a:spAutoFit/>
          </a:bodyPr>
          <a:lstStyle/>
          <a:p>
            <a:pPr algn="ctr">
              <a:spcBef>
                <a:spcPts val="0"/>
              </a:spcBef>
              <a:spcAft>
                <a:spcPts val="0"/>
              </a:spcAft>
            </a:pPr>
            <a:r>
              <a:rPr sz="950" b="1" i="0">
                <a:solidFill>
                  <a:srgbClr val="0A5A62"/>
                </a:solidFill>
                <a:latin typeface="Consolas"/>
              </a:rPr>
              <a:t>FF1</a:t>
            </a:r>
          </a:p>
        </p:txBody>
      </p:sp>
      <p:cxnSp>
        <p:nvCxnSpPr>
          <p:cNvPr id="57" name="Connector 56"/>
          <p:cNvCxnSpPr/>
          <p:nvPr/>
        </p:nvCxnSpPr>
        <p:spPr>
          <a:xfrm>
            <a:off x="9784080" y="2333879"/>
            <a:ext cx="219456" cy="0"/>
          </a:xfrm>
          <a:prstGeom prst="line">
            <a:avLst/>
          </a:prstGeom>
          <a:ln w="13970">
            <a:solidFill>
              <a:srgbClr val="0A5A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10030967" y="2077847"/>
            <a:ext cx="786384" cy="512064"/>
          </a:xfrm>
          <a:prstGeom prst="roundRect">
            <a:avLst>
              <a:gd name="adj" fmla="val 8000"/>
            </a:avLst>
          </a:prstGeom>
          <a:solidFill>
            <a:srgbClr val="FFFFFF"/>
          </a:solidFill>
          <a:ln w="1524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10030967" y="2224151"/>
            <a:ext cx="786384" cy="237744"/>
          </a:xfrm>
          <a:prstGeom prst="rect">
            <a:avLst/>
          </a:prstGeom>
          <a:noFill/>
        </p:spPr>
        <p:txBody>
          <a:bodyPr wrap="square" lIns="0" rIns="0" tIns="0" bIns="0" anchor="t">
            <a:spAutoFit/>
          </a:bodyPr>
          <a:lstStyle/>
          <a:p>
            <a:pPr algn="ctr">
              <a:spcBef>
                <a:spcPts val="0"/>
              </a:spcBef>
              <a:spcAft>
                <a:spcPts val="0"/>
              </a:spcAft>
            </a:pPr>
            <a:r>
              <a:rPr sz="950" b="1" i="0">
                <a:solidFill>
                  <a:srgbClr val="0A5A62"/>
                </a:solidFill>
                <a:latin typeface="Consolas"/>
              </a:rPr>
              <a:t>FF0</a:t>
            </a:r>
          </a:p>
        </p:txBody>
      </p:sp>
      <p:cxnSp>
        <p:nvCxnSpPr>
          <p:cNvPr id="60" name="Connector 59"/>
          <p:cNvCxnSpPr/>
          <p:nvPr/>
        </p:nvCxnSpPr>
        <p:spPr>
          <a:xfrm>
            <a:off x="6446520" y="2333879"/>
            <a:ext cx="429768" cy="0"/>
          </a:xfrm>
          <a:prstGeom prst="line">
            <a:avLst/>
          </a:prstGeom>
          <a:ln w="16510">
            <a:solidFill>
              <a:srgbClr val="D984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897879" y="2407031"/>
            <a:ext cx="932688" cy="201168"/>
          </a:xfrm>
          <a:prstGeom prst="rect">
            <a:avLst/>
          </a:prstGeom>
          <a:noFill/>
        </p:spPr>
        <p:txBody>
          <a:bodyPr wrap="square" lIns="0" rIns="0" tIns="0" bIns="0" anchor="t">
            <a:spAutoFit/>
          </a:bodyPr>
          <a:lstStyle/>
          <a:p>
            <a:pPr algn="r">
              <a:spcBef>
                <a:spcPts val="0"/>
              </a:spcBef>
              <a:spcAft>
                <a:spcPts val="0"/>
              </a:spcAft>
            </a:pPr>
            <a:r>
              <a:rPr sz="800" b="1" i="0">
                <a:solidFill>
                  <a:srgbClr val="D98400"/>
                </a:solidFill>
                <a:latin typeface="Segoe UI"/>
              </a:rPr>
              <a:t>serial in</a:t>
            </a:r>
          </a:p>
        </p:txBody>
      </p:sp>
      <p:cxnSp>
        <p:nvCxnSpPr>
          <p:cNvPr id="62" name="Connector 61"/>
          <p:cNvCxnSpPr/>
          <p:nvPr/>
        </p:nvCxnSpPr>
        <p:spPr>
          <a:xfrm>
            <a:off x="10817351" y="2333879"/>
            <a:ext cx="256032" cy="0"/>
          </a:xfrm>
          <a:prstGeom prst="line">
            <a:avLst/>
          </a:prstGeom>
          <a:ln w="15875">
            <a:solidFill>
              <a:srgbClr val="0A5A62"/>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11109959" y="2224151"/>
            <a:ext cx="640080" cy="201168"/>
          </a:xfrm>
          <a:prstGeom prst="rect">
            <a:avLst/>
          </a:prstGeom>
          <a:noFill/>
        </p:spPr>
        <p:txBody>
          <a:bodyPr wrap="square" lIns="0" rIns="0" tIns="0" bIns="0" anchor="t">
            <a:spAutoFit/>
          </a:bodyPr>
          <a:lstStyle/>
          <a:p>
            <a:pPr algn="l">
              <a:spcBef>
                <a:spcPts val="0"/>
              </a:spcBef>
              <a:spcAft>
                <a:spcPts val="0"/>
              </a:spcAft>
            </a:pPr>
            <a:r>
              <a:rPr sz="800" b="0" i="0">
                <a:solidFill>
                  <a:srgbClr val="788897"/>
                </a:solidFill>
                <a:latin typeface="Segoe UI"/>
              </a:rPr>
              <a:t>out</a:t>
            </a:r>
          </a:p>
        </p:txBody>
      </p:sp>
      <p:sp>
        <p:nvSpPr>
          <p:cNvPr id="64" name="TextBox 63"/>
          <p:cNvSpPr txBox="1"/>
          <p:nvPr/>
        </p:nvSpPr>
        <p:spPr>
          <a:xfrm>
            <a:off x="6355080" y="2754502"/>
            <a:ext cx="5120640" cy="420624"/>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4A5A69"/>
                </a:solidFill>
                <a:latin typeface="Segoe UI"/>
              </a:rPr>
              <a:t>Wire each Q to the next D and every bit moves one place per clock: left shift ×2, right shift ÷2, rotate keeps every bit.</a:t>
            </a:r>
          </a:p>
        </p:txBody>
      </p:sp>
      <p:graphicFrame>
        <p:nvGraphicFramePr>
          <p:cNvPr id="65" name="Table 64"/>
          <p:cNvGraphicFramePr>
            <a:graphicFrameLocks noGrp="1"/>
          </p:cNvGraphicFramePr>
          <p:nvPr/>
        </p:nvGraphicFramePr>
        <p:xfrm>
          <a:off x="6355080" y="3248279"/>
          <a:ext cx="2788920" cy="1097280"/>
        </p:xfrm>
        <a:graphic>
          <a:graphicData uri="http://schemas.openxmlformats.org/drawingml/2006/table">
            <a:tbl>
              <a:tblPr firstRow="1" bandRow="0">
                <a:tableStyleId>{5C22544A-7EE6-4342-B048-85BDC9FD1C3A}</a:tableStyleId>
              </a:tblPr>
              <a:tblGrid>
                <a:gridCol w="777240"/>
                <a:gridCol w="2011680"/>
              </a:tblGrid>
              <a:tr h="274320">
                <a:tc>
                  <a:txBody>
                    <a:bodyPr wrap="square"/>
                    <a:lstStyle/>
                    <a:p>
                      <a:pPr algn="l"/>
                      <a:r>
                        <a:rPr sz="950" b="1">
                          <a:solidFill>
                            <a:srgbClr val="FFFFFF"/>
                          </a:solidFill>
                          <a:latin typeface="Segoe UI"/>
                        </a:rPr>
                        <a:t>Clock</a:t>
                      </a:r>
                    </a:p>
                  </a:txBody>
                  <a:tcPr marL="100584" marR="64008" marT="27432" marB="27432" anchor="ctr">
                    <a:solidFill>
                      <a:srgbClr val="0E7C86"/>
                    </a:solidFill>
                  </a:tcPr>
                </a:tc>
                <a:tc>
                  <a:txBody>
                    <a:bodyPr wrap="square"/>
                    <a:lstStyle/>
                    <a:p>
                      <a:pPr algn="l"/>
                      <a:r>
                        <a:rPr sz="950" b="1">
                          <a:solidFill>
                            <a:srgbClr val="FFFFFF"/>
                          </a:solidFill>
                          <a:latin typeface="Segoe UI"/>
                        </a:rPr>
                        <a:t>Bits (init 1011)</a:t>
                      </a:r>
                    </a:p>
                  </a:txBody>
                  <a:tcPr marL="100584" marR="64008" marT="27432" marB="27432" anchor="ctr">
                    <a:solidFill>
                      <a:srgbClr val="0E7C86"/>
                    </a:solidFill>
                  </a:tcPr>
                </a:tc>
              </a:tr>
              <a:tr h="274320">
                <a:tc>
                  <a:txBody>
                    <a:bodyPr wrap="square"/>
                    <a:lstStyle/>
                    <a:p>
                      <a:pPr algn="l"/>
                      <a:r>
                        <a:rPr sz="950" b="1">
                          <a:solidFill>
                            <a:srgbClr val="11212E"/>
                          </a:solidFill>
                          <a:latin typeface="Segoe UI"/>
                        </a:rPr>
                        <a:t>start</a:t>
                      </a:r>
                    </a:p>
                  </a:txBody>
                  <a:tcPr marL="100584" marR="64008" marT="27432" marB="27432" anchor="ctr">
                    <a:solidFill>
                      <a:srgbClr val="FFFFFF"/>
                    </a:solidFill>
                  </a:tcPr>
                </a:tc>
                <a:tc>
                  <a:txBody>
                    <a:bodyPr wrap="square"/>
                    <a:lstStyle/>
                    <a:p>
                      <a:pPr algn="l"/>
                      <a:r>
                        <a:rPr sz="950">
                          <a:solidFill>
                            <a:srgbClr val="4A5A69"/>
                          </a:solidFill>
                          <a:latin typeface="Consolas"/>
                        </a:rPr>
                        <a:t>1011</a:t>
                      </a:r>
                    </a:p>
                  </a:txBody>
                  <a:tcPr marL="100584" marR="64008" marT="27432" marB="27432" anchor="ctr">
                    <a:solidFill>
                      <a:srgbClr val="FFFFFF"/>
                    </a:solidFill>
                  </a:tcPr>
                </a:tc>
              </a:tr>
              <a:tr h="274320">
                <a:tc>
                  <a:txBody>
                    <a:bodyPr wrap="square"/>
                    <a:lstStyle/>
                    <a:p>
                      <a:pPr algn="l"/>
                      <a:r>
                        <a:rPr sz="950" b="1">
                          <a:solidFill>
                            <a:srgbClr val="11212E"/>
                          </a:solidFill>
                          <a:latin typeface="Segoe UI"/>
                        </a:rPr>
                        <a:t>1</a:t>
                      </a:r>
                    </a:p>
                  </a:txBody>
                  <a:tcPr marL="100584" marR="64008" marT="27432" marB="27432" anchor="ctr">
                    <a:solidFill>
                      <a:srgbClr val="F1F6F8"/>
                    </a:solidFill>
                  </a:tcPr>
                </a:tc>
                <a:tc>
                  <a:txBody>
                    <a:bodyPr wrap="square"/>
                    <a:lstStyle/>
                    <a:p>
                      <a:pPr algn="l"/>
                      <a:r>
                        <a:rPr sz="950">
                          <a:solidFill>
                            <a:srgbClr val="4A5A69"/>
                          </a:solidFill>
                          <a:latin typeface="Consolas"/>
                        </a:rPr>
                        <a:t>0101 (out 1)</a:t>
                      </a:r>
                    </a:p>
                  </a:txBody>
                  <a:tcPr marL="100584" marR="64008" marT="27432" marB="27432" anchor="ctr">
                    <a:solidFill>
                      <a:srgbClr val="F1F6F8"/>
                    </a:solidFill>
                  </a:tcPr>
                </a:tc>
              </a:tr>
              <a:tr h="274320">
                <a:tc>
                  <a:txBody>
                    <a:bodyPr wrap="square"/>
                    <a:lstStyle/>
                    <a:p>
                      <a:pPr algn="l"/>
                      <a:r>
                        <a:rPr sz="950" b="1">
                          <a:solidFill>
                            <a:srgbClr val="11212E"/>
                          </a:solidFill>
                          <a:latin typeface="Segoe UI"/>
                        </a:rPr>
                        <a:t>2</a:t>
                      </a:r>
                    </a:p>
                  </a:txBody>
                  <a:tcPr marL="100584" marR="64008" marT="27432" marB="27432" anchor="ctr">
                    <a:solidFill>
                      <a:srgbClr val="FFFFFF"/>
                    </a:solidFill>
                  </a:tcPr>
                </a:tc>
                <a:tc>
                  <a:txBody>
                    <a:bodyPr wrap="square"/>
                    <a:lstStyle/>
                    <a:p>
                      <a:pPr algn="l"/>
                      <a:r>
                        <a:rPr sz="950">
                          <a:solidFill>
                            <a:srgbClr val="4A5A69"/>
                          </a:solidFill>
                          <a:latin typeface="Consolas"/>
                        </a:rPr>
                        <a:t>0010 (out 1)</a:t>
                      </a:r>
                    </a:p>
                  </a:txBody>
                  <a:tcPr marL="100584" marR="64008" marT="27432" marB="27432" anchor="ctr">
                    <a:solidFill>
                      <a:srgbClr val="FFFFFF"/>
                    </a:solidFill>
                  </a:tcPr>
                </a:tc>
              </a:tr>
            </a:tbl>
          </a:graphicData>
        </a:graphic>
      </p:graphicFrame>
      <p:sp>
        <p:nvSpPr>
          <p:cNvPr id="66" name="TextBox 65"/>
          <p:cNvSpPr txBox="1"/>
          <p:nvPr/>
        </p:nvSpPr>
        <p:spPr>
          <a:xfrm>
            <a:off x="6355080" y="4455287"/>
            <a:ext cx="5120640" cy="256032"/>
          </a:xfrm>
          <a:prstGeom prst="rect">
            <a:avLst/>
          </a:prstGeom>
          <a:noFill/>
        </p:spPr>
        <p:txBody>
          <a:bodyPr wrap="square" lIns="0" rIns="0" tIns="0" bIns="0" anchor="t">
            <a:spAutoFit/>
          </a:bodyPr>
          <a:lstStyle/>
          <a:p>
            <a:pPr algn="l">
              <a:spcBef>
                <a:spcPts val="0"/>
              </a:spcBef>
              <a:spcAft>
                <a:spcPts val="0"/>
              </a:spcAft>
            </a:pPr>
            <a:r>
              <a:rPr sz="1300" b="1" i="0">
                <a:solidFill>
                  <a:srgbClr val="11212E"/>
                </a:solidFill>
                <a:latin typeface="Segoe UI Semibold"/>
              </a:rPr>
              <a:t>(c) One bus, one driver</a:t>
            </a:r>
          </a:p>
        </p:txBody>
      </p:sp>
      <p:sp>
        <p:nvSpPr>
          <p:cNvPr id="67" name="TextBox 66"/>
          <p:cNvSpPr txBox="1"/>
          <p:nvPr/>
        </p:nvSpPr>
        <p:spPr>
          <a:xfrm>
            <a:off x="6355080" y="4711318"/>
            <a:ext cx="5120640" cy="402336"/>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4A5A69"/>
                </a:solidFill>
                <a:latin typeface="Segoe UI"/>
              </a:rPr>
              <a:t>Tri-state buffers have a third output state, high-Z, so many registers can share one bus — but only one enable may be active.</a:t>
            </a:r>
          </a:p>
        </p:txBody>
      </p:sp>
      <p:sp>
        <p:nvSpPr>
          <p:cNvPr id="68" name="Rectangle 67"/>
          <p:cNvSpPr/>
          <p:nvPr/>
        </p:nvSpPr>
        <p:spPr>
          <a:xfrm>
            <a:off x="6355080" y="5241670"/>
            <a:ext cx="5120640" cy="566928"/>
          </a:xfrm>
          <a:prstGeom prst="rect">
            <a:avLst/>
          </a:prstGeom>
          <a:solidFill>
            <a:srgbClr val="E7F0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6547104" y="5333110"/>
            <a:ext cx="4754880" cy="402336"/>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4A5A69"/>
                </a:solidFill>
                <a:latin typeface="Segoe UI"/>
              </a:rPr>
              <a:t>Two registers enabled at once → contention, </a:t>
            </a:r>
            <a:r>
              <a:rPr sz="1000" b="1" i="0">
                <a:solidFill>
                  <a:srgbClr val="D98400"/>
                </a:solidFill>
                <a:latin typeface="Segoe UI"/>
              </a:rPr>
              <a:t>a short circuit, not just a wrong value.</a:t>
            </a:r>
          </a:p>
        </p:txBody>
      </p:sp>
      <p:sp>
        <p:nvSpPr>
          <p:cNvPr id="70" name="Rectangle 69"/>
          <p:cNvSpPr/>
          <p:nvPr/>
        </p:nvSpPr>
        <p:spPr>
          <a:xfrm>
            <a:off x="685800" y="5632704"/>
            <a:ext cx="10835640" cy="475488"/>
          </a:xfrm>
          <a:prstGeom prst="rect">
            <a:avLst/>
          </a:prstGeom>
          <a:solidFill>
            <a:srgbClr val="E8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ectangle 70"/>
          <p:cNvSpPr/>
          <p:nvPr/>
        </p:nvSpPr>
        <p:spPr>
          <a:xfrm>
            <a:off x="685800" y="5632704"/>
            <a:ext cx="50292" cy="47548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886968" y="5715000"/>
            <a:ext cx="10451592" cy="310896"/>
          </a:xfrm>
          <a:prstGeom prst="rect">
            <a:avLst/>
          </a:prstGeom>
          <a:noFill/>
        </p:spPr>
        <p:txBody>
          <a:bodyPr wrap="square" lIns="0" rIns="0" tIns="0" bIns="0" anchor="t">
            <a:spAutoFit/>
          </a:bodyPr>
          <a:lstStyle/>
          <a:p>
            <a:pPr algn="l">
              <a:lnSpc>
                <a:spcPct val="106000"/>
              </a:lnSpc>
              <a:spcBef>
                <a:spcPts val="0"/>
              </a:spcBef>
              <a:spcAft>
                <a:spcPts val="0"/>
              </a:spcAft>
            </a:pPr>
            <a:r>
              <a:rPr sz="1050" b="1" i="0">
                <a:solidFill>
                  <a:srgbClr val="0A5A62"/>
                </a:solidFill>
                <a:latin typeface="Segoe UI"/>
              </a:rPr>
              <a:t>SAY THIS:  </a:t>
            </a:r>
            <a:r>
              <a:rPr sz="1250" b="0" i="0">
                <a:solidFill>
                  <a:srgbClr val="11212E"/>
                </a:solidFill>
                <a:latin typeface="Segoe UI"/>
              </a:rPr>
              <a:t>A register changes only when a control signal tells it to - and only one register may drive the shared wire.</a:t>
            </a:r>
          </a:p>
        </p:txBody>
      </p:sp>
      <p:sp>
        <p:nvSpPr>
          <p:cNvPr id="73" name="Rectangle 72"/>
          <p:cNvSpPr/>
          <p:nvPr/>
        </p:nvSpPr>
        <p:spPr>
          <a:xfrm>
            <a:off x="685800" y="6327648"/>
            <a:ext cx="10820095" cy="10972"/>
          </a:xfrm>
          <a:prstGeom prst="rect">
            <a:avLst/>
          </a:prstGeom>
          <a:solidFill>
            <a:srgbClr val="D3DF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685800" y="6419088"/>
            <a:ext cx="6400800" cy="219456"/>
          </a:xfrm>
          <a:prstGeom prst="rect">
            <a:avLst/>
          </a:prstGeom>
          <a:noFill/>
        </p:spPr>
        <p:txBody>
          <a:bodyPr wrap="square" lIns="0" rIns="0" tIns="0" bIns="0" anchor="t">
            <a:spAutoFit/>
          </a:bodyPr>
          <a:lstStyle/>
          <a:p>
            <a:pPr algn="l">
              <a:spcBef>
                <a:spcPts val="0"/>
              </a:spcBef>
              <a:spcAft>
                <a:spcPts val="0"/>
              </a:spcAft>
            </a:pPr>
            <a:r>
              <a:rPr sz="950" b="0" i="0">
                <a:solidFill>
                  <a:srgbClr val="788897"/>
                </a:solidFill>
                <a:latin typeface="Segoe UI"/>
              </a:rPr>
              <a:t>Binary Storage and Registers</a:t>
            </a:r>
          </a:p>
        </p:txBody>
      </p:sp>
      <p:sp>
        <p:nvSpPr>
          <p:cNvPr id="75" name="TextBox 74"/>
          <p:cNvSpPr txBox="1"/>
          <p:nvPr/>
        </p:nvSpPr>
        <p:spPr>
          <a:xfrm>
            <a:off x="10865815" y="6419088"/>
            <a:ext cx="640080" cy="219456"/>
          </a:xfrm>
          <a:prstGeom prst="rect">
            <a:avLst/>
          </a:prstGeom>
          <a:noFill/>
        </p:spPr>
        <p:txBody>
          <a:bodyPr wrap="square" lIns="0" rIns="0" tIns="0" bIns="0" anchor="t">
            <a:spAutoFit/>
          </a:bodyPr>
          <a:lstStyle/>
          <a:p>
            <a:pPr algn="r">
              <a:spcBef>
                <a:spcPts val="0"/>
              </a:spcBef>
              <a:spcAft>
                <a:spcPts val="0"/>
              </a:spcAft>
            </a:pPr>
            <a:r>
              <a:rPr sz="950" b="1" i="0">
                <a:solidFill>
                  <a:srgbClr val="788897"/>
                </a:solidFill>
                <a:latin typeface="Segoe U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5800" y="384048"/>
            <a:ext cx="8229600" cy="237744"/>
          </a:xfrm>
          <a:prstGeom prst="rect">
            <a:avLst/>
          </a:prstGeom>
          <a:noFill/>
        </p:spPr>
        <p:txBody>
          <a:bodyPr wrap="square" lIns="0" rIns="0" tIns="0" bIns="0" anchor="t">
            <a:spAutoFit/>
          </a:bodyPr>
          <a:lstStyle/>
          <a:p>
            <a:pPr algn="l">
              <a:spcBef>
                <a:spcPts val="0"/>
              </a:spcBef>
              <a:spcAft>
                <a:spcPts val="0"/>
              </a:spcAft>
            </a:pPr>
            <a:r>
              <a:rPr sz="1100" b="1" i="0">
                <a:solidFill>
                  <a:srgbClr val="0E7C86"/>
                </a:solidFill>
                <a:latin typeface="Segoe UI Semibold"/>
              </a:rPr>
              <a:t>05 · PLACEMENT AND EXAMPLE</a:t>
            </a:r>
          </a:p>
        </p:txBody>
      </p:sp>
      <p:sp>
        <p:nvSpPr>
          <p:cNvPr id="4" name="TextBox 3"/>
          <p:cNvSpPr txBox="1"/>
          <p:nvPr/>
        </p:nvSpPr>
        <p:spPr>
          <a:xfrm>
            <a:off x="685800" y="640080"/>
            <a:ext cx="10424160" cy="603504"/>
          </a:xfrm>
          <a:prstGeom prst="rect">
            <a:avLst/>
          </a:prstGeom>
          <a:noFill/>
        </p:spPr>
        <p:txBody>
          <a:bodyPr wrap="square" lIns="0" rIns="0" tIns="0" bIns="0" anchor="t">
            <a:spAutoFit/>
          </a:bodyPr>
          <a:lstStyle/>
          <a:p>
            <a:pPr algn="l">
              <a:spcBef>
                <a:spcPts val="0"/>
              </a:spcBef>
              <a:spcAft>
                <a:spcPts val="0"/>
              </a:spcAft>
            </a:pPr>
            <a:r>
              <a:rPr sz="3100" b="1" i="0">
                <a:solidFill>
                  <a:srgbClr val="11212E"/>
                </a:solidFill>
                <a:latin typeface="Segoe UI Semibold"/>
              </a:rPr>
              <a:t>Where registers sit, and one worked example</a:t>
            </a:r>
          </a:p>
        </p:txBody>
      </p:sp>
      <p:sp>
        <p:nvSpPr>
          <p:cNvPr id="5" name="TextBox 4"/>
          <p:cNvSpPr txBox="1"/>
          <p:nvPr/>
        </p:nvSpPr>
        <p:spPr>
          <a:xfrm>
            <a:off x="685800" y="1200023"/>
            <a:ext cx="10424160" cy="310896"/>
          </a:xfrm>
          <a:prstGeom prst="rect">
            <a:avLst/>
          </a:prstGeom>
          <a:noFill/>
        </p:spPr>
        <p:txBody>
          <a:bodyPr wrap="square" lIns="0" rIns="0" tIns="0" bIns="0" anchor="t">
            <a:spAutoFit/>
          </a:bodyPr>
          <a:lstStyle/>
          <a:p>
            <a:pPr algn="l">
              <a:spcBef>
                <a:spcPts val="0"/>
              </a:spcBef>
              <a:spcAft>
                <a:spcPts val="0"/>
              </a:spcAft>
            </a:pPr>
            <a:r>
              <a:rPr sz="1400" b="0" i="0">
                <a:solidFill>
                  <a:srgbClr val="4A5A69"/>
                </a:solidFill>
                <a:latin typeface="Segoe UI"/>
              </a:rPr>
              <a:t>Registers are the fastest, smallest storage in the machine — here is why, and what that buys us.</a:t>
            </a:r>
          </a:p>
        </p:txBody>
      </p:sp>
      <p:sp>
        <p:nvSpPr>
          <p:cNvPr id="6" name="Rounded Rectangle 5"/>
          <p:cNvSpPr/>
          <p:nvPr/>
        </p:nvSpPr>
        <p:spPr>
          <a:xfrm>
            <a:off x="685800" y="1766951"/>
            <a:ext cx="2331720" cy="621792"/>
          </a:xfrm>
          <a:prstGeom prst="roundRect">
            <a:avLst>
              <a:gd name="adj" fmla="val 10000"/>
            </a:avLst>
          </a:prstGeom>
          <a:solidFill>
            <a:srgbClr val="0A5A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77824" y="1840103"/>
            <a:ext cx="2057400" cy="256032"/>
          </a:xfrm>
          <a:prstGeom prst="rect">
            <a:avLst/>
          </a:prstGeom>
          <a:noFill/>
        </p:spPr>
        <p:txBody>
          <a:bodyPr wrap="square" lIns="0" rIns="0" tIns="0" bIns="0" anchor="t">
            <a:spAutoFit/>
          </a:bodyPr>
          <a:lstStyle/>
          <a:p>
            <a:pPr algn="l">
              <a:spcBef>
                <a:spcPts val="0"/>
              </a:spcBef>
              <a:spcAft>
                <a:spcPts val="0"/>
              </a:spcAft>
            </a:pPr>
            <a:r>
              <a:rPr sz="1150" b="1" i="0">
                <a:solidFill>
                  <a:srgbClr val="FFFFFF"/>
                </a:solidFill>
                <a:latin typeface="Segoe UI"/>
              </a:rPr>
              <a:t>Registers</a:t>
            </a:r>
          </a:p>
        </p:txBody>
      </p:sp>
      <p:sp>
        <p:nvSpPr>
          <p:cNvPr id="8" name="TextBox 7"/>
          <p:cNvSpPr txBox="1"/>
          <p:nvPr/>
        </p:nvSpPr>
        <p:spPr>
          <a:xfrm>
            <a:off x="877824" y="2096135"/>
            <a:ext cx="2057400" cy="219456"/>
          </a:xfrm>
          <a:prstGeom prst="rect">
            <a:avLst/>
          </a:prstGeom>
          <a:noFill/>
        </p:spPr>
        <p:txBody>
          <a:bodyPr wrap="square" lIns="0" rIns="0" tIns="0" bIns="0" anchor="t">
            <a:spAutoFit/>
          </a:bodyPr>
          <a:lstStyle/>
          <a:p>
            <a:pPr algn="l">
              <a:spcBef>
                <a:spcPts val="0"/>
              </a:spcBef>
              <a:spcAft>
                <a:spcPts val="0"/>
              </a:spcAft>
            </a:pPr>
            <a:r>
              <a:rPr sz="850" b="0" i="0">
                <a:solidFill>
                  <a:srgbClr val="E6F2F1"/>
                </a:solidFill>
                <a:latin typeface="Segoe UI"/>
              </a:rPr>
              <a:t>16–32 per core · &lt; 1 ns · flip-flop</a:t>
            </a:r>
          </a:p>
        </p:txBody>
      </p:sp>
      <p:sp>
        <p:nvSpPr>
          <p:cNvPr id="9" name="Rounded Rectangle 8"/>
          <p:cNvSpPr/>
          <p:nvPr/>
        </p:nvSpPr>
        <p:spPr>
          <a:xfrm>
            <a:off x="685800" y="2461895"/>
            <a:ext cx="3383280" cy="621792"/>
          </a:xfrm>
          <a:prstGeom prst="roundRect">
            <a:avLst>
              <a:gd name="adj" fmla="val 1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7824" y="2535047"/>
            <a:ext cx="3108960" cy="256032"/>
          </a:xfrm>
          <a:prstGeom prst="rect">
            <a:avLst/>
          </a:prstGeom>
          <a:noFill/>
        </p:spPr>
        <p:txBody>
          <a:bodyPr wrap="square" lIns="0" rIns="0" tIns="0" bIns="0" anchor="t">
            <a:spAutoFit/>
          </a:bodyPr>
          <a:lstStyle/>
          <a:p>
            <a:pPr algn="l">
              <a:spcBef>
                <a:spcPts val="0"/>
              </a:spcBef>
              <a:spcAft>
                <a:spcPts val="0"/>
              </a:spcAft>
            </a:pPr>
            <a:r>
              <a:rPr sz="1150" b="1" i="0">
                <a:solidFill>
                  <a:srgbClr val="FFFFFF"/>
                </a:solidFill>
                <a:latin typeface="Segoe UI"/>
              </a:rPr>
              <a:t>Cache L1/L2/L3</a:t>
            </a:r>
          </a:p>
        </p:txBody>
      </p:sp>
      <p:sp>
        <p:nvSpPr>
          <p:cNvPr id="11" name="TextBox 10"/>
          <p:cNvSpPr txBox="1"/>
          <p:nvPr/>
        </p:nvSpPr>
        <p:spPr>
          <a:xfrm>
            <a:off x="877824" y="2791079"/>
            <a:ext cx="3108960" cy="219456"/>
          </a:xfrm>
          <a:prstGeom prst="rect">
            <a:avLst/>
          </a:prstGeom>
          <a:noFill/>
        </p:spPr>
        <p:txBody>
          <a:bodyPr wrap="square" lIns="0" rIns="0" tIns="0" bIns="0" anchor="t">
            <a:spAutoFit/>
          </a:bodyPr>
          <a:lstStyle/>
          <a:p>
            <a:pPr algn="l">
              <a:spcBef>
                <a:spcPts val="0"/>
              </a:spcBef>
              <a:spcAft>
                <a:spcPts val="0"/>
              </a:spcAft>
            </a:pPr>
            <a:r>
              <a:rPr sz="850" b="0" i="0">
                <a:solidFill>
                  <a:srgbClr val="E6F2F1"/>
                </a:solidFill>
                <a:latin typeface="Segoe UI"/>
              </a:rPr>
              <a:t>KB–MB · 1–10 ns · SRAM</a:t>
            </a:r>
          </a:p>
        </p:txBody>
      </p:sp>
      <p:sp>
        <p:nvSpPr>
          <p:cNvPr id="12" name="Rounded Rectangle 11"/>
          <p:cNvSpPr/>
          <p:nvPr/>
        </p:nvSpPr>
        <p:spPr>
          <a:xfrm>
            <a:off x="685800" y="3156839"/>
            <a:ext cx="4434840" cy="621792"/>
          </a:xfrm>
          <a:prstGeom prst="roundRect">
            <a:avLst>
              <a:gd name="adj" fmla="val 10000"/>
            </a:avLst>
          </a:prstGeom>
          <a:solidFill>
            <a:srgbClr val="D98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3229991"/>
            <a:ext cx="4160520" cy="256032"/>
          </a:xfrm>
          <a:prstGeom prst="rect">
            <a:avLst/>
          </a:prstGeom>
          <a:noFill/>
        </p:spPr>
        <p:txBody>
          <a:bodyPr wrap="square" lIns="0" rIns="0" tIns="0" bIns="0" anchor="t">
            <a:spAutoFit/>
          </a:bodyPr>
          <a:lstStyle/>
          <a:p>
            <a:pPr algn="l">
              <a:spcBef>
                <a:spcPts val="0"/>
              </a:spcBef>
              <a:spcAft>
                <a:spcPts val="0"/>
              </a:spcAft>
            </a:pPr>
            <a:r>
              <a:rPr sz="1150" b="1" i="0">
                <a:solidFill>
                  <a:srgbClr val="FFFFFF"/>
                </a:solidFill>
                <a:latin typeface="Segoe UI"/>
              </a:rPr>
              <a:t>Main memory</a:t>
            </a:r>
          </a:p>
        </p:txBody>
      </p:sp>
      <p:sp>
        <p:nvSpPr>
          <p:cNvPr id="14" name="TextBox 13"/>
          <p:cNvSpPr txBox="1"/>
          <p:nvPr/>
        </p:nvSpPr>
        <p:spPr>
          <a:xfrm>
            <a:off x="877824" y="3486023"/>
            <a:ext cx="4160520" cy="219456"/>
          </a:xfrm>
          <a:prstGeom prst="rect">
            <a:avLst/>
          </a:prstGeom>
          <a:noFill/>
        </p:spPr>
        <p:txBody>
          <a:bodyPr wrap="square" lIns="0" rIns="0" tIns="0" bIns="0" anchor="t">
            <a:spAutoFit/>
          </a:bodyPr>
          <a:lstStyle/>
          <a:p>
            <a:pPr algn="l">
              <a:spcBef>
                <a:spcPts val="0"/>
              </a:spcBef>
              <a:spcAft>
                <a:spcPts val="0"/>
              </a:spcAft>
            </a:pPr>
            <a:r>
              <a:rPr sz="850" b="0" i="0">
                <a:solidFill>
                  <a:srgbClr val="E6F2F1"/>
                </a:solidFill>
                <a:latin typeface="Segoe UI"/>
              </a:rPr>
              <a:t>GB · 50–100 ns · DRAM + refresh</a:t>
            </a:r>
          </a:p>
        </p:txBody>
      </p:sp>
      <p:sp>
        <p:nvSpPr>
          <p:cNvPr id="15" name="Rounded Rectangle 14"/>
          <p:cNvSpPr/>
          <p:nvPr/>
        </p:nvSpPr>
        <p:spPr>
          <a:xfrm>
            <a:off x="685800" y="3851783"/>
            <a:ext cx="5257800" cy="621792"/>
          </a:xfrm>
          <a:prstGeom prst="roundRect">
            <a:avLst>
              <a:gd name="adj" fmla="val 10000"/>
            </a:avLst>
          </a:prstGeom>
          <a:solidFill>
            <a:srgbClr val="7888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924935"/>
            <a:ext cx="4983480" cy="256032"/>
          </a:xfrm>
          <a:prstGeom prst="rect">
            <a:avLst/>
          </a:prstGeom>
          <a:noFill/>
        </p:spPr>
        <p:txBody>
          <a:bodyPr wrap="square" lIns="0" rIns="0" tIns="0" bIns="0" anchor="t">
            <a:spAutoFit/>
          </a:bodyPr>
          <a:lstStyle/>
          <a:p>
            <a:pPr algn="l">
              <a:spcBef>
                <a:spcPts val="0"/>
              </a:spcBef>
              <a:spcAft>
                <a:spcPts val="0"/>
              </a:spcAft>
            </a:pPr>
            <a:r>
              <a:rPr sz="1150" b="1" i="0">
                <a:solidFill>
                  <a:srgbClr val="FFFFFF"/>
                </a:solidFill>
                <a:latin typeface="Segoe UI"/>
              </a:rPr>
              <a:t>SSD / HDD</a:t>
            </a:r>
          </a:p>
        </p:txBody>
      </p:sp>
      <p:sp>
        <p:nvSpPr>
          <p:cNvPr id="17" name="TextBox 16"/>
          <p:cNvSpPr txBox="1"/>
          <p:nvPr/>
        </p:nvSpPr>
        <p:spPr>
          <a:xfrm>
            <a:off x="877824" y="4180967"/>
            <a:ext cx="4983480" cy="219456"/>
          </a:xfrm>
          <a:prstGeom prst="rect">
            <a:avLst/>
          </a:prstGeom>
          <a:noFill/>
        </p:spPr>
        <p:txBody>
          <a:bodyPr wrap="square" lIns="0" rIns="0" tIns="0" bIns="0" anchor="t">
            <a:spAutoFit/>
          </a:bodyPr>
          <a:lstStyle/>
          <a:p>
            <a:pPr algn="l">
              <a:spcBef>
                <a:spcPts val="0"/>
              </a:spcBef>
              <a:spcAft>
                <a:spcPts val="0"/>
              </a:spcAft>
            </a:pPr>
            <a:r>
              <a:rPr sz="850" b="0" i="0">
                <a:solidFill>
                  <a:srgbClr val="E6F2F1"/>
                </a:solidFill>
                <a:latin typeface="Segoe UI"/>
              </a:rPr>
              <a:t>TB · µs–ms · blocks</a:t>
            </a:r>
          </a:p>
        </p:txBody>
      </p:sp>
      <p:sp>
        <p:nvSpPr>
          <p:cNvPr id="18" name="TextBox 17"/>
          <p:cNvSpPr txBox="1"/>
          <p:nvPr/>
        </p:nvSpPr>
        <p:spPr>
          <a:xfrm>
            <a:off x="685800" y="4565014"/>
            <a:ext cx="5394960" cy="237744"/>
          </a:xfrm>
          <a:prstGeom prst="rect">
            <a:avLst/>
          </a:prstGeom>
          <a:noFill/>
        </p:spPr>
        <p:txBody>
          <a:bodyPr wrap="square" lIns="0" rIns="0" tIns="0" bIns="0" anchor="t">
            <a:spAutoFit/>
          </a:bodyPr>
          <a:lstStyle/>
          <a:p>
            <a:pPr algn="l">
              <a:spcBef>
                <a:spcPts val="0"/>
              </a:spcBef>
              <a:spcAft>
                <a:spcPts val="0"/>
              </a:spcAft>
            </a:pPr>
            <a:r>
              <a:rPr sz="850" b="0" i="0">
                <a:solidFill>
                  <a:srgbClr val="788897"/>
                </a:solidFill>
                <a:latin typeface="Segoe UI"/>
              </a:rPr>
              <a:t>← faster + costlier       larger + cheaper →</a:t>
            </a:r>
          </a:p>
        </p:txBody>
      </p:sp>
      <p:sp>
        <p:nvSpPr>
          <p:cNvPr id="19" name="Rectangle 18"/>
          <p:cNvSpPr/>
          <p:nvPr/>
        </p:nvSpPr>
        <p:spPr>
          <a:xfrm>
            <a:off x="685800" y="4821047"/>
            <a:ext cx="5394960" cy="749808"/>
          </a:xfrm>
          <a:prstGeom prst="rect">
            <a:avLst/>
          </a:prstGeom>
          <a:solidFill>
            <a:srgbClr val="E7F0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77824" y="4912487"/>
            <a:ext cx="5029200" cy="219456"/>
          </a:xfrm>
          <a:prstGeom prst="rect">
            <a:avLst/>
          </a:prstGeom>
          <a:noFill/>
        </p:spPr>
        <p:txBody>
          <a:bodyPr wrap="square" lIns="0" rIns="0" tIns="0" bIns="0" anchor="t">
            <a:spAutoFit/>
          </a:bodyPr>
          <a:lstStyle/>
          <a:p>
            <a:pPr algn="l">
              <a:spcBef>
                <a:spcPts val="0"/>
              </a:spcBef>
              <a:spcAft>
                <a:spcPts val="0"/>
              </a:spcAft>
            </a:pPr>
            <a:r>
              <a:rPr sz="850" b="1" i="0">
                <a:solidFill>
                  <a:srgbClr val="0E7C86"/>
                </a:solidFill>
                <a:latin typeface="Segoe UI Semibold"/>
              </a:rPr>
              <a:t>WHY NOT ALL REGISTERS?</a:t>
            </a:r>
          </a:p>
        </p:txBody>
      </p:sp>
      <p:sp>
        <p:nvSpPr>
          <p:cNvPr id="21" name="TextBox 20"/>
          <p:cNvSpPr txBox="1"/>
          <p:nvPr/>
        </p:nvSpPr>
        <p:spPr>
          <a:xfrm>
            <a:off x="877824" y="5131942"/>
            <a:ext cx="5029200" cy="402336"/>
          </a:xfrm>
          <a:prstGeom prst="rect">
            <a:avLst/>
          </a:prstGeom>
          <a:noFill/>
        </p:spPr>
        <p:txBody>
          <a:bodyPr wrap="square" lIns="0" rIns="0" tIns="0" bIns="0" anchor="t">
            <a:spAutoFit/>
          </a:bodyPr>
          <a:lstStyle/>
          <a:p>
            <a:pPr algn="l">
              <a:lnSpc>
                <a:spcPct val="108000"/>
              </a:lnSpc>
              <a:spcBef>
                <a:spcPts val="0"/>
              </a:spcBef>
              <a:spcAft>
                <a:spcPts val="0"/>
              </a:spcAft>
            </a:pPr>
            <a:r>
              <a:rPr sz="950" b="0" i="0">
                <a:solidFill>
                  <a:srgbClr val="4A5A69"/>
                </a:solidFill>
                <a:latin typeface="Segoe UI"/>
              </a:rPr>
              <a:t>A flip-flop is ~6 transistors per bit; a DRAM cell is 1 + 1 capacitor, so registers would be ~6× the area.</a:t>
            </a:r>
          </a:p>
        </p:txBody>
      </p:sp>
      <p:sp>
        <p:nvSpPr>
          <p:cNvPr id="22" name="TextBox 21"/>
          <p:cNvSpPr txBox="1"/>
          <p:nvPr/>
        </p:nvSpPr>
        <p:spPr>
          <a:xfrm>
            <a:off x="6446520" y="1766951"/>
            <a:ext cx="5029200" cy="256032"/>
          </a:xfrm>
          <a:prstGeom prst="rect">
            <a:avLst/>
          </a:prstGeom>
          <a:noFill/>
        </p:spPr>
        <p:txBody>
          <a:bodyPr wrap="square" lIns="0" rIns="0" tIns="0" bIns="0" anchor="t">
            <a:spAutoFit/>
          </a:bodyPr>
          <a:lstStyle/>
          <a:p>
            <a:pPr algn="l">
              <a:spcBef>
                <a:spcPts val="0"/>
              </a:spcBef>
              <a:spcAft>
                <a:spcPts val="0"/>
              </a:spcAft>
            </a:pPr>
            <a:r>
              <a:rPr sz="1250" b="1" i="0">
                <a:solidFill>
                  <a:srgbClr val="11212E"/>
                </a:solidFill>
                <a:latin typeface="Segoe UI Semibold"/>
              </a:rPr>
              <a:t>One 8-bit register, R1 = 0000 1101 (13)</a:t>
            </a:r>
          </a:p>
        </p:txBody>
      </p:sp>
      <p:sp>
        <p:nvSpPr>
          <p:cNvPr id="23" name="Rounded Rectangle 22"/>
          <p:cNvSpPr/>
          <p:nvPr/>
        </p:nvSpPr>
        <p:spPr>
          <a:xfrm>
            <a:off x="6446520" y="2132711"/>
            <a:ext cx="5074920" cy="585216"/>
          </a:xfrm>
          <a:prstGeom prst="roundRect">
            <a:avLst>
              <a:gd name="adj" fmla="val 9000"/>
            </a:avLst>
          </a:prstGeom>
          <a:solidFill>
            <a:srgbClr val="F1F6F8"/>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601968" y="2333879"/>
            <a:ext cx="1353312" cy="219456"/>
          </a:xfrm>
          <a:prstGeom prst="rect">
            <a:avLst/>
          </a:prstGeom>
          <a:noFill/>
        </p:spPr>
        <p:txBody>
          <a:bodyPr wrap="square" lIns="0" rIns="0" tIns="0" bIns="0" anchor="t">
            <a:spAutoFit/>
          </a:bodyPr>
          <a:lstStyle/>
          <a:p>
            <a:pPr algn="l">
              <a:spcBef>
                <a:spcPts val="0"/>
              </a:spcBef>
              <a:spcAft>
                <a:spcPts val="0"/>
              </a:spcAft>
            </a:pPr>
            <a:r>
              <a:rPr sz="900" b="1" i="0">
                <a:solidFill>
                  <a:srgbClr val="0A5A62"/>
                </a:solidFill>
                <a:latin typeface="Consolas"/>
              </a:rPr>
              <a:t>LOAD 11010110</a:t>
            </a:r>
          </a:p>
        </p:txBody>
      </p:sp>
      <p:sp>
        <p:nvSpPr>
          <p:cNvPr id="25" name="Rectangle 24"/>
          <p:cNvSpPr/>
          <p:nvPr/>
        </p:nvSpPr>
        <p:spPr>
          <a:xfrm>
            <a:off x="7991856" y="2269871"/>
            <a:ext cx="256032" cy="31089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991856" y="2352167"/>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Consolas"/>
              </a:rPr>
              <a:t>1</a:t>
            </a:r>
          </a:p>
        </p:txBody>
      </p:sp>
      <p:sp>
        <p:nvSpPr>
          <p:cNvPr id="27" name="Rectangle 26"/>
          <p:cNvSpPr/>
          <p:nvPr/>
        </p:nvSpPr>
        <p:spPr>
          <a:xfrm>
            <a:off x="8247888" y="2269871"/>
            <a:ext cx="256032" cy="31089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247888" y="2352167"/>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Consolas"/>
              </a:rPr>
              <a:t>1</a:t>
            </a:r>
          </a:p>
        </p:txBody>
      </p:sp>
      <p:sp>
        <p:nvSpPr>
          <p:cNvPr id="29" name="Rectangle 28"/>
          <p:cNvSpPr/>
          <p:nvPr/>
        </p:nvSpPr>
        <p:spPr>
          <a:xfrm>
            <a:off x="8503920" y="2269871"/>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503920" y="2352167"/>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31" name="Rectangle 30"/>
          <p:cNvSpPr/>
          <p:nvPr/>
        </p:nvSpPr>
        <p:spPr>
          <a:xfrm>
            <a:off x="8759952" y="2269871"/>
            <a:ext cx="256032" cy="31089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759952" y="2352167"/>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Consolas"/>
              </a:rPr>
              <a:t>1</a:t>
            </a:r>
          </a:p>
        </p:txBody>
      </p:sp>
      <p:sp>
        <p:nvSpPr>
          <p:cNvPr id="33" name="Rectangle 32"/>
          <p:cNvSpPr/>
          <p:nvPr/>
        </p:nvSpPr>
        <p:spPr>
          <a:xfrm>
            <a:off x="9015984" y="2269871"/>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015984" y="2352167"/>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 </a:t>
            </a:r>
          </a:p>
        </p:txBody>
      </p:sp>
      <p:sp>
        <p:nvSpPr>
          <p:cNvPr id="35" name="Rectangle 34"/>
          <p:cNvSpPr/>
          <p:nvPr/>
        </p:nvSpPr>
        <p:spPr>
          <a:xfrm>
            <a:off x="9272016" y="2269871"/>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272016" y="2352167"/>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37" name="Rectangle 36"/>
          <p:cNvSpPr/>
          <p:nvPr/>
        </p:nvSpPr>
        <p:spPr>
          <a:xfrm>
            <a:off x="9528048" y="2269871"/>
            <a:ext cx="256032" cy="31089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528048" y="2352167"/>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Consolas"/>
              </a:rPr>
              <a:t>1</a:t>
            </a:r>
          </a:p>
        </p:txBody>
      </p:sp>
      <p:sp>
        <p:nvSpPr>
          <p:cNvPr id="39" name="Rectangle 38"/>
          <p:cNvSpPr/>
          <p:nvPr/>
        </p:nvSpPr>
        <p:spPr>
          <a:xfrm>
            <a:off x="9784080" y="2269871"/>
            <a:ext cx="256032" cy="31089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784080" y="2352167"/>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Consolas"/>
              </a:rPr>
              <a:t>1</a:t>
            </a:r>
          </a:p>
        </p:txBody>
      </p:sp>
      <p:sp>
        <p:nvSpPr>
          <p:cNvPr id="41" name="Rectangle 40"/>
          <p:cNvSpPr/>
          <p:nvPr/>
        </p:nvSpPr>
        <p:spPr>
          <a:xfrm>
            <a:off x="10040112" y="2269871"/>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0040112" y="2352167"/>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43" name="TextBox 42"/>
          <p:cNvSpPr txBox="1"/>
          <p:nvPr/>
        </p:nvSpPr>
        <p:spPr>
          <a:xfrm>
            <a:off x="10351008" y="2315591"/>
            <a:ext cx="822960" cy="237744"/>
          </a:xfrm>
          <a:prstGeom prst="rect">
            <a:avLst/>
          </a:prstGeom>
          <a:noFill/>
        </p:spPr>
        <p:txBody>
          <a:bodyPr wrap="square" lIns="0" rIns="0" tIns="0" bIns="0" anchor="t">
            <a:spAutoFit/>
          </a:bodyPr>
          <a:lstStyle/>
          <a:p>
            <a:pPr algn="l">
              <a:spcBef>
                <a:spcPts val="0"/>
              </a:spcBef>
              <a:spcAft>
                <a:spcPts val="0"/>
              </a:spcAft>
            </a:pPr>
            <a:r>
              <a:rPr sz="1050" b="1" i="0">
                <a:solidFill>
                  <a:srgbClr val="11212E"/>
                </a:solidFill>
                <a:latin typeface="Consolas"/>
              </a:rPr>
              <a:t>= 214</a:t>
            </a:r>
          </a:p>
        </p:txBody>
      </p:sp>
      <p:sp>
        <p:nvSpPr>
          <p:cNvPr id="44" name="Rounded Rectangle 43"/>
          <p:cNvSpPr/>
          <p:nvPr/>
        </p:nvSpPr>
        <p:spPr>
          <a:xfrm>
            <a:off x="6446520" y="2754503"/>
            <a:ext cx="5074920" cy="585216"/>
          </a:xfrm>
          <a:prstGeom prst="roundRect">
            <a:avLst>
              <a:gd name="adj" fmla="val 9000"/>
            </a:avLst>
          </a:prstGeom>
          <a:solidFill>
            <a:srgbClr val="F1F6F8"/>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601968" y="2955671"/>
            <a:ext cx="1353312" cy="219456"/>
          </a:xfrm>
          <a:prstGeom prst="rect">
            <a:avLst/>
          </a:prstGeom>
          <a:noFill/>
        </p:spPr>
        <p:txBody>
          <a:bodyPr wrap="square" lIns="0" rIns="0" tIns="0" bIns="0" anchor="t">
            <a:spAutoFit/>
          </a:bodyPr>
          <a:lstStyle/>
          <a:p>
            <a:pPr algn="l">
              <a:spcBef>
                <a:spcPts val="0"/>
              </a:spcBef>
              <a:spcAft>
                <a:spcPts val="0"/>
              </a:spcAft>
            </a:pPr>
            <a:r>
              <a:rPr sz="900" b="1" i="0">
                <a:solidFill>
                  <a:srgbClr val="0A5A62"/>
                </a:solidFill>
                <a:latin typeface="Consolas"/>
              </a:rPr>
              <a:t>SHL 1</a:t>
            </a:r>
          </a:p>
        </p:txBody>
      </p:sp>
      <p:sp>
        <p:nvSpPr>
          <p:cNvPr id="46" name="Rectangle 45"/>
          <p:cNvSpPr/>
          <p:nvPr/>
        </p:nvSpPr>
        <p:spPr>
          <a:xfrm>
            <a:off x="7991856" y="2891663"/>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991856" y="2973959"/>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48" name="Rectangle 47"/>
          <p:cNvSpPr/>
          <p:nvPr/>
        </p:nvSpPr>
        <p:spPr>
          <a:xfrm>
            <a:off x="8247888" y="2891663"/>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247888" y="2973959"/>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50" name="Rectangle 49"/>
          <p:cNvSpPr/>
          <p:nvPr/>
        </p:nvSpPr>
        <p:spPr>
          <a:xfrm>
            <a:off x="8503920" y="2891663"/>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503920" y="2973959"/>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52" name="Rectangle 51"/>
          <p:cNvSpPr/>
          <p:nvPr/>
        </p:nvSpPr>
        <p:spPr>
          <a:xfrm>
            <a:off x="8759952" y="2891663"/>
            <a:ext cx="256032" cy="31089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759952" y="2973959"/>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Consolas"/>
              </a:rPr>
              <a:t>1</a:t>
            </a:r>
          </a:p>
        </p:txBody>
      </p:sp>
      <p:sp>
        <p:nvSpPr>
          <p:cNvPr id="54" name="Rectangle 53"/>
          <p:cNvSpPr/>
          <p:nvPr/>
        </p:nvSpPr>
        <p:spPr>
          <a:xfrm>
            <a:off x="9015984" y="2891663"/>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9015984" y="2973959"/>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 </a:t>
            </a:r>
          </a:p>
        </p:txBody>
      </p:sp>
      <p:sp>
        <p:nvSpPr>
          <p:cNvPr id="56" name="Rectangle 55"/>
          <p:cNvSpPr/>
          <p:nvPr/>
        </p:nvSpPr>
        <p:spPr>
          <a:xfrm>
            <a:off x="9272016" y="2891663"/>
            <a:ext cx="256032" cy="31089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272016" y="2973959"/>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Consolas"/>
              </a:rPr>
              <a:t>1</a:t>
            </a:r>
          </a:p>
        </p:txBody>
      </p:sp>
      <p:sp>
        <p:nvSpPr>
          <p:cNvPr id="58" name="Rectangle 57"/>
          <p:cNvSpPr/>
          <p:nvPr/>
        </p:nvSpPr>
        <p:spPr>
          <a:xfrm>
            <a:off x="9528048" y="2891663"/>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9528048" y="2973959"/>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60" name="Rectangle 59"/>
          <p:cNvSpPr/>
          <p:nvPr/>
        </p:nvSpPr>
        <p:spPr>
          <a:xfrm>
            <a:off x="9784080" y="2891663"/>
            <a:ext cx="256032" cy="31089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9784080" y="2973959"/>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Consolas"/>
              </a:rPr>
              <a:t>1</a:t>
            </a:r>
          </a:p>
        </p:txBody>
      </p:sp>
      <p:sp>
        <p:nvSpPr>
          <p:cNvPr id="62" name="Rectangle 61"/>
          <p:cNvSpPr/>
          <p:nvPr/>
        </p:nvSpPr>
        <p:spPr>
          <a:xfrm>
            <a:off x="10040112" y="2891663"/>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10040112" y="2973959"/>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64" name="TextBox 63"/>
          <p:cNvSpPr txBox="1"/>
          <p:nvPr/>
        </p:nvSpPr>
        <p:spPr>
          <a:xfrm>
            <a:off x="10351008" y="2937383"/>
            <a:ext cx="822960" cy="237744"/>
          </a:xfrm>
          <a:prstGeom prst="rect">
            <a:avLst/>
          </a:prstGeom>
          <a:noFill/>
        </p:spPr>
        <p:txBody>
          <a:bodyPr wrap="square" lIns="0" rIns="0" tIns="0" bIns="0" anchor="t">
            <a:spAutoFit/>
          </a:bodyPr>
          <a:lstStyle/>
          <a:p>
            <a:pPr algn="l">
              <a:spcBef>
                <a:spcPts val="0"/>
              </a:spcBef>
              <a:spcAft>
                <a:spcPts val="0"/>
              </a:spcAft>
            </a:pPr>
            <a:r>
              <a:rPr sz="1050" b="1" i="0">
                <a:solidFill>
                  <a:srgbClr val="11212E"/>
                </a:solidFill>
                <a:latin typeface="Consolas"/>
              </a:rPr>
              <a:t>= 26</a:t>
            </a:r>
          </a:p>
        </p:txBody>
      </p:sp>
      <p:sp>
        <p:nvSpPr>
          <p:cNvPr id="65" name="Rounded Rectangle 64"/>
          <p:cNvSpPr/>
          <p:nvPr/>
        </p:nvSpPr>
        <p:spPr>
          <a:xfrm>
            <a:off x="6446520" y="3376295"/>
            <a:ext cx="5074920" cy="585216"/>
          </a:xfrm>
          <a:prstGeom prst="roundRect">
            <a:avLst>
              <a:gd name="adj" fmla="val 9000"/>
            </a:avLst>
          </a:prstGeom>
          <a:solidFill>
            <a:srgbClr val="F1F6F8"/>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6601968" y="3577463"/>
            <a:ext cx="1353312" cy="219456"/>
          </a:xfrm>
          <a:prstGeom prst="rect">
            <a:avLst/>
          </a:prstGeom>
          <a:noFill/>
        </p:spPr>
        <p:txBody>
          <a:bodyPr wrap="square" lIns="0" rIns="0" tIns="0" bIns="0" anchor="t">
            <a:spAutoFit/>
          </a:bodyPr>
          <a:lstStyle/>
          <a:p>
            <a:pPr algn="l">
              <a:spcBef>
                <a:spcPts val="0"/>
              </a:spcBef>
              <a:spcAft>
                <a:spcPts val="0"/>
              </a:spcAft>
            </a:pPr>
            <a:r>
              <a:rPr sz="900" b="1" i="0">
                <a:solidFill>
                  <a:srgbClr val="0A5A62"/>
                </a:solidFill>
                <a:latin typeface="Consolas"/>
              </a:rPr>
              <a:t>SHR 1</a:t>
            </a:r>
          </a:p>
        </p:txBody>
      </p:sp>
      <p:sp>
        <p:nvSpPr>
          <p:cNvPr id="67" name="Rectangle 66"/>
          <p:cNvSpPr/>
          <p:nvPr/>
        </p:nvSpPr>
        <p:spPr>
          <a:xfrm>
            <a:off x="7991856" y="3513455"/>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7991856" y="3595751"/>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69" name="Rectangle 68"/>
          <p:cNvSpPr/>
          <p:nvPr/>
        </p:nvSpPr>
        <p:spPr>
          <a:xfrm>
            <a:off x="8247888" y="3513455"/>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8247888" y="3595751"/>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71" name="Rectangle 70"/>
          <p:cNvSpPr/>
          <p:nvPr/>
        </p:nvSpPr>
        <p:spPr>
          <a:xfrm>
            <a:off x="8503920" y="3513455"/>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8503920" y="3595751"/>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73" name="Rectangle 72"/>
          <p:cNvSpPr/>
          <p:nvPr/>
        </p:nvSpPr>
        <p:spPr>
          <a:xfrm>
            <a:off x="8759952" y="3513455"/>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8759952" y="3595751"/>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75" name="Rectangle 74"/>
          <p:cNvSpPr/>
          <p:nvPr/>
        </p:nvSpPr>
        <p:spPr>
          <a:xfrm>
            <a:off x="9015984" y="3513455"/>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9015984" y="3595751"/>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 </a:t>
            </a:r>
          </a:p>
        </p:txBody>
      </p:sp>
      <p:sp>
        <p:nvSpPr>
          <p:cNvPr id="77" name="Rectangle 76"/>
          <p:cNvSpPr/>
          <p:nvPr/>
        </p:nvSpPr>
        <p:spPr>
          <a:xfrm>
            <a:off x="9272016" y="3513455"/>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9272016" y="3595751"/>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79" name="Rectangle 78"/>
          <p:cNvSpPr/>
          <p:nvPr/>
        </p:nvSpPr>
        <p:spPr>
          <a:xfrm>
            <a:off x="9528048" y="3513455"/>
            <a:ext cx="256032" cy="31089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9528048" y="3595751"/>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Consolas"/>
              </a:rPr>
              <a:t>1</a:t>
            </a:r>
          </a:p>
        </p:txBody>
      </p:sp>
      <p:sp>
        <p:nvSpPr>
          <p:cNvPr id="81" name="Rectangle 80"/>
          <p:cNvSpPr/>
          <p:nvPr/>
        </p:nvSpPr>
        <p:spPr>
          <a:xfrm>
            <a:off x="9784080" y="3513455"/>
            <a:ext cx="256032" cy="31089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TextBox 81"/>
          <p:cNvSpPr txBox="1"/>
          <p:nvPr/>
        </p:nvSpPr>
        <p:spPr>
          <a:xfrm>
            <a:off x="9784080" y="3595751"/>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Consolas"/>
              </a:rPr>
              <a:t>1</a:t>
            </a:r>
          </a:p>
        </p:txBody>
      </p:sp>
      <p:sp>
        <p:nvSpPr>
          <p:cNvPr id="83" name="Rectangle 82"/>
          <p:cNvSpPr/>
          <p:nvPr/>
        </p:nvSpPr>
        <p:spPr>
          <a:xfrm>
            <a:off x="10040112" y="3513455"/>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TextBox 83"/>
          <p:cNvSpPr txBox="1"/>
          <p:nvPr/>
        </p:nvSpPr>
        <p:spPr>
          <a:xfrm>
            <a:off x="10040112" y="3595751"/>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85" name="TextBox 84"/>
          <p:cNvSpPr txBox="1"/>
          <p:nvPr/>
        </p:nvSpPr>
        <p:spPr>
          <a:xfrm>
            <a:off x="10351008" y="3559175"/>
            <a:ext cx="822960" cy="237744"/>
          </a:xfrm>
          <a:prstGeom prst="rect">
            <a:avLst/>
          </a:prstGeom>
          <a:noFill/>
        </p:spPr>
        <p:txBody>
          <a:bodyPr wrap="square" lIns="0" rIns="0" tIns="0" bIns="0" anchor="t">
            <a:spAutoFit/>
          </a:bodyPr>
          <a:lstStyle/>
          <a:p>
            <a:pPr algn="l">
              <a:spcBef>
                <a:spcPts val="0"/>
              </a:spcBef>
              <a:spcAft>
                <a:spcPts val="0"/>
              </a:spcAft>
            </a:pPr>
            <a:r>
              <a:rPr sz="1050" b="1" i="0">
                <a:solidFill>
                  <a:srgbClr val="11212E"/>
                </a:solidFill>
                <a:latin typeface="Consolas"/>
              </a:rPr>
              <a:t>= 6</a:t>
            </a:r>
          </a:p>
        </p:txBody>
      </p:sp>
      <p:sp>
        <p:nvSpPr>
          <p:cNvPr id="86" name="Rounded Rectangle 85"/>
          <p:cNvSpPr/>
          <p:nvPr/>
        </p:nvSpPr>
        <p:spPr>
          <a:xfrm>
            <a:off x="6446520" y="3998087"/>
            <a:ext cx="5074920" cy="585216"/>
          </a:xfrm>
          <a:prstGeom prst="roundRect">
            <a:avLst>
              <a:gd name="adj" fmla="val 9000"/>
            </a:avLst>
          </a:prstGeom>
          <a:solidFill>
            <a:srgbClr val="F1F6F8"/>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6601968" y="4199255"/>
            <a:ext cx="1353312" cy="219456"/>
          </a:xfrm>
          <a:prstGeom prst="rect">
            <a:avLst/>
          </a:prstGeom>
          <a:noFill/>
        </p:spPr>
        <p:txBody>
          <a:bodyPr wrap="square" lIns="0" rIns="0" tIns="0" bIns="0" anchor="t">
            <a:spAutoFit/>
          </a:bodyPr>
          <a:lstStyle/>
          <a:p>
            <a:pPr algn="l">
              <a:spcBef>
                <a:spcPts val="0"/>
              </a:spcBef>
              <a:spcAft>
                <a:spcPts val="0"/>
              </a:spcAft>
            </a:pPr>
            <a:r>
              <a:rPr sz="900" b="1" i="0">
                <a:solidFill>
                  <a:srgbClr val="0A5A62"/>
                </a:solidFill>
                <a:latin typeface="Consolas"/>
              </a:rPr>
              <a:t>ROL 1</a:t>
            </a:r>
          </a:p>
        </p:txBody>
      </p:sp>
      <p:sp>
        <p:nvSpPr>
          <p:cNvPr id="88" name="Rectangle 87"/>
          <p:cNvSpPr/>
          <p:nvPr/>
        </p:nvSpPr>
        <p:spPr>
          <a:xfrm>
            <a:off x="7991856" y="4135247"/>
            <a:ext cx="256032" cy="31089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TextBox 88"/>
          <p:cNvSpPr txBox="1"/>
          <p:nvPr/>
        </p:nvSpPr>
        <p:spPr>
          <a:xfrm>
            <a:off x="7991856" y="4217543"/>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Consolas"/>
              </a:rPr>
              <a:t>1</a:t>
            </a:r>
          </a:p>
        </p:txBody>
      </p:sp>
      <p:sp>
        <p:nvSpPr>
          <p:cNvPr id="90" name="Rectangle 89"/>
          <p:cNvSpPr/>
          <p:nvPr/>
        </p:nvSpPr>
        <p:spPr>
          <a:xfrm>
            <a:off x="8247888" y="4135247"/>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8247888" y="4217543"/>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92" name="Rectangle 91"/>
          <p:cNvSpPr/>
          <p:nvPr/>
        </p:nvSpPr>
        <p:spPr>
          <a:xfrm>
            <a:off x="8503920" y="4135247"/>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8503920" y="4217543"/>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94" name="Rectangle 93"/>
          <p:cNvSpPr/>
          <p:nvPr/>
        </p:nvSpPr>
        <p:spPr>
          <a:xfrm>
            <a:off x="8759952" y="4135247"/>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TextBox 94"/>
          <p:cNvSpPr txBox="1"/>
          <p:nvPr/>
        </p:nvSpPr>
        <p:spPr>
          <a:xfrm>
            <a:off x="8759952" y="4217543"/>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96" name="Rectangle 95"/>
          <p:cNvSpPr/>
          <p:nvPr/>
        </p:nvSpPr>
        <p:spPr>
          <a:xfrm>
            <a:off x="9015984" y="4135247"/>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TextBox 96"/>
          <p:cNvSpPr txBox="1"/>
          <p:nvPr/>
        </p:nvSpPr>
        <p:spPr>
          <a:xfrm>
            <a:off x="9015984" y="4217543"/>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 </a:t>
            </a:r>
          </a:p>
        </p:txBody>
      </p:sp>
      <p:sp>
        <p:nvSpPr>
          <p:cNvPr id="98" name="Rectangle 97"/>
          <p:cNvSpPr/>
          <p:nvPr/>
        </p:nvSpPr>
        <p:spPr>
          <a:xfrm>
            <a:off x="9272016" y="4135247"/>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TextBox 98"/>
          <p:cNvSpPr txBox="1"/>
          <p:nvPr/>
        </p:nvSpPr>
        <p:spPr>
          <a:xfrm>
            <a:off x="9272016" y="4217543"/>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100" name="Rectangle 99"/>
          <p:cNvSpPr/>
          <p:nvPr/>
        </p:nvSpPr>
        <p:spPr>
          <a:xfrm>
            <a:off x="9528048" y="4135247"/>
            <a:ext cx="256032" cy="31089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TextBox 100"/>
          <p:cNvSpPr txBox="1"/>
          <p:nvPr/>
        </p:nvSpPr>
        <p:spPr>
          <a:xfrm>
            <a:off x="9528048" y="4217543"/>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Consolas"/>
              </a:rPr>
              <a:t>1</a:t>
            </a:r>
          </a:p>
        </p:txBody>
      </p:sp>
      <p:sp>
        <p:nvSpPr>
          <p:cNvPr id="102" name="Rectangle 101"/>
          <p:cNvSpPr/>
          <p:nvPr/>
        </p:nvSpPr>
        <p:spPr>
          <a:xfrm>
            <a:off x="9784080" y="4135247"/>
            <a:ext cx="256032" cy="310896"/>
          </a:xfrm>
          <a:prstGeom prst="rect">
            <a:avLst/>
          </a:prstGeom>
          <a:solidFill>
            <a:srgbClr val="0E7C86"/>
          </a:solidFill>
          <a:ln w="12700">
            <a:solidFill>
              <a:srgbClr val="0A5A6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TextBox 102"/>
          <p:cNvSpPr txBox="1"/>
          <p:nvPr/>
        </p:nvSpPr>
        <p:spPr>
          <a:xfrm>
            <a:off x="9784080" y="4217543"/>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FFFFFF"/>
                </a:solidFill>
                <a:latin typeface="Consolas"/>
              </a:rPr>
              <a:t>1</a:t>
            </a:r>
          </a:p>
        </p:txBody>
      </p:sp>
      <p:sp>
        <p:nvSpPr>
          <p:cNvPr id="104" name="Rectangle 103"/>
          <p:cNvSpPr/>
          <p:nvPr/>
        </p:nvSpPr>
        <p:spPr>
          <a:xfrm>
            <a:off x="10040112" y="4135247"/>
            <a:ext cx="256032" cy="310896"/>
          </a:xfrm>
          <a:prstGeom prst="rect">
            <a:avLst/>
          </a:prstGeom>
          <a:solidFill>
            <a:srgbClr val="FFFFFF"/>
          </a:solidFill>
          <a:ln w="12700">
            <a:solidFill>
              <a:srgbClr val="D3DF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TextBox 104"/>
          <p:cNvSpPr txBox="1"/>
          <p:nvPr/>
        </p:nvSpPr>
        <p:spPr>
          <a:xfrm>
            <a:off x="10040112" y="4217543"/>
            <a:ext cx="256032" cy="256032"/>
          </a:xfrm>
          <a:prstGeom prst="rect">
            <a:avLst/>
          </a:prstGeom>
          <a:noFill/>
        </p:spPr>
        <p:txBody>
          <a:bodyPr wrap="square" lIns="0" rIns="0" tIns="0" bIns="0" anchor="t">
            <a:spAutoFit/>
          </a:bodyPr>
          <a:lstStyle/>
          <a:p>
            <a:pPr algn="ctr">
              <a:spcBef>
                <a:spcPts val="0"/>
              </a:spcBef>
              <a:spcAft>
                <a:spcPts val="0"/>
              </a:spcAft>
            </a:pPr>
            <a:r>
              <a:rPr sz="950" b="1" i="0">
                <a:solidFill>
                  <a:srgbClr val="4A5A69"/>
                </a:solidFill>
                <a:latin typeface="Consolas"/>
              </a:rPr>
              <a:t>0</a:t>
            </a:r>
          </a:p>
        </p:txBody>
      </p:sp>
      <p:sp>
        <p:nvSpPr>
          <p:cNvPr id="106" name="TextBox 105"/>
          <p:cNvSpPr txBox="1"/>
          <p:nvPr/>
        </p:nvSpPr>
        <p:spPr>
          <a:xfrm>
            <a:off x="10351008" y="4180967"/>
            <a:ext cx="822960" cy="237744"/>
          </a:xfrm>
          <a:prstGeom prst="rect">
            <a:avLst/>
          </a:prstGeom>
          <a:noFill/>
        </p:spPr>
        <p:txBody>
          <a:bodyPr wrap="square" lIns="0" rIns="0" tIns="0" bIns="0" anchor="t">
            <a:spAutoFit/>
          </a:bodyPr>
          <a:lstStyle/>
          <a:p>
            <a:pPr algn="l">
              <a:spcBef>
                <a:spcPts val="0"/>
              </a:spcBef>
              <a:spcAft>
                <a:spcPts val="0"/>
              </a:spcAft>
            </a:pPr>
            <a:r>
              <a:rPr sz="1050" b="1" i="0">
                <a:solidFill>
                  <a:srgbClr val="11212E"/>
                </a:solidFill>
                <a:latin typeface="Consolas"/>
              </a:rPr>
              <a:t>= 134</a:t>
            </a:r>
          </a:p>
        </p:txBody>
      </p:sp>
      <p:sp>
        <p:nvSpPr>
          <p:cNvPr id="107" name="TextBox 106"/>
          <p:cNvSpPr txBox="1"/>
          <p:nvPr/>
        </p:nvSpPr>
        <p:spPr>
          <a:xfrm>
            <a:off x="6446520" y="4674743"/>
            <a:ext cx="5074920" cy="274320"/>
          </a:xfrm>
          <a:prstGeom prst="rect">
            <a:avLst/>
          </a:prstGeom>
          <a:noFill/>
        </p:spPr>
        <p:txBody>
          <a:bodyPr wrap="square" lIns="0" rIns="0" tIns="0" bIns="0" anchor="t">
            <a:spAutoFit/>
          </a:bodyPr>
          <a:lstStyle/>
          <a:p>
            <a:pPr algn="l">
              <a:spcBef>
                <a:spcPts val="0"/>
              </a:spcBef>
              <a:spcAft>
                <a:spcPts val="0"/>
              </a:spcAft>
            </a:pPr>
            <a:r>
              <a:rPr sz="1200" b="1" i="0">
                <a:solidFill>
                  <a:srgbClr val="11212E"/>
                </a:solidFill>
                <a:latin typeface="Segoe UI Semibold"/>
              </a:rPr>
              <a:t>What each operation did</a:t>
            </a:r>
          </a:p>
        </p:txBody>
      </p:sp>
      <p:sp>
        <p:nvSpPr>
          <p:cNvPr id="108" name="TextBox 107"/>
          <p:cNvSpPr txBox="1"/>
          <p:nvPr/>
        </p:nvSpPr>
        <p:spPr>
          <a:xfrm>
            <a:off x="6446520" y="4967351"/>
            <a:ext cx="5074920" cy="914400"/>
          </a:xfrm>
          <a:prstGeom prst="rect">
            <a:avLst/>
          </a:prstGeom>
          <a:noFill/>
        </p:spPr>
        <p:txBody>
          <a:bodyPr wrap="square" lIns="0" rIns="0" tIns="0" bIns="0" anchor="t">
            <a:spAutoFit/>
          </a:bodyPr>
          <a:lstStyle/>
          <a:p>
            <a:pPr algn="l">
              <a:lnSpc>
                <a:spcPct val="115000"/>
              </a:lnSpc>
              <a:spcBef>
                <a:spcPts val="0"/>
              </a:spcBef>
              <a:spcAft>
                <a:spcPts val="600"/>
              </a:spcAft>
            </a:pPr>
            <a:r>
              <a:rPr sz="1000" b="1" i="0">
                <a:solidFill>
                  <a:srgbClr val="0A5A62"/>
                </a:solidFill>
                <a:latin typeface="Segoe UI"/>
              </a:rPr>
              <a:t>Load </a:t>
            </a:r>
            <a:r>
              <a:rPr sz="1000" b="0" i="0">
                <a:solidFill>
                  <a:srgbClr val="4A5A69"/>
                </a:solidFill>
                <a:latin typeface="Segoe UI"/>
              </a:rPr>
              <a:t>overwrites all eight bits at once.</a:t>
            </a:r>
          </a:p>
          <a:p>
            <a:pPr algn="l">
              <a:lnSpc>
                <a:spcPct val="115000"/>
              </a:lnSpc>
              <a:spcBef>
                <a:spcPts val="0"/>
              </a:spcBef>
              <a:spcAft>
                <a:spcPts val="600"/>
              </a:spcAft>
            </a:pPr>
            <a:r>
              <a:rPr sz="1000" b="1" i="0">
                <a:solidFill>
                  <a:srgbClr val="0A5A62"/>
                </a:solidFill>
                <a:latin typeface="Segoe UI"/>
              </a:rPr>
              <a:t>Shift </a:t>
            </a:r>
            <a:r>
              <a:rPr sz="1000" b="0" i="0">
                <a:solidFill>
                  <a:srgbClr val="4A5A69"/>
                </a:solidFill>
                <a:latin typeface="Segoe UI"/>
              </a:rPr>
              <a:t>moves every bit one place: left ×2, right ÷2.</a:t>
            </a:r>
          </a:p>
          <a:p>
            <a:pPr algn="l">
              <a:lnSpc>
                <a:spcPct val="115000"/>
              </a:lnSpc>
              <a:spcBef>
                <a:spcPts val="0"/>
              </a:spcBef>
              <a:spcAft>
                <a:spcPts val="600"/>
              </a:spcAft>
            </a:pPr>
            <a:r>
              <a:rPr sz="1000" b="1" i="0">
                <a:solidFill>
                  <a:srgbClr val="0A5A62"/>
                </a:solidFill>
                <a:latin typeface="Segoe UI"/>
              </a:rPr>
              <a:t>Rotate </a:t>
            </a:r>
            <a:r>
              <a:rPr sz="1000" b="0" i="0">
                <a:solidFill>
                  <a:srgbClr val="4A5A69"/>
                </a:solidFill>
                <a:latin typeface="Segoe UI"/>
              </a:rPr>
              <a:t>returns the escaping bit, so no 1 is ever lost.</a:t>
            </a:r>
          </a:p>
        </p:txBody>
      </p:sp>
      <p:sp>
        <p:nvSpPr>
          <p:cNvPr id="109" name="Rectangle 108"/>
          <p:cNvSpPr/>
          <p:nvPr/>
        </p:nvSpPr>
        <p:spPr>
          <a:xfrm>
            <a:off x="685800" y="5632704"/>
            <a:ext cx="10835640" cy="475488"/>
          </a:xfrm>
          <a:prstGeom prst="rect">
            <a:avLst/>
          </a:prstGeom>
          <a:solidFill>
            <a:srgbClr val="E8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Rectangle 109"/>
          <p:cNvSpPr/>
          <p:nvPr/>
        </p:nvSpPr>
        <p:spPr>
          <a:xfrm>
            <a:off x="685800" y="5632704"/>
            <a:ext cx="50292" cy="47548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1" name="TextBox 110"/>
          <p:cNvSpPr txBox="1"/>
          <p:nvPr/>
        </p:nvSpPr>
        <p:spPr>
          <a:xfrm>
            <a:off x="886968" y="5715000"/>
            <a:ext cx="10451592" cy="310896"/>
          </a:xfrm>
          <a:prstGeom prst="rect">
            <a:avLst/>
          </a:prstGeom>
          <a:noFill/>
        </p:spPr>
        <p:txBody>
          <a:bodyPr wrap="square" lIns="0" rIns="0" tIns="0" bIns="0" anchor="t">
            <a:spAutoFit/>
          </a:bodyPr>
          <a:lstStyle/>
          <a:p>
            <a:pPr algn="l">
              <a:lnSpc>
                <a:spcPct val="106000"/>
              </a:lnSpc>
              <a:spcBef>
                <a:spcPts val="0"/>
              </a:spcBef>
              <a:spcAft>
                <a:spcPts val="0"/>
              </a:spcAft>
            </a:pPr>
            <a:r>
              <a:rPr sz="1050" b="1" i="0">
                <a:solidFill>
                  <a:srgbClr val="0A5A62"/>
                </a:solidFill>
                <a:latin typeface="Segoe UI"/>
              </a:rPr>
              <a:t>SAY THIS:  </a:t>
            </a:r>
            <a:r>
              <a:rPr sz="1250" b="0" i="0">
                <a:solidFill>
                  <a:srgbClr val="11212E"/>
                </a:solidFill>
                <a:latin typeface="Segoe UI"/>
              </a:rPr>
              <a:t>Registers are the fastest and smallest storage, because they are built from flip-flops.</a:t>
            </a:r>
          </a:p>
        </p:txBody>
      </p:sp>
      <p:sp>
        <p:nvSpPr>
          <p:cNvPr id="112" name="Rectangle 111"/>
          <p:cNvSpPr/>
          <p:nvPr/>
        </p:nvSpPr>
        <p:spPr>
          <a:xfrm>
            <a:off x="685800" y="6327648"/>
            <a:ext cx="10820095" cy="10972"/>
          </a:xfrm>
          <a:prstGeom prst="rect">
            <a:avLst/>
          </a:prstGeom>
          <a:solidFill>
            <a:srgbClr val="D3DF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TextBox 112"/>
          <p:cNvSpPr txBox="1"/>
          <p:nvPr/>
        </p:nvSpPr>
        <p:spPr>
          <a:xfrm>
            <a:off x="685800" y="6419088"/>
            <a:ext cx="6400800" cy="219456"/>
          </a:xfrm>
          <a:prstGeom prst="rect">
            <a:avLst/>
          </a:prstGeom>
          <a:noFill/>
        </p:spPr>
        <p:txBody>
          <a:bodyPr wrap="square" lIns="0" rIns="0" tIns="0" bIns="0" anchor="t">
            <a:spAutoFit/>
          </a:bodyPr>
          <a:lstStyle/>
          <a:p>
            <a:pPr algn="l">
              <a:spcBef>
                <a:spcPts val="0"/>
              </a:spcBef>
              <a:spcAft>
                <a:spcPts val="0"/>
              </a:spcAft>
            </a:pPr>
            <a:r>
              <a:rPr sz="950" b="0" i="0">
                <a:solidFill>
                  <a:srgbClr val="788897"/>
                </a:solidFill>
                <a:latin typeface="Segoe UI"/>
              </a:rPr>
              <a:t>Binary Storage and Registers</a:t>
            </a:r>
          </a:p>
        </p:txBody>
      </p:sp>
      <p:sp>
        <p:nvSpPr>
          <p:cNvPr id="114" name="TextBox 113"/>
          <p:cNvSpPr txBox="1"/>
          <p:nvPr/>
        </p:nvSpPr>
        <p:spPr>
          <a:xfrm>
            <a:off x="10865815" y="6419088"/>
            <a:ext cx="640080" cy="219456"/>
          </a:xfrm>
          <a:prstGeom prst="rect">
            <a:avLst/>
          </a:prstGeom>
          <a:noFill/>
        </p:spPr>
        <p:txBody>
          <a:bodyPr wrap="square" lIns="0" rIns="0" tIns="0" bIns="0" anchor="t">
            <a:spAutoFit/>
          </a:bodyPr>
          <a:lstStyle/>
          <a:p>
            <a:pPr algn="r">
              <a:spcBef>
                <a:spcPts val="0"/>
              </a:spcBef>
              <a:spcAft>
                <a:spcPts val="0"/>
              </a:spcAft>
            </a:pPr>
            <a:r>
              <a:rPr sz="950" b="1" i="0">
                <a:solidFill>
                  <a:srgbClr val="788897"/>
                </a:solidFill>
                <a:latin typeface="Segoe U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C1B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822960" y="786384"/>
            <a:ext cx="566928" cy="6400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896112"/>
            <a:ext cx="6766560" cy="530352"/>
          </a:xfrm>
          <a:prstGeom prst="rect">
            <a:avLst/>
          </a:prstGeom>
          <a:noFill/>
        </p:spPr>
        <p:txBody>
          <a:bodyPr wrap="square" lIns="0" rIns="0" tIns="0" bIns="0" anchor="t">
            <a:spAutoFit/>
          </a:bodyPr>
          <a:lstStyle/>
          <a:p>
            <a:pPr algn="l">
              <a:spcBef>
                <a:spcPts val="0"/>
              </a:spcBef>
              <a:spcAft>
                <a:spcPts val="0"/>
              </a:spcAft>
            </a:pPr>
            <a:r>
              <a:rPr sz="3400" b="1" i="0">
                <a:solidFill>
                  <a:srgbClr val="FFFFFF"/>
                </a:solidFill>
                <a:latin typeface="Segoe UI Semibold"/>
              </a:rPr>
              <a:t>Summary and questions</a:t>
            </a:r>
          </a:p>
        </p:txBody>
      </p:sp>
      <p:sp>
        <p:nvSpPr>
          <p:cNvPr id="5" name="TextBox 4"/>
          <p:cNvSpPr txBox="1"/>
          <p:nvPr/>
        </p:nvSpPr>
        <p:spPr>
          <a:xfrm>
            <a:off x="822960" y="1481328"/>
            <a:ext cx="4846320" cy="274320"/>
          </a:xfrm>
          <a:prstGeom prst="rect">
            <a:avLst/>
          </a:prstGeom>
          <a:noFill/>
        </p:spPr>
        <p:txBody>
          <a:bodyPr wrap="square" lIns="0" rIns="0" tIns="0" bIns="0" anchor="t">
            <a:spAutoFit/>
          </a:bodyPr>
          <a:lstStyle/>
          <a:p>
            <a:pPr algn="l">
              <a:spcBef>
                <a:spcPts val="0"/>
              </a:spcBef>
              <a:spcAft>
                <a:spcPts val="0"/>
              </a:spcAft>
            </a:pPr>
            <a:r>
              <a:rPr sz="1300" b="0" i="0">
                <a:solidFill>
                  <a:srgbClr val="B6C7CF"/>
                </a:solidFill>
                <a:latin typeface="Segoe UI"/>
              </a:rPr>
              <a:t>Five sentences that carry the topic.</a:t>
            </a:r>
          </a:p>
        </p:txBody>
      </p:sp>
      <p:sp>
        <p:nvSpPr>
          <p:cNvPr id="6" name="Rounded Rectangle 5"/>
          <p:cNvSpPr/>
          <p:nvPr/>
        </p:nvSpPr>
        <p:spPr>
          <a:xfrm>
            <a:off x="822960" y="1792224"/>
            <a:ext cx="5623560" cy="457200"/>
          </a:xfrm>
          <a:prstGeom prst="roundRect">
            <a:avLst>
              <a:gd name="adj" fmla="val 16000"/>
            </a:avLst>
          </a:prstGeom>
          <a:solidFill>
            <a:srgbClr val="142B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69264" y="1892807"/>
            <a:ext cx="5349240" cy="256032"/>
          </a:xfrm>
          <a:prstGeom prst="rect">
            <a:avLst/>
          </a:prstGeom>
          <a:noFill/>
        </p:spPr>
        <p:txBody>
          <a:bodyPr wrap="square" lIns="0" rIns="0" tIns="0" bIns="0" anchor="t">
            <a:spAutoFit/>
          </a:bodyPr>
          <a:lstStyle/>
          <a:p>
            <a:pPr algn="l">
              <a:spcBef>
                <a:spcPts val="0"/>
              </a:spcBef>
              <a:spcAft>
                <a:spcPts val="0"/>
              </a:spcAft>
            </a:pPr>
            <a:r>
              <a:rPr sz="950" b="1" i="0">
                <a:solidFill>
                  <a:srgbClr val="71C8C1"/>
                </a:solidFill>
                <a:latin typeface="Segoe UI"/>
              </a:rPr>
              <a:t>SAY THIS:  </a:t>
            </a:r>
            <a:r>
              <a:rPr sz="1100" b="0" i="0">
                <a:solidFill>
                  <a:srgbClr val="FFFFFF"/>
                </a:solidFill>
                <a:latin typeface="Segoe UI"/>
              </a:rPr>
              <a:t>binary, the bit cell, the register, the switches.</a:t>
            </a:r>
          </a:p>
        </p:txBody>
      </p:sp>
      <p:sp>
        <p:nvSpPr>
          <p:cNvPr id="8" name="TextBox 7"/>
          <p:cNvSpPr txBox="1"/>
          <p:nvPr/>
        </p:nvSpPr>
        <p:spPr>
          <a:xfrm>
            <a:off x="822960" y="2432304"/>
            <a:ext cx="475488" cy="237744"/>
          </a:xfrm>
          <a:prstGeom prst="rect">
            <a:avLst/>
          </a:prstGeom>
          <a:noFill/>
        </p:spPr>
        <p:txBody>
          <a:bodyPr wrap="square" lIns="0" rIns="0" tIns="0" bIns="0" anchor="t">
            <a:spAutoFit/>
          </a:bodyPr>
          <a:lstStyle/>
          <a:p>
            <a:pPr algn="l">
              <a:spcBef>
                <a:spcPts val="0"/>
              </a:spcBef>
              <a:spcAft>
                <a:spcPts val="0"/>
              </a:spcAft>
            </a:pPr>
            <a:r>
              <a:rPr sz="1100" b="1" i="0">
                <a:solidFill>
                  <a:srgbClr val="71C8C1"/>
                </a:solidFill>
                <a:latin typeface="Segoe UI Semibold"/>
              </a:rPr>
              <a:t>01</a:t>
            </a:r>
          </a:p>
        </p:txBody>
      </p:sp>
      <p:sp>
        <p:nvSpPr>
          <p:cNvPr id="9" name="TextBox 8"/>
          <p:cNvSpPr txBox="1"/>
          <p:nvPr/>
        </p:nvSpPr>
        <p:spPr>
          <a:xfrm>
            <a:off x="1389888" y="2395728"/>
            <a:ext cx="5120640" cy="256032"/>
          </a:xfrm>
          <a:prstGeom prst="rect">
            <a:avLst/>
          </a:prstGeom>
          <a:noFill/>
        </p:spPr>
        <p:txBody>
          <a:bodyPr wrap="square" lIns="0" rIns="0" tIns="0" bIns="0" anchor="t">
            <a:spAutoFit/>
          </a:bodyPr>
          <a:lstStyle/>
          <a:p>
            <a:pPr algn="l">
              <a:spcBef>
                <a:spcPts val="0"/>
              </a:spcBef>
              <a:spcAft>
                <a:spcPts val="0"/>
              </a:spcAft>
            </a:pPr>
            <a:r>
              <a:rPr sz="1250" b="1" i="0">
                <a:solidFill>
                  <a:srgbClr val="FFFFFF"/>
                </a:solidFill>
                <a:latin typeface="Segoe UI"/>
              </a:rPr>
              <a:t>Binary is a hardware decision.</a:t>
            </a:r>
          </a:p>
        </p:txBody>
      </p:sp>
      <p:sp>
        <p:nvSpPr>
          <p:cNvPr id="10" name="TextBox 9"/>
          <p:cNvSpPr txBox="1"/>
          <p:nvPr/>
        </p:nvSpPr>
        <p:spPr>
          <a:xfrm>
            <a:off x="1389888" y="2670048"/>
            <a:ext cx="5120640" cy="38404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9FB6C0"/>
                </a:solidFill>
                <a:latin typeface="Segoe UI"/>
              </a:rPr>
              <a:t>Two stable states are cheap, fast and noise-tolerant; n bits give 2ⁿ patterns.</a:t>
            </a:r>
          </a:p>
        </p:txBody>
      </p:sp>
      <p:sp>
        <p:nvSpPr>
          <p:cNvPr id="11" name="TextBox 10"/>
          <p:cNvSpPr txBox="1"/>
          <p:nvPr/>
        </p:nvSpPr>
        <p:spPr>
          <a:xfrm>
            <a:off x="822960" y="3163824"/>
            <a:ext cx="475488" cy="237744"/>
          </a:xfrm>
          <a:prstGeom prst="rect">
            <a:avLst/>
          </a:prstGeom>
          <a:noFill/>
        </p:spPr>
        <p:txBody>
          <a:bodyPr wrap="square" lIns="0" rIns="0" tIns="0" bIns="0" anchor="t">
            <a:spAutoFit/>
          </a:bodyPr>
          <a:lstStyle/>
          <a:p>
            <a:pPr algn="l">
              <a:spcBef>
                <a:spcPts val="0"/>
              </a:spcBef>
              <a:spcAft>
                <a:spcPts val="0"/>
              </a:spcAft>
            </a:pPr>
            <a:r>
              <a:rPr sz="1100" b="1" i="0">
                <a:solidFill>
                  <a:srgbClr val="71C8C1"/>
                </a:solidFill>
                <a:latin typeface="Segoe UI Semibold"/>
              </a:rPr>
              <a:t>02</a:t>
            </a:r>
          </a:p>
        </p:txBody>
      </p:sp>
      <p:sp>
        <p:nvSpPr>
          <p:cNvPr id="12" name="TextBox 11"/>
          <p:cNvSpPr txBox="1"/>
          <p:nvPr/>
        </p:nvSpPr>
        <p:spPr>
          <a:xfrm>
            <a:off x="1389888" y="3127248"/>
            <a:ext cx="5120640" cy="256032"/>
          </a:xfrm>
          <a:prstGeom prst="rect">
            <a:avLst/>
          </a:prstGeom>
          <a:noFill/>
        </p:spPr>
        <p:txBody>
          <a:bodyPr wrap="square" lIns="0" rIns="0" tIns="0" bIns="0" anchor="t">
            <a:spAutoFit/>
          </a:bodyPr>
          <a:lstStyle/>
          <a:p>
            <a:pPr algn="l">
              <a:spcBef>
                <a:spcPts val="0"/>
              </a:spcBef>
              <a:spcAft>
                <a:spcPts val="0"/>
              </a:spcAft>
            </a:pPr>
            <a:r>
              <a:rPr sz="1250" b="1" i="0">
                <a:solidFill>
                  <a:srgbClr val="FFFFFF"/>
                </a:solidFill>
                <a:latin typeface="Segoe UI"/>
              </a:rPr>
              <a:t>A bit is held by a bistable circuit.</a:t>
            </a:r>
          </a:p>
        </p:txBody>
      </p:sp>
      <p:sp>
        <p:nvSpPr>
          <p:cNvPr id="13" name="TextBox 12"/>
          <p:cNvSpPr txBox="1"/>
          <p:nvPr/>
        </p:nvSpPr>
        <p:spPr>
          <a:xfrm>
            <a:off x="1389888" y="3401568"/>
            <a:ext cx="5120640" cy="38404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9FB6C0"/>
                </a:solidFill>
                <a:latin typeface="Segoe UI"/>
              </a:rPr>
              <a:t>Flip-flops for speed in the CPU, capacitors for density in DRAM.</a:t>
            </a:r>
          </a:p>
        </p:txBody>
      </p:sp>
      <p:sp>
        <p:nvSpPr>
          <p:cNvPr id="14" name="TextBox 13"/>
          <p:cNvSpPr txBox="1"/>
          <p:nvPr/>
        </p:nvSpPr>
        <p:spPr>
          <a:xfrm>
            <a:off x="822960" y="3895344"/>
            <a:ext cx="475488" cy="237744"/>
          </a:xfrm>
          <a:prstGeom prst="rect">
            <a:avLst/>
          </a:prstGeom>
          <a:noFill/>
        </p:spPr>
        <p:txBody>
          <a:bodyPr wrap="square" lIns="0" rIns="0" tIns="0" bIns="0" anchor="t">
            <a:spAutoFit/>
          </a:bodyPr>
          <a:lstStyle/>
          <a:p>
            <a:pPr algn="l">
              <a:spcBef>
                <a:spcPts val="0"/>
              </a:spcBef>
              <a:spcAft>
                <a:spcPts val="0"/>
              </a:spcAft>
            </a:pPr>
            <a:r>
              <a:rPr sz="1100" b="1" i="0">
                <a:solidFill>
                  <a:srgbClr val="71C8C1"/>
                </a:solidFill>
                <a:latin typeface="Segoe UI Semibold"/>
              </a:rPr>
              <a:t>03</a:t>
            </a:r>
          </a:p>
        </p:txBody>
      </p:sp>
      <p:sp>
        <p:nvSpPr>
          <p:cNvPr id="15" name="TextBox 14"/>
          <p:cNvSpPr txBox="1"/>
          <p:nvPr/>
        </p:nvSpPr>
        <p:spPr>
          <a:xfrm>
            <a:off x="1389888" y="3858768"/>
            <a:ext cx="5120640" cy="256032"/>
          </a:xfrm>
          <a:prstGeom prst="rect">
            <a:avLst/>
          </a:prstGeom>
          <a:noFill/>
        </p:spPr>
        <p:txBody>
          <a:bodyPr wrap="square" lIns="0" rIns="0" tIns="0" bIns="0" anchor="t">
            <a:spAutoFit/>
          </a:bodyPr>
          <a:lstStyle/>
          <a:p>
            <a:pPr algn="l">
              <a:spcBef>
                <a:spcPts val="0"/>
              </a:spcBef>
              <a:spcAft>
                <a:spcPts val="0"/>
              </a:spcAft>
            </a:pPr>
            <a:r>
              <a:rPr sz="1250" b="1" i="0">
                <a:solidFill>
                  <a:srgbClr val="FFFFFF"/>
                </a:solidFill>
                <a:latin typeface="Segoe UI"/>
              </a:rPr>
              <a:t>A register is n flip-flops on one clock.</a:t>
            </a:r>
          </a:p>
        </p:txBody>
      </p:sp>
      <p:sp>
        <p:nvSpPr>
          <p:cNvPr id="16" name="TextBox 15"/>
          <p:cNvSpPr txBox="1"/>
          <p:nvPr/>
        </p:nvSpPr>
        <p:spPr>
          <a:xfrm>
            <a:off x="1389888" y="4133087"/>
            <a:ext cx="5120640" cy="38404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9FB6C0"/>
                </a:solidFill>
                <a:latin typeface="Segoe UI"/>
              </a:rPr>
              <a:t>All bits update together, so a word is never read half-written.</a:t>
            </a:r>
          </a:p>
        </p:txBody>
      </p:sp>
      <p:sp>
        <p:nvSpPr>
          <p:cNvPr id="17" name="TextBox 16"/>
          <p:cNvSpPr txBox="1"/>
          <p:nvPr/>
        </p:nvSpPr>
        <p:spPr>
          <a:xfrm>
            <a:off x="822960" y="4626864"/>
            <a:ext cx="475488" cy="237744"/>
          </a:xfrm>
          <a:prstGeom prst="rect">
            <a:avLst/>
          </a:prstGeom>
          <a:noFill/>
        </p:spPr>
        <p:txBody>
          <a:bodyPr wrap="square" lIns="0" rIns="0" tIns="0" bIns="0" anchor="t">
            <a:spAutoFit/>
          </a:bodyPr>
          <a:lstStyle/>
          <a:p>
            <a:pPr algn="l">
              <a:spcBef>
                <a:spcPts val="0"/>
              </a:spcBef>
              <a:spcAft>
                <a:spcPts val="0"/>
              </a:spcAft>
            </a:pPr>
            <a:r>
              <a:rPr sz="1100" b="1" i="0">
                <a:solidFill>
                  <a:srgbClr val="71C8C1"/>
                </a:solidFill>
                <a:latin typeface="Segoe UI Semibold"/>
              </a:rPr>
              <a:t>04</a:t>
            </a:r>
          </a:p>
        </p:txBody>
      </p:sp>
      <p:sp>
        <p:nvSpPr>
          <p:cNvPr id="18" name="TextBox 17"/>
          <p:cNvSpPr txBox="1"/>
          <p:nvPr/>
        </p:nvSpPr>
        <p:spPr>
          <a:xfrm>
            <a:off x="1389888" y="4590288"/>
            <a:ext cx="5120640" cy="256032"/>
          </a:xfrm>
          <a:prstGeom prst="rect">
            <a:avLst/>
          </a:prstGeom>
          <a:noFill/>
        </p:spPr>
        <p:txBody>
          <a:bodyPr wrap="square" lIns="0" rIns="0" tIns="0" bIns="0" anchor="t">
            <a:spAutoFit/>
          </a:bodyPr>
          <a:lstStyle/>
          <a:p>
            <a:pPr algn="l">
              <a:spcBef>
                <a:spcPts val="0"/>
              </a:spcBef>
              <a:spcAft>
                <a:spcPts val="0"/>
              </a:spcAft>
            </a:pPr>
            <a:r>
              <a:rPr sz="1250" b="1" i="0">
                <a:solidFill>
                  <a:srgbClr val="FFFFFF"/>
                </a:solidFill>
                <a:latin typeface="Segoe UI"/>
              </a:rPr>
              <a:t>Control signals decide what happens.</a:t>
            </a:r>
          </a:p>
        </p:txBody>
      </p:sp>
      <p:sp>
        <p:nvSpPr>
          <p:cNvPr id="19" name="TextBox 18"/>
          <p:cNvSpPr txBox="1"/>
          <p:nvPr/>
        </p:nvSpPr>
        <p:spPr>
          <a:xfrm>
            <a:off x="1389888" y="4864607"/>
            <a:ext cx="5120640" cy="38404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9FB6C0"/>
                </a:solidFill>
                <a:latin typeface="Segoe UI"/>
              </a:rPr>
              <a:t>Load to write, shift to move, tri-state enables to share one bus.</a:t>
            </a:r>
          </a:p>
        </p:txBody>
      </p:sp>
      <p:sp>
        <p:nvSpPr>
          <p:cNvPr id="20" name="TextBox 19"/>
          <p:cNvSpPr txBox="1"/>
          <p:nvPr/>
        </p:nvSpPr>
        <p:spPr>
          <a:xfrm>
            <a:off x="822960" y="5358383"/>
            <a:ext cx="475488" cy="237744"/>
          </a:xfrm>
          <a:prstGeom prst="rect">
            <a:avLst/>
          </a:prstGeom>
          <a:noFill/>
        </p:spPr>
        <p:txBody>
          <a:bodyPr wrap="square" lIns="0" rIns="0" tIns="0" bIns="0" anchor="t">
            <a:spAutoFit/>
          </a:bodyPr>
          <a:lstStyle/>
          <a:p>
            <a:pPr algn="l">
              <a:spcBef>
                <a:spcPts val="0"/>
              </a:spcBef>
              <a:spcAft>
                <a:spcPts val="0"/>
              </a:spcAft>
            </a:pPr>
            <a:r>
              <a:rPr sz="1100" b="1" i="0">
                <a:solidFill>
                  <a:srgbClr val="71C8C1"/>
                </a:solidFill>
                <a:latin typeface="Segoe UI Semibold"/>
              </a:rPr>
              <a:t>05</a:t>
            </a:r>
          </a:p>
        </p:txBody>
      </p:sp>
      <p:sp>
        <p:nvSpPr>
          <p:cNvPr id="21" name="TextBox 20"/>
          <p:cNvSpPr txBox="1"/>
          <p:nvPr/>
        </p:nvSpPr>
        <p:spPr>
          <a:xfrm>
            <a:off x="1389888" y="5321807"/>
            <a:ext cx="5120640" cy="256032"/>
          </a:xfrm>
          <a:prstGeom prst="rect">
            <a:avLst/>
          </a:prstGeom>
          <a:noFill/>
        </p:spPr>
        <p:txBody>
          <a:bodyPr wrap="square" lIns="0" rIns="0" tIns="0" bIns="0" anchor="t">
            <a:spAutoFit/>
          </a:bodyPr>
          <a:lstStyle/>
          <a:p>
            <a:pPr algn="l">
              <a:spcBef>
                <a:spcPts val="0"/>
              </a:spcBef>
              <a:spcAft>
                <a:spcPts val="0"/>
              </a:spcAft>
            </a:pPr>
            <a:r>
              <a:rPr sz="1250" b="1" i="0">
                <a:solidFill>
                  <a:srgbClr val="FFFFFF"/>
                </a:solidFill>
                <a:latin typeface="Segoe UI"/>
              </a:rPr>
              <a:t>Registers top the hierarchy.</a:t>
            </a:r>
          </a:p>
        </p:txBody>
      </p:sp>
      <p:sp>
        <p:nvSpPr>
          <p:cNvPr id="22" name="TextBox 21"/>
          <p:cNvSpPr txBox="1"/>
          <p:nvPr/>
        </p:nvSpPr>
        <p:spPr>
          <a:xfrm>
            <a:off x="1389888" y="5596127"/>
            <a:ext cx="5120640" cy="384048"/>
          </a:xfrm>
          <a:prstGeom prst="rect">
            <a:avLst/>
          </a:prstGeom>
          <a:noFill/>
        </p:spPr>
        <p:txBody>
          <a:bodyPr wrap="square" lIns="0" rIns="0" tIns="0" bIns="0" anchor="t">
            <a:spAutoFit/>
          </a:bodyPr>
          <a:lstStyle/>
          <a:p>
            <a:pPr algn="l">
              <a:lnSpc>
                <a:spcPct val="110000"/>
              </a:lnSpc>
              <a:spcBef>
                <a:spcPts val="0"/>
              </a:spcBef>
              <a:spcAft>
                <a:spcPts val="0"/>
              </a:spcAft>
            </a:pPr>
            <a:r>
              <a:rPr sz="1000" b="0" i="0">
                <a:solidFill>
                  <a:srgbClr val="9FB6C0"/>
                </a:solidFill>
                <a:latin typeface="Segoe UI"/>
              </a:rPr>
              <a:t>Fast and small because they are flip-flops; memory is big and slow by design.</a:t>
            </a:r>
          </a:p>
        </p:txBody>
      </p:sp>
      <p:sp>
        <p:nvSpPr>
          <p:cNvPr id="23" name="TextBox 22"/>
          <p:cNvSpPr txBox="1"/>
          <p:nvPr/>
        </p:nvSpPr>
        <p:spPr>
          <a:xfrm>
            <a:off x="6903720" y="1847088"/>
            <a:ext cx="4480560" cy="237744"/>
          </a:xfrm>
          <a:prstGeom prst="rect">
            <a:avLst/>
          </a:prstGeom>
          <a:noFill/>
        </p:spPr>
        <p:txBody>
          <a:bodyPr wrap="square" lIns="0" rIns="0" tIns="0" bIns="0" anchor="t">
            <a:spAutoFit/>
          </a:bodyPr>
          <a:lstStyle/>
          <a:p>
            <a:pPr algn="l">
              <a:spcBef>
                <a:spcPts val="0"/>
              </a:spcBef>
              <a:spcAft>
                <a:spcPts val="0"/>
              </a:spcAft>
            </a:pPr>
            <a:r>
              <a:rPr sz="950" b="1" i="0">
                <a:solidFill>
                  <a:srgbClr val="71C8C1"/>
                </a:solidFill>
                <a:latin typeface="Segoe UI Semibold"/>
              </a:rPr>
              <a:t>LIKELY QUESTIONS</a:t>
            </a:r>
          </a:p>
        </p:txBody>
      </p:sp>
      <p:sp>
        <p:nvSpPr>
          <p:cNvPr id="24" name="Rounded Rectangle 23"/>
          <p:cNvSpPr/>
          <p:nvPr/>
        </p:nvSpPr>
        <p:spPr>
          <a:xfrm>
            <a:off x="6903720" y="2157984"/>
            <a:ext cx="4480560" cy="603504"/>
          </a:xfrm>
          <a:prstGeom prst="roundRect">
            <a:avLst>
              <a:gd name="adj" fmla="val 12000"/>
            </a:avLst>
          </a:prstGeom>
          <a:solidFill>
            <a:srgbClr val="142B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077456" y="2231136"/>
            <a:ext cx="4160520" cy="219456"/>
          </a:xfrm>
          <a:prstGeom prst="rect">
            <a:avLst/>
          </a:prstGeom>
          <a:noFill/>
        </p:spPr>
        <p:txBody>
          <a:bodyPr wrap="square" lIns="0" rIns="0" tIns="0" bIns="0" anchor="t">
            <a:spAutoFit/>
          </a:bodyPr>
          <a:lstStyle/>
          <a:p>
            <a:pPr algn="l">
              <a:spcBef>
                <a:spcPts val="0"/>
              </a:spcBef>
              <a:spcAft>
                <a:spcPts val="0"/>
              </a:spcAft>
            </a:pPr>
            <a:r>
              <a:rPr sz="1000" b="1" i="0">
                <a:solidFill>
                  <a:srgbClr val="FFFFFF"/>
                </a:solidFill>
                <a:latin typeface="Segoe UI"/>
              </a:rPr>
              <a:t>Why 2ⁿ and not n²?</a:t>
            </a:r>
          </a:p>
        </p:txBody>
      </p:sp>
      <p:sp>
        <p:nvSpPr>
          <p:cNvPr id="26" name="TextBox 25"/>
          <p:cNvSpPr txBox="1"/>
          <p:nvPr/>
        </p:nvSpPr>
        <p:spPr>
          <a:xfrm>
            <a:off x="7077456" y="2468879"/>
            <a:ext cx="4160520" cy="219456"/>
          </a:xfrm>
          <a:prstGeom prst="rect">
            <a:avLst/>
          </a:prstGeom>
          <a:noFill/>
        </p:spPr>
        <p:txBody>
          <a:bodyPr wrap="square" lIns="0" rIns="0" tIns="0" bIns="0" anchor="t">
            <a:spAutoFit/>
          </a:bodyPr>
          <a:lstStyle/>
          <a:p>
            <a:pPr algn="l">
              <a:spcBef>
                <a:spcPts val="0"/>
              </a:spcBef>
              <a:spcAft>
                <a:spcPts val="0"/>
              </a:spcAft>
            </a:pPr>
            <a:r>
              <a:rPr sz="900" b="0" i="0">
                <a:solidFill>
                  <a:srgbClr val="9FB6C0"/>
                </a:solidFill>
                <a:latin typeface="Segoe UI"/>
              </a:rPr>
              <a:t>Each extra bit doubles the patterns.</a:t>
            </a:r>
          </a:p>
        </p:txBody>
      </p:sp>
      <p:sp>
        <p:nvSpPr>
          <p:cNvPr id="27" name="Rounded Rectangle 26"/>
          <p:cNvSpPr/>
          <p:nvPr/>
        </p:nvSpPr>
        <p:spPr>
          <a:xfrm>
            <a:off x="6903720" y="2834639"/>
            <a:ext cx="4480560" cy="603504"/>
          </a:xfrm>
          <a:prstGeom prst="roundRect">
            <a:avLst>
              <a:gd name="adj" fmla="val 12000"/>
            </a:avLst>
          </a:prstGeom>
          <a:solidFill>
            <a:srgbClr val="142B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077456" y="2907791"/>
            <a:ext cx="4160520" cy="219456"/>
          </a:xfrm>
          <a:prstGeom prst="rect">
            <a:avLst/>
          </a:prstGeom>
          <a:noFill/>
        </p:spPr>
        <p:txBody>
          <a:bodyPr wrap="square" lIns="0" rIns="0" tIns="0" bIns="0" anchor="t">
            <a:spAutoFit/>
          </a:bodyPr>
          <a:lstStyle/>
          <a:p>
            <a:pPr algn="l">
              <a:spcBef>
                <a:spcPts val="0"/>
              </a:spcBef>
              <a:spcAft>
                <a:spcPts val="0"/>
              </a:spcAft>
            </a:pPr>
            <a:r>
              <a:rPr sz="1000" b="1" i="0">
                <a:solidFill>
                  <a:srgbClr val="FFFFFF"/>
                </a:solidFill>
                <a:latin typeface="Segoe UI"/>
              </a:rPr>
              <a:t>Register vs. cache?</a:t>
            </a:r>
          </a:p>
        </p:txBody>
      </p:sp>
      <p:sp>
        <p:nvSpPr>
          <p:cNvPr id="29" name="TextBox 28"/>
          <p:cNvSpPr txBox="1"/>
          <p:nvPr/>
        </p:nvSpPr>
        <p:spPr>
          <a:xfrm>
            <a:off x="7077456" y="3145535"/>
            <a:ext cx="4160520" cy="219456"/>
          </a:xfrm>
          <a:prstGeom prst="rect">
            <a:avLst/>
          </a:prstGeom>
          <a:noFill/>
        </p:spPr>
        <p:txBody>
          <a:bodyPr wrap="square" lIns="0" rIns="0" tIns="0" bIns="0" anchor="t">
            <a:spAutoFit/>
          </a:bodyPr>
          <a:lstStyle/>
          <a:p>
            <a:pPr algn="l">
              <a:spcBef>
                <a:spcPts val="0"/>
              </a:spcBef>
              <a:spcAft>
                <a:spcPts val="0"/>
              </a:spcAft>
            </a:pPr>
            <a:r>
              <a:rPr sz="900" b="0" i="0">
                <a:solidFill>
                  <a:srgbClr val="9FB6C0"/>
                </a:solidFill>
                <a:latin typeface="Segoe UI"/>
              </a:rPr>
              <a:t>Register: by name, ~1 cycle. Cache: by address.</a:t>
            </a:r>
          </a:p>
        </p:txBody>
      </p:sp>
      <p:sp>
        <p:nvSpPr>
          <p:cNvPr id="30" name="Rounded Rectangle 29"/>
          <p:cNvSpPr/>
          <p:nvPr/>
        </p:nvSpPr>
        <p:spPr>
          <a:xfrm>
            <a:off x="6903720" y="3511296"/>
            <a:ext cx="4480560" cy="603504"/>
          </a:xfrm>
          <a:prstGeom prst="roundRect">
            <a:avLst>
              <a:gd name="adj" fmla="val 12000"/>
            </a:avLst>
          </a:prstGeom>
          <a:solidFill>
            <a:srgbClr val="142B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077456" y="3584448"/>
            <a:ext cx="4160520" cy="219456"/>
          </a:xfrm>
          <a:prstGeom prst="rect">
            <a:avLst/>
          </a:prstGeom>
          <a:noFill/>
        </p:spPr>
        <p:txBody>
          <a:bodyPr wrap="square" lIns="0" rIns="0" tIns="0" bIns="0" anchor="t">
            <a:spAutoFit/>
          </a:bodyPr>
          <a:lstStyle/>
          <a:p>
            <a:pPr algn="l">
              <a:spcBef>
                <a:spcPts val="0"/>
              </a:spcBef>
              <a:spcAft>
                <a:spcPts val="0"/>
              </a:spcAft>
            </a:pPr>
            <a:r>
              <a:rPr sz="1000" b="1" i="0">
                <a:solidFill>
                  <a:srgbClr val="FFFFFF"/>
                </a:solidFill>
                <a:latin typeface="Segoe UI"/>
              </a:rPr>
              <a:t>Why refresh DRAM?</a:t>
            </a:r>
          </a:p>
        </p:txBody>
      </p:sp>
      <p:sp>
        <p:nvSpPr>
          <p:cNvPr id="32" name="TextBox 31"/>
          <p:cNvSpPr txBox="1"/>
          <p:nvPr/>
        </p:nvSpPr>
        <p:spPr>
          <a:xfrm>
            <a:off x="7077456" y="3822191"/>
            <a:ext cx="4160520" cy="219456"/>
          </a:xfrm>
          <a:prstGeom prst="rect">
            <a:avLst/>
          </a:prstGeom>
          <a:noFill/>
        </p:spPr>
        <p:txBody>
          <a:bodyPr wrap="square" lIns="0" rIns="0" tIns="0" bIns="0" anchor="t">
            <a:spAutoFit/>
          </a:bodyPr>
          <a:lstStyle/>
          <a:p>
            <a:pPr algn="l">
              <a:spcBef>
                <a:spcPts val="0"/>
              </a:spcBef>
              <a:spcAft>
                <a:spcPts val="0"/>
              </a:spcAft>
            </a:pPr>
            <a:r>
              <a:rPr sz="900" b="0" i="0">
                <a:solidFill>
                  <a:srgbClr val="9FB6C0"/>
                </a:solidFill>
                <a:latin typeface="Segoe UI"/>
              </a:rPr>
              <a:t>The capacitor charge leaks away.</a:t>
            </a:r>
          </a:p>
        </p:txBody>
      </p:sp>
      <p:sp>
        <p:nvSpPr>
          <p:cNvPr id="33" name="Rounded Rectangle 32"/>
          <p:cNvSpPr/>
          <p:nvPr/>
        </p:nvSpPr>
        <p:spPr>
          <a:xfrm>
            <a:off x="6903720" y="4187952"/>
            <a:ext cx="4480560" cy="603504"/>
          </a:xfrm>
          <a:prstGeom prst="roundRect">
            <a:avLst>
              <a:gd name="adj" fmla="val 12000"/>
            </a:avLst>
          </a:prstGeom>
          <a:solidFill>
            <a:srgbClr val="142B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077456" y="4261104"/>
            <a:ext cx="4160520" cy="219456"/>
          </a:xfrm>
          <a:prstGeom prst="rect">
            <a:avLst/>
          </a:prstGeom>
          <a:noFill/>
        </p:spPr>
        <p:txBody>
          <a:bodyPr wrap="square" lIns="0" rIns="0" tIns="0" bIns="0" anchor="t">
            <a:spAutoFit/>
          </a:bodyPr>
          <a:lstStyle/>
          <a:p>
            <a:pPr algn="l">
              <a:spcBef>
                <a:spcPts val="0"/>
              </a:spcBef>
              <a:spcAft>
                <a:spcPts val="0"/>
              </a:spcAft>
            </a:pPr>
            <a:r>
              <a:rPr sz="1000" b="1" i="0">
                <a:solidFill>
                  <a:srgbClr val="FFFFFF"/>
                </a:solidFill>
                <a:latin typeface="Segoe UI"/>
              </a:rPr>
              <a:t>Why only one bus driver?</a:t>
            </a:r>
          </a:p>
        </p:txBody>
      </p:sp>
      <p:sp>
        <p:nvSpPr>
          <p:cNvPr id="35" name="TextBox 34"/>
          <p:cNvSpPr txBox="1"/>
          <p:nvPr/>
        </p:nvSpPr>
        <p:spPr>
          <a:xfrm>
            <a:off x="7077456" y="4498848"/>
            <a:ext cx="4160520" cy="219456"/>
          </a:xfrm>
          <a:prstGeom prst="rect">
            <a:avLst/>
          </a:prstGeom>
          <a:noFill/>
        </p:spPr>
        <p:txBody>
          <a:bodyPr wrap="square" lIns="0" rIns="0" tIns="0" bIns="0" anchor="t">
            <a:spAutoFit/>
          </a:bodyPr>
          <a:lstStyle/>
          <a:p>
            <a:pPr algn="l">
              <a:spcBef>
                <a:spcPts val="0"/>
              </a:spcBef>
              <a:spcAft>
                <a:spcPts val="0"/>
              </a:spcAft>
            </a:pPr>
            <a:r>
              <a:rPr sz="900" b="0" i="0">
                <a:solidFill>
                  <a:srgbClr val="9FB6C0"/>
                </a:solidFill>
                <a:latin typeface="Segoe UI"/>
              </a:rPr>
              <a:t>Two enabled outputs short the line.</a:t>
            </a:r>
          </a:p>
        </p:txBody>
      </p:sp>
      <p:sp>
        <p:nvSpPr>
          <p:cNvPr id="36" name="TextBox 35"/>
          <p:cNvSpPr txBox="1"/>
          <p:nvPr/>
        </p:nvSpPr>
        <p:spPr>
          <a:xfrm>
            <a:off x="6903720" y="4956048"/>
            <a:ext cx="4480560" cy="237744"/>
          </a:xfrm>
          <a:prstGeom prst="rect">
            <a:avLst/>
          </a:prstGeom>
          <a:noFill/>
        </p:spPr>
        <p:txBody>
          <a:bodyPr wrap="square" lIns="0" rIns="0" tIns="0" bIns="0" anchor="t">
            <a:spAutoFit/>
          </a:bodyPr>
          <a:lstStyle/>
          <a:p>
            <a:pPr algn="l">
              <a:spcBef>
                <a:spcPts val="0"/>
              </a:spcBef>
              <a:spcAft>
                <a:spcPts val="0"/>
              </a:spcAft>
            </a:pPr>
            <a:r>
              <a:rPr sz="950" b="1" i="0">
                <a:solidFill>
                  <a:srgbClr val="71C8C1"/>
                </a:solidFill>
                <a:latin typeface="Segoe UI Semibold"/>
              </a:rPr>
              <a:t>SOURCES</a:t>
            </a:r>
          </a:p>
        </p:txBody>
      </p:sp>
      <p:sp>
        <p:nvSpPr>
          <p:cNvPr id="37" name="TextBox 36"/>
          <p:cNvSpPr txBox="1"/>
          <p:nvPr/>
        </p:nvSpPr>
        <p:spPr>
          <a:xfrm>
            <a:off x="6903720" y="5230368"/>
            <a:ext cx="4480560" cy="914400"/>
          </a:xfrm>
          <a:prstGeom prst="rect">
            <a:avLst/>
          </a:prstGeom>
          <a:noFill/>
        </p:spPr>
        <p:txBody>
          <a:bodyPr wrap="square" lIns="0" rIns="0" tIns="0" bIns="0" anchor="t">
            <a:spAutoFit/>
          </a:bodyPr>
          <a:lstStyle/>
          <a:p>
            <a:pPr algn="l">
              <a:lnSpc>
                <a:spcPct val="112000"/>
              </a:lnSpc>
              <a:spcBef>
                <a:spcPts val="0"/>
              </a:spcBef>
              <a:spcAft>
                <a:spcPts val="400"/>
              </a:spcAft>
            </a:pPr>
            <a:r>
              <a:rPr sz="850" b="0" i="0">
                <a:solidFill>
                  <a:srgbClr val="9FB6C0"/>
                </a:solidFill>
                <a:latin typeface="Segoe UI"/>
              </a:rPr>
              <a:t>Mano, Computer System Architecture, 3rd ed. — Ch. 2, 4.</a:t>
            </a:r>
          </a:p>
          <a:p>
            <a:pPr algn="l">
              <a:lnSpc>
                <a:spcPct val="112000"/>
              </a:lnSpc>
              <a:spcBef>
                <a:spcPts val="0"/>
              </a:spcBef>
              <a:spcAft>
                <a:spcPts val="400"/>
              </a:spcAft>
            </a:pPr>
            <a:r>
              <a:rPr sz="850" b="0" i="0">
                <a:solidFill>
                  <a:srgbClr val="9FB6C0"/>
                </a:solidFill>
                <a:latin typeface="Segoe UI"/>
              </a:rPr>
              <a:t>Stallings, Computer Organization and Architecture, 10th ed. — Ch. 3, 4.</a:t>
            </a:r>
          </a:p>
          <a:p>
            <a:pPr algn="l">
              <a:lnSpc>
                <a:spcPct val="112000"/>
              </a:lnSpc>
              <a:spcBef>
                <a:spcPts val="0"/>
              </a:spcBef>
              <a:spcAft>
                <a:spcPts val="400"/>
              </a:spcAft>
            </a:pPr>
            <a:r>
              <a:rPr sz="850" b="0" i="0">
                <a:solidFill>
                  <a:srgbClr val="9FB6C0"/>
                </a:solidFill>
                <a:latin typeface="Segoe UI"/>
              </a:rPr>
              <a:t>Patterson &amp; Hennessy, Computer Organization and Design — Ch. 4.</a:t>
            </a:r>
          </a:p>
        </p:txBody>
      </p:sp>
      <p:sp>
        <p:nvSpPr>
          <p:cNvPr id="38" name="TextBox 37"/>
          <p:cNvSpPr txBox="1"/>
          <p:nvPr/>
        </p:nvSpPr>
        <p:spPr>
          <a:xfrm>
            <a:off x="822960" y="6309360"/>
            <a:ext cx="6035040" cy="274320"/>
          </a:xfrm>
          <a:prstGeom prst="rect">
            <a:avLst/>
          </a:prstGeom>
          <a:noFill/>
        </p:spPr>
        <p:txBody>
          <a:bodyPr wrap="square" lIns="0" rIns="0" tIns="0" bIns="0" anchor="t">
            <a:spAutoFit/>
          </a:bodyPr>
          <a:lstStyle/>
          <a:p>
            <a:pPr algn="l">
              <a:spcBef>
                <a:spcPts val="0"/>
              </a:spcBef>
              <a:spcAft>
                <a:spcPts val="0"/>
              </a:spcAft>
            </a:pPr>
            <a:r>
              <a:rPr sz="1200" b="1" i="0">
                <a:solidFill>
                  <a:srgbClr val="71C8C1"/>
                </a:solidFill>
                <a:latin typeface="Segoe UI"/>
              </a:rPr>
              <a:t>Thank you — questions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