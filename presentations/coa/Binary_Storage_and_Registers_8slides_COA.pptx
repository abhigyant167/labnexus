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topic is Binary Storage and Registers.</a:t>
            </a:r>
          </a:p>
          <a:p>
            <a:r>
              <a:t>Two questions drive the whole presentation: how does a machine that only understands</a:t>
            </a:r>
          </a:p>
          <a:p>
            <a:r>
              <a:t>ON and OFF keep a value, and where does it keep that value while it is working on it?</a:t>
            </a:r>
          </a:p>
          <a:p>
            <a:r>
              <a:t>The answer to the first is the binary storage cell; the answer to the second is the</a:t>
            </a:r>
          </a:p>
          <a:p>
            <a:r>
              <a:t>register. Everything else in the CPU is built on top of these two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route, and it is one straight line: bits, then the circuit that stores a</a:t>
            </a:r>
          </a:p>
          <a:p>
            <a:r>
              <a:t>bit, then many of those circuits in a row (a register), then how registers are</a:t>
            </a:r>
          </a:p>
          <a:p>
            <a:r>
              <a:t>controlled and moved into each other, and finally where registers fit in the memory</a:t>
            </a:r>
          </a:p>
          <a:p>
            <a:r>
              <a:t>hierarchy, with one worked example. Every later slide reuses the one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binary at all? Because a transistor that is either fully off or fully on is cheap,</a:t>
            </a:r>
          </a:p>
          <a:p>
            <a:r>
              <a:t>fast and immune to small noise. A single bit answers one yes/no question; with n bits</a:t>
            </a:r>
          </a:p>
          <a:p>
            <a:r>
              <a:t>we get two to the n patterns - 256 for a byte, 4.3 billion for 32 bits, which is why</a:t>
            </a:r>
          </a:p>
          <a:p>
            <a:r>
              <a:t>IPv4 ran out of addresses.</a:t>
            </a:r>
          </a:p>
          <a:p>
            <a:r>
              <a:t>The same eight bits can be written in binary, octal, decimal or hex. Hex exists purely</a:t>
            </a:r>
          </a:p>
          <a:p>
            <a:r>
              <a:t>for humans: four bits are one hex digit, so a byte is always two characters, which is</a:t>
            </a:r>
          </a:p>
          <a:p>
            <a:r>
              <a:t>why memory dumps and addresses are shown that way.</a:t>
            </a:r>
          </a:p>
          <a:p>
            <a:r>
              <a:t>And the units are powers of two for the same reason: k address bits give 2 to the k</a:t>
            </a:r>
          </a:p>
          <a:p>
            <a:r>
              <a:t>locations. That is why 1 KB is 1024 bytes and not 1000.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physical question: what actually remembers a bit?</a:t>
            </a:r>
          </a:p>
          <a:p>
            <a:r>
              <a:t>The SR latch is two NOR gates feeding each other - a circuit that argues itself into a</a:t>
            </a:r>
          </a:p>
          <a:p>
            <a:r>
              <a:t>stable answer and keeps it. Cheap, but level-sensitive.</a:t>
            </a:r>
          </a:p>
          <a:p>
            <a:r>
              <a:t>The D flip-flop is the workhorse: it samples D only on the rising clock edge, so the</a:t>
            </a:r>
          </a:p>
          <a:p>
            <a:r>
              <a:t>whole design has a predictable rhythm. When we say a register is n flip-flops, this is</a:t>
            </a:r>
          </a:p>
          <a:p>
            <a:r>
              <a:t>the box we mean.</a:t>
            </a:r>
          </a:p>
          <a:p>
            <a:r>
              <a:t>The DRAM cell is one transistor plus one capacitor: charge means 1. It is tiny, so you</a:t>
            </a:r>
          </a:p>
          <a:p>
            <a:r>
              <a:t>get gigabits per chip, but the charge leaks and must be refreshed every few tens of</a:t>
            </a:r>
          </a:p>
          <a:p>
            <a:r>
              <a:t>milliseconds. That trade-off - six transistors for speed, one transistor for density -</a:t>
            </a:r>
          </a:p>
          <a:p>
            <a:r>
              <a:t>is the whole reason the memory hierarchy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scale a bit up. A register is just n flip-flops side by side sharing one clock</a:t>
            </a:r>
          </a:p>
          <a:p>
            <a:r>
              <a:t>line. Because they all sample the same edge, the word is written atomically - you never</a:t>
            </a:r>
          </a:p>
          <a:p>
            <a:r>
              <a:t>read half the new value and half the old. An 8-bit register is eight flip-flops; a</a:t>
            </a:r>
          </a:p>
          <a:p>
            <a:r>
              <a:t>64-bit register is sixty-four.</a:t>
            </a:r>
          </a:p>
          <a:p>
            <a:r>
              <a:t>Crucially, a register has no address: it is selected by name in the instruction, which</a:t>
            </a:r>
          </a:p>
          <a:p>
            <a:r>
              <a:t>is why it costs one cycle instead of a memory round trip.</a:t>
            </a:r>
          </a:p>
          <a:p>
            <a:r>
              <a:t>The table is the cast of characters: the PC makes a program a sequence, the IR holds what</a:t>
            </a:r>
          </a:p>
          <a:p>
            <a:r>
              <a:t>is being decoded, MAR and MDR are the only route to memory, the accumulator is the</a:t>
            </a:r>
          </a:p>
          <a:p>
            <a:r>
              <a:t>classic one-operand design, the stack pointer makes calls possible, and the status</a:t>
            </a:r>
          </a:p>
          <a:p>
            <a:r>
              <a:t>register makes branches possible. All of them are the same hardware underneath.</a:t>
            </a:r>
          </a:p>
          <a:p>
            <a:r>
              <a:t>Register transfer notation is how we write data movement: R2 arrow R1 means copy R1 into</a:t>
            </a:r>
          </a:p>
          <a:p>
            <a:r>
              <a:t>R2, and it executes only when its control signal is asserted.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control ideas, all on one slide.</a:t>
            </a:r>
          </a:p>
          <a:p>
            <a:r>
              <a:t>Parallel load: a two-to-one multiplexer sits in front of every flip-flop. With Load</a:t>
            </a:r>
          </a:p>
          <a:p>
            <a:r>
              <a:t>high it passes the external data; with Load low it feeds the flip-flop's own output</a:t>
            </a:r>
          </a:p>
          <a:p>
            <a:r>
              <a:t>back, so the register holds. That is why every real processor has write-enable signals.</a:t>
            </a:r>
          </a:p>
          <a:p>
            <a:r>
              <a:t>Shift: connect each Q to the next D and bits march one position per clock. Left shift</a:t>
            </a:r>
          </a:p>
          <a:p>
            <a:r>
              <a:t>doubles, right shift halves, and a rotate brings the bit that fell off one end back in</a:t>
            </a:r>
          </a:p>
          <a:p>
            <a:r>
              <a:t>at the other, so nothing is lost.</a:t>
            </a:r>
          </a:p>
          <a:p>
            <a:r>
              <a:t>Bus: if every register had its own path to every other register the wire count grows as n</a:t>
            </a:r>
          </a:p>
          <a:p>
            <a:r>
              <a:t>squared. Instead all registers share one bus through tri-state buffers, which can be</a:t>
            </a:r>
          </a:p>
          <a:p>
            <a:r>
              <a:t>0, 1 or high impedance. Exactly one may be enabled - two at once is bus contention, a</a:t>
            </a:r>
          </a:p>
          <a:p>
            <a:r>
              <a:t>short circuit rather than just a wrong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Placement first. The bit in a register and the bit in RAM are logically identical but</a:t>
            </a:r>
          </a:p>
          <a:p>
            <a:r>
              <a:t>physically very different. A register is flip-flops inside the CPU, selected by name,</a:t>
            </a:r>
          </a:p>
          <a:p>
            <a:r>
              <a:t>read in a fraction of a cycle. Cache is SRAM at a few nanoseconds, main memory is DRAM</a:t>
            </a:r>
          </a:p>
          <a:p>
            <a:r>
              <a:t>at tens of nanoseconds, disk is microseconds to milliseconds. We cannot make everything</a:t>
            </a:r>
          </a:p>
          <a:p>
            <a:r>
              <a:t>registers because a flip-flop costs about six transistors per bit against one transistor</a:t>
            </a:r>
          </a:p>
          <a:p>
            <a:r>
              <a:t>and a capacitor for DRAM - you could never fit gigabytes that way.</a:t>
            </a:r>
          </a:p>
          <a:p>
            <a:r>
              <a:t>Then the example, all on the same eight flip-flops. R1 holds 0000 1101, which is 13.</a:t>
            </a:r>
          </a:p>
          <a:p>
            <a:r>
              <a:t>A load overwrites the whole word at once. A left shift gives 0001 1010 = 26, a right</a:t>
            </a:r>
          </a:p>
          <a:p>
            <a:r>
              <a:t>shift gives 0000 0110 = 6 with the remainder lost, and a rotate gives 1000 0110 = 134</a:t>
            </a:r>
          </a:p>
          <a:p>
            <a:r>
              <a:t>without losing a single bit. Same hardware every time; only the control signals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close. One: binary is not a convention, it is a hardware decision, and n bits give</a:t>
            </a:r>
          </a:p>
          <a:p>
            <a:r>
              <a:t>two to the n patterns. Two: a bit survives because of a bistable circuit. Three: a</a:t>
            </a:r>
          </a:p>
          <a:p>
            <a:r>
              <a:t>register is that circuit repeated n times with a common clock, so updates are atomic.</a:t>
            </a:r>
          </a:p>
          <a:p>
            <a:r>
              <a:t>Four: control signals decide what happens - load to write, shift to move, tri-state to</a:t>
            </a:r>
          </a:p>
          <a:p>
            <a:r>
              <a:t>share a bus. Five: that is exactly why the hierarchy looks the way it does.</a:t>
            </a:r>
          </a:p>
          <a:p>
            <a:r>
              <a:t>On the right are the four questions I would expect, with short answers. Thank you -</a:t>
            </a:r>
          </a:p>
          <a:p>
            <a:r>
              <a:t>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3117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6853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853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117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985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6853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1874519"/>
            <a:ext cx="566928" cy="685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10312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1C8C1"/>
                </a:solidFill>
                <a:latin typeface="Segoe UI Semibold"/>
              </a:rPr>
              <a:t>COMPUTER ORGANIZATION AND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487168"/>
            <a:ext cx="82296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Semibold"/>
              </a:rPr>
              <a:t>Binary Storage
and Registers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06240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B6C7CF"/>
                </a:solidFill>
                <a:latin typeface="Segoe UI"/>
              </a:rPr>
              <a:t>How a computer holds a 1, a 0, and a whole number inside the CPU.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956048"/>
            <a:ext cx="4480560" cy="18288"/>
          </a:xfrm>
          <a:prstGeom prst="rect">
            <a:avLst/>
          </a:prstGeom>
          <a:solidFill>
            <a:srgbClr val="2A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02352"/>
            <a:ext cx="4754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7E939E"/>
                </a:solidFill>
                <a:latin typeface="Segoe UI"/>
              </a:rPr>
              <a:t>Presented by  </a:t>
            </a:r>
            <a:r>
              <a:rPr sz="1350" b="1" i="0">
                <a:solidFill>
                  <a:srgbClr val="FFFFFF"/>
                </a:solidFill>
                <a:latin typeface="Segoe UI"/>
              </a:rPr>
              <a:t>&lt;Your Name&gt;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7E939E"/>
                </a:solidFill>
                <a:latin typeface="Segoe UI"/>
              </a:rPr>
              <a:t>Roll no. / Section  </a:t>
            </a:r>
            <a:r>
              <a:rPr sz="1350" b="1" i="0">
                <a:solidFill>
                  <a:srgbClr val="FFFFFF"/>
                </a:solidFill>
                <a:latin typeface="Segoe UI"/>
              </a:rPr>
              <a:t>&lt;Roll No&gt;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447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8692"/>
                </a:solidFill>
                <a:latin typeface="Segoe UI"/>
              </a:rPr>
              <a:t>Theory Presentation  ·  8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What we will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Six ideas, in the order they build on each other.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5839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68118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187667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1212E"/>
                </a:solidFill>
                <a:latin typeface="Segoe UI"/>
              </a:rPr>
              <a:t>Binary representation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91325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A69"/>
                </a:solidFill>
                <a:latin typeface="Segoe UI"/>
              </a:rPr>
              <a:t>bits, bases, powers at work: 2ⁿ patterns, KB/MB/GB/TB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461895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2589911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99639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608199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1212E"/>
                </a:solidFill>
                <a:latin typeface="Segoe UI"/>
              </a:rPr>
              <a:t>Storage elements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644775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A69"/>
                </a:solidFill>
                <a:latin typeface="Segoe UI"/>
              </a:rPr>
              <a:t>SR latch, D flip-flop, DRAM capacitor — where one bit lives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193415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3321431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431159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339719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1212E"/>
                </a:solidFill>
                <a:latin typeface="Segoe UI"/>
              </a:rPr>
              <a:t>The register itself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76295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A69"/>
                </a:solidFill>
                <a:latin typeface="Segoe UI"/>
              </a:rPr>
              <a:t>n flip-flops on one clock, plus the CPU's named registers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3924935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405295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162679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071239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1212E"/>
                </a:solidFill>
                <a:latin typeface="Segoe UI"/>
              </a:rPr>
              <a:t>Control and transfer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107815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A69"/>
                </a:solidFill>
                <a:latin typeface="Segoe UI"/>
              </a:rPr>
              <a:t>R1 ← R2, load enable, shift registers, tri-state bus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4656455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3232" y="478447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894199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802759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1212E"/>
                </a:solidFill>
                <a:latin typeface="Segoe UI"/>
              </a:rPr>
              <a:t>Placement and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4839335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A69"/>
                </a:solidFill>
                <a:latin typeface="Segoe UI"/>
              </a:rPr>
              <a:t>memory hierarchy, then one 8-bit register worked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387975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3232" y="551599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625718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5534279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1212E"/>
                </a:solidFill>
                <a:latin typeface="Segoe UI"/>
              </a:rPr>
              <a:t>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5570855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A69"/>
                </a:solidFill>
                <a:latin typeface="Segoe UI"/>
              </a:rPr>
              <a:t>five sentences that carry the whole topic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01 ·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Binary: two states, and 2ⁿ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Hardware is cheapest when it only has to tell two states apart — and n bits then give exactly 2ⁿ values.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48663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212E"/>
                </a:solidFill>
                <a:latin typeface="Segoe UI Semibold"/>
              </a:rPr>
              <a:t>One byte = 8 bits = 2 hex digits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32711"/>
            <a:ext cx="420624" cy="420624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6424" y="2132711"/>
            <a:ext cx="420624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27048" y="2132711"/>
            <a:ext cx="420624" cy="420624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27048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2132711"/>
            <a:ext cx="420624" cy="420624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68296" y="2132711"/>
            <a:ext cx="420624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8296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132711"/>
            <a:ext cx="420624" cy="420624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9544" y="2132711"/>
            <a:ext cx="420624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0168" y="2132711"/>
            <a:ext cx="420624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0168" y="2215007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7048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7672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68296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9544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0168" y="2599055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699639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MSB ← position weights → LSB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3028823"/>
            <a:ext cx="5257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6"/>
                </a:solidFill>
                <a:latin typeface="Segoe UI Semibold"/>
              </a:rPr>
              <a:t>WEIGHTS 128 · 64 · 32 · 16 · 8 · 4 · 2 ·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284855"/>
            <a:ext cx="5257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A69"/>
                </a:solidFill>
                <a:latin typeface="Segoe UI"/>
              </a:rPr>
              <a:t>128 + 32 + 16 + 4 = 180</a:t>
            </a:r>
            <a:r>
              <a:rPr sz="1150" b="0" i="0">
                <a:solidFill>
                  <a:srgbClr val="788897"/>
                </a:solidFill>
                <a:latin typeface="Segoe UI"/>
              </a:rPr>
              <a:t>     1011 0100 → </a:t>
            </a:r>
            <a:r>
              <a:rPr sz="1150" b="1" i="0">
                <a:solidFill>
                  <a:srgbClr val="0A5A62"/>
                </a:solidFill>
                <a:latin typeface="Consolas"/>
              </a:rPr>
              <a:t>0xB4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796918"/>
            <a:ext cx="5257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88897"/>
                </a:solidFill>
                <a:latin typeface="Segoe UI"/>
              </a:rPr>
              <a:t>A 0 or 1 is a voltage range, not an exact level: below ~0.8 V reads 0, above ~2.0 V reads 1, so small noise changes nothing.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85800" y="4400423"/>
          <a:ext cx="5257800" cy="15316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58368"/>
                <a:gridCol w="1298448"/>
                <a:gridCol w="1691640"/>
                <a:gridCol w="1609344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Base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Name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Digits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10110100₂ is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Binary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0, 1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10110100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Octal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0 – 7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Decimal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0 – 9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Hex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0 – 9, A – F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0xB4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6355080" y="1748663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212E"/>
                </a:solidFill>
                <a:latin typeface="Segoe UI Semibold"/>
              </a:rPr>
              <a:t>How many values fit in n bits?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355080" y="2114423"/>
          <a:ext cx="5120640" cy="1783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66928"/>
                <a:gridCol w="1280160"/>
                <a:gridCol w="1691640"/>
                <a:gridCol w="1581912"/>
              </a:tblGrid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Patterns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Unsigned range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Typical use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 – 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flag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256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 – 255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byte / ASCII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65,536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 – 65,535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half-word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4.29 × 10⁹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 – 2³²−1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word / IPv4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1.84 × 10¹⁹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 – 2⁶⁴−1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long / address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355080" y="3961511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212E"/>
                </a:solidFill>
                <a:latin typeface="Segoe UI Semibold"/>
              </a:rPr>
              <a:t>Storage units are powers of two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4308983"/>
            <a:ext cx="1197864" cy="85953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4400423"/>
            <a:ext cx="1197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Segoe UI"/>
              </a:rPr>
              <a:t>1 KB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63816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2¹⁰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75911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Segoe UI"/>
              </a:rPr>
              <a:t>1,024 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62672" y="4308983"/>
            <a:ext cx="1197864" cy="85953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62672" y="4400423"/>
            <a:ext cx="1197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Segoe UI"/>
              </a:rPr>
              <a:t>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62672" y="463816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2²⁰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08392" y="4875911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Segoe UI"/>
              </a:rPr>
              <a:t>1,048,576 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70264" y="4308983"/>
            <a:ext cx="1197864" cy="85953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70264" y="4400423"/>
            <a:ext cx="1197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Segoe UI"/>
              </a:rPr>
              <a:t>1 GB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0264" y="463816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2³⁰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15984" y="4875911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Segoe UI"/>
              </a:rPr>
              <a:t>1.07 × 10⁹ 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77856" y="4308983"/>
            <a:ext cx="1197864" cy="85953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7856" y="4400423"/>
            <a:ext cx="1197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Segoe UI"/>
              </a:rPr>
              <a:t>1 TB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77856" y="463816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2⁴⁰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23576" y="4875911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Segoe UI"/>
              </a:rPr>
              <a:t>1.10 × 10¹² 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5314823"/>
            <a:ext cx="5120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Segoe UI"/>
              </a:rPr>
              <a:t>Why 1024 and not 1000? 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k address bits select 2ᵏ locations, so capacity lands on powers of two.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02 · STORAGE ELEMENTS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A bit needs a circuit that can hold a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Any stable two-state circuit is a bit cell. Three you should know: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48663"/>
            <a:ext cx="3520440" cy="2688336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1949831"/>
            <a:ext cx="1367028" cy="292608"/>
          </a:xfrm>
          <a:prstGeom prst="roundRect">
            <a:avLst>
              <a:gd name="adj" fmla="val 2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18411"/>
            <a:ext cx="1367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A. SR LATCH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333879"/>
            <a:ext cx="30358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A69"/>
                </a:solidFill>
                <a:latin typeface="Segoe UI"/>
              </a:rPr>
              <a:t>Two cross-coupled NOR gates. The feedback loop keeps the value alive while power is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2973959"/>
            <a:ext cx="1115568" cy="493776"/>
          </a:xfrm>
          <a:prstGeom prst="rect">
            <a:avLst/>
          </a:prstGeom>
          <a:solidFill>
            <a:srgbClr val="FFFFFF"/>
          </a:solidFill>
          <a:ln w="15875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248279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NOR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3833495"/>
            <a:ext cx="1115568" cy="493776"/>
          </a:xfrm>
          <a:prstGeom prst="rect">
            <a:avLst/>
          </a:prstGeom>
          <a:solidFill>
            <a:srgbClr val="FFFFFF"/>
          </a:solidFill>
          <a:ln w="15875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943222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NOR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6" y="3101975"/>
            <a:ext cx="402336" cy="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82519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611880" y="4180967"/>
            <a:ext cx="292607" cy="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59352" y="4052951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50008" y="3101975"/>
            <a:ext cx="36576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386584" y="3101975"/>
            <a:ext cx="0" cy="859536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345436" y="3060827"/>
            <a:ext cx="82296" cy="822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3160" y="286423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Q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996696" y="4180967"/>
            <a:ext cx="1472184" cy="0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6696" y="3303143"/>
            <a:ext cx="0" cy="877824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96696" y="3303143"/>
            <a:ext cx="219456" cy="0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51560" y="3888359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88897"/>
                </a:solidFill>
                <a:latin typeface="Consolas"/>
              </a:rPr>
              <a:t>Q̅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1748663"/>
            <a:ext cx="3520440" cy="2688336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18303" y="1949831"/>
            <a:ext cx="1655064" cy="292608"/>
          </a:xfrm>
          <a:prstGeom prst="roundRect">
            <a:avLst>
              <a:gd name="adj" fmla="val 2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3" y="2018411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B. D FLIP-FLOP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2333879"/>
            <a:ext cx="30358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A69"/>
                </a:solidFill>
                <a:latin typeface="Segoe UI"/>
              </a:rPr>
              <a:t>The standard 1-bit cell. Samples D only at a clock edge, so timing is predictable.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79" y="2937383"/>
            <a:ext cx="1481328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79" y="3321431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5A62"/>
                </a:solidFill>
                <a:latin typeface="Consolas"/>
              </a:rPr>
              <a:t>D  FF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64607" y="3138551"/>
            <a:ext cx="576072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90288" y="2937383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64607" y="3760343"/>
            <a:ext cx="576072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6200000">
            <a:off x="5404103" y="3696335"/>
            <a:ext cx="128016" cy="128016"/>
          </a:xfrm>
          <a:prstGeom prst="triangl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8847" y="3650615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1212E"/>
                </a:solidFill>
                <a:latin typeface="Consolas"/>
              </a:rPr>
              <a:t>CLK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22007" y="3138551"/>
            <a:ext cx="484633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370063" y="293738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Q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922007" y="3760343"/>
            <a:ext cx="374905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260336" y="3815207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88897"/>
                </a:solidFill>
                <a:latin typeface="Consolas"/>
              </a:rPr>
              <a:t>Q̅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18303" y="4144391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Q(next) = D on every rising clock edge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75320" y="1748663"/>
            <a:ext cx="3520440" cy="2688336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13064" y="1949831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13064" y="2018411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C. DRAM CELL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13064" y="2333879"/>
            <a:ext cx="30358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A69"/>
                </a:solidFill>
                <a:latin typeface="Segoe UI"/>
              </a:rPr>
              <a:t>One transistor and one capacitor: charge = 1, no charge = 0.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686800" y="3394583"/>
            <a:ext cx="1691640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415016" y="3229991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bit 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54312" y="3248279"/>
            <a:ext cx="310896" cy="274320"/>
          </a:xfrm>
          <a:prstGeom prst="rect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9509760" y="2919095"/>
            <a:ext cx="0" cy="329184"/>
          </a:xfrm>
          <a:prstGeom prst="line">
            <a:avLst/>
          </a:prstGeom>
          <a:ln w="1651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509760" y="2919095"/>
            <a:ext cx="1097280" cy="0"/>
          </a:xfrm>
          <a:prstGeom prst="line">
            <a:avLst/>
          </a:prstGeom>
          <a:ln w="1651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509760" y="2699639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D98400"/>
                </a:solidFill>
                <a:latin typeface="Segoe UI"/>
              </a:rPr>
              <a:t>word line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9760" y="3522599"/>
            <a:ext cx="0" cy="384048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62872" y="3906647"/>
            <a:ext cx="493776" cy="0"/>
          </a:xfrm>
          <a:prstGeom prst="line">
            <a:avLst/>
          </a:prstGeom>
          <a:ln w="279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262872" y="3906647"/>
            <a:ext cx="493776" cy="0"/>
          </a:xfrm>
          <a:prstGeom prst="line">
            <a:avLst/>
          </a:prstGeom>
          <a:ln w="279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09760" y="3906647"/>
            <a:ext cx="0" cy="182879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144000" y="4089526"/>
            <a:ext cx="758952" cy="0"/>
          </a:xfrm>
          <a:prstGeom prst="line">
            <a:avLst/>
          </a:prstGeom>
          <a:ln w="1778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29800" y="3723767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1212E"/>
                </a:solidFill>
                <a:latin typeface="Consolas"/>
              </a:rPr>
              <a:t>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4144391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8400"/>
                </a:solidFill>
                <a:latin typeface="Consolas"/>
              </a:rPr>
              <a:t>Needs refreshing every ~64 ms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4583303"/>
            <a:ext cx="10835640" cy="1133856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6112" y="4674743"/>
            <a:ext cx="10424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6"/>
                </a:solidFill>
                <a:latin typeface="Segoe UI Semibold"/>
              </a:rPr>
              <a:t>THE TRADE-OFF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112" y="4949063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Segoe UI"/>
              </a:rPr>
              <a:t>Flip-flop: 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~6 transistors per bit, no refresh, fast — the right choice inside the CPU.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6112" y="5314823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8400"/>
                </a:solidFill>
                <a:latin typeface="Segoe UI"/>
              </a:rPr>
              <a:t>DRAM cell: 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1 transistor + 1 capacitor, needs refresh — the right choice for gigabytes.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03 · THE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A register is n flip-flops sharing one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It stores one binary word and is read or written as a unit — selected by name, not by address.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516759"/>
            <a:ext cx="868680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9107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48279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bit 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05940" y="2150999"/>
            <a:ext cx="0" cy="347472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31620" y="187667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212E"/>
                </a:solidFill>
                <a:latin typeface="Consolas"/>
              </a:rPr>
              <a:t>D₃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05940" y="3577463"/>
            <a:ext cx="0" cy="329184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05940" y="3815207"/>
            <a:ext cx="0" cy="109728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531620" y="396151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5A62"/>
                </a:solidFill>
                <a:latin typeface="Consolas"/>
              </a:rPr>
              <a:t>Q₃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2516759"/>
            <a:ext cx="868680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279107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248279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bit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48940" y="2150999"/>
            <a:ext cx="0" cy="347472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674620" y="187667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212E"/>
                </a:solidFill>
                <a:latin typeface="Consolas"/>
              </a:rPr>
              <a:t>D₂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48940" y="3577463"/>
            <a:ext cx="0" cy="329184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948940" y="3815207"/>
            <a:ext cx="0" cy="109728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674620" y="396151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5A62"/>
                </a:solidFill>
                <a:latin typeface="Consolas"/>
              </a:rPr>
              <a:t>Q₂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2516759"/>
            <a:ext cx="868680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79107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248279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bit 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91939" y="2150999"/>
            <a:ext cx="0" cy="347472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17620" y="187667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212E"/>
                </a:solidFill>
                <a:latin typeface="Consolas"/>
              </a:rPr>
              <a:t>D₁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91939" y="3577463"/>
            <a:ext cx="0" cy="329184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091939" y="3815207"/>
            <a:ext cx="0" cy="109728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17620" y="396151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5A62"/>
                </a:solidFill>
                <a:latin typeface="Consolas"/>
              </a:rPr>
              <a:t>Q₁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0600" y="2516759"/>
            <a:ext cx="868680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79107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3248279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bit 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34940" y="2150999"/>
            <a:ext cx="0" cy="347472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960620" y="187667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212E"/>
                </a:solidFill>
                <a:latin typeface="Consolas"/>
              </a:rPr>
              <a:t>D₀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34940" y="3577463"/>
            <a:ext cx="0" cy="329184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234940" y="3815207"/>
            <a:ext cx="0" cy="109728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960620" y="396151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5A62"/>
                </a:solidFill>
                <a:latin typeface="Consolas"/>
              </a:rPr>
              <a:t>Q₀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3742055"/>
            <a:ext cx="4983480" cy="0"/>
          </a:xfrm>
          <a:prstGeom prst="line">
            <a:avLst/>
          </a:prstGeom>
          <a:ln w="2032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05940" y="3559174"/>
            <a:ext cx="0" cy="182881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764792" y="3700907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948940" y="3559174"/>
            <a:ext cx="0" cy="182881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907792" y="3700907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4091939" y="3559174"/>
            <a:ext cx="0" cy="182881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4050791" y="3700907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5234940" y="3559174"/>
            <a:ext cx="0" cy="182881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193792" y="3700907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3431159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8400"/>
                </a:solidFill>
                <a:latin typeface="Consolas"/>
              </a:rPr>
              <a:t>CLK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371600" y="4254118"/>
            <a:ext cx="0" cy="128016"/>
          </a:xfrm>
          <a:prstGeom prst="line">
            <a:avLst/>
          </a:prstGeom>
          <a:ln w="1397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669280" y="4254118"/>
            <a:ext cx="0" cy="128016"/>
          </a:xfrm>
          <a:prstGeom prst="line">
            <a:avLst/>
          </a:prstGeom>
          <a:ln w="1397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371600" y="4382134"/>
            <a:ext cx="4297680" cy="0"/>
          </a:xfrm>
          <a:prstGeom prst="line">
            <a:avLst/>
          </a:prstGeom>
          <a:ln w="1397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325880" y="4455286"/>
            <a:ext cx="4434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Segoe UI"/>
              </a:rPr>
              <a:t>one 4-bit register — value stored = Q₃Q₂Q₁Q₀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4766183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4766183"/>
            <a:ext cx="4160520" cy="4015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212E"/>
                </a:solidFill>
                <a:latin typeface="Segoe UI"/>
              </a:rPr>
              <a:t>One clock, one update. </a:t>
            </a:r>
            <a:r>
              <a:rPr sz="1150" b="0" i="0">
                <a:solidFill>
                  <a:srgbClr val="11212E"/>
                </a:solidFill>
                <a:latin typeface="Segoe UI"/>
              </a:rPr>
              <a:t>All bits change together, so the word is never half-written.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387154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34440" y="5387154"/>
            <a:ext cx="4160520" cy="219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212E"/>
                </a:solidFill>
                <a:latin typeface="Segoe UI"/>
              </a:rPr>
              <a:t>Width = flip-flop count. </a:t>
            </a:r>
            <a:r>
              <a:rPr sz="1150" b="0" i="0">
                <a:solidFill>
                  <a:srgbClr val="11212E"/>
                </a:solidFill>
                <a:latin typeface="Segoe UI"/>
              </a:rPr>
              <a:t>8-bit = 8 FFs, 64-bit = 64 FFs.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9320" y="1748663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212E"/>
                </a:solidFill>
                <a:latin typeface="Segoe UI Semibold"/>
              </a:rPr>
              <a:t>Registers you will meet inside a CPU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5989320" y="2114423"/>
          <a:ext cx="5486399" cy="23774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03504"/>
                <a:gridCol w="2084831"/>
                <a:gridCol w="2798064"/>
              </a:tblGrid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Reg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Full name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Holds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PC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Program Counter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address of the next instruction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IR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Instruction Register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the instruction being decoded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MAR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Memory Address Register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address sent to memory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MDR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Memory Data Register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data read / to be written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ACC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Accumulator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intermediate ALU result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SP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Stack Pointer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top of the stack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PSW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Status / Flags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zero, carry, sign, overflow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5989320" y="4565015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212E"/>
                </a:solidFill>
                <a:latin typeface="Segoe UI Semibold"/>
              </a:rPr>
              <a:t>Register transfer notation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89320" y="4912487"/>
            <a:ext cx="5486400" cy="548640"/>
          </a:xfrm>
          <a:prstGeom prst="roundRect">
            <a:avLst>
              <a:gd name="adj" fmla="val 5000"/>
            </a:avLst>
          </a:prstGeom>
          <a:solidFill>
            <a:srgbClr val="0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45352" y="5058791"/>
            <a:ext cx="4974336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F0EE"/>
                </a:solidFill>
                <a:latin typeface="Consolas"/>
              </a:rPr>
              <a:t>R2 ← R1    copy     R3 ← R1 + R2    add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5570855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Segoe UI"/>
              </a:rPr>
              <a:t>Read right to left: </a:t>
            </a:r>
            <a:r>
              <a:rPr sz="1000" b="0" i="0">
                <a:solidFill>
                  <a:srgbClr val="4A5A69"/>
                </a:solidFill>
                <a:latin typeface="Segoe UI"/>
              </a:rPr>
              <a:t>the source is copied, the destination overwritten. It only happens when its control signal is 1, e.g. if T3 = 1 then R2 ← R1.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04 ·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Control: load, shift, and the shared 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A register only does something when a control signal says so — and only one output may drive the bus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2087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212E"/>
                </a:solidFill>
                <a:latin typeface="Segoe UI Semibold"/>
              </a:rPr>
              <a:t>(a) Parallel 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4694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A69"/>
                </a:solidFill>
                <a:latin typeface="Segoe UI"/>
              </a:rPr>
              <a:t>A 2:1 mux in front of each flip-flop decides: new data, or hold.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07031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1212E"/>
                </a:solidFill>
                <a:latin typeface="Consolas"/>
              </a:rPr>
              <a:t>D0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42415" y="2498471"/>
            <a:ext cx="1682497" cy="0"/>
          </a:xfrm>
          <a:prstGeom prst="line">
            <a:avLst/>
          </a:prstGeom>
          <a:ln w="1270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rapezoid 9"/>
          <p:cNvSpPr/>
          <p:nvPr/>
        </p:nvSpPr>
        <p:spPr>
          <a:xfrm rot="16200000">
            <a:off x="2743200" y="2324735"/>
            <a:ext cx="512064" cy="347472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37045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73552" y="2498471"/>
            <a:ext cx="768096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59936" y="2343023"/>
            <a:ext cx="512064" cy="3108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59936" y="2407031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90288" y="2498471"/>
            <a:ext cx="365760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74336" y="2407031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Q0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82519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1212E"/>
                </a:solidFill>
                <a:latin typeface="Consolas"/>
              </a:rPr>
              <a:t>D1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42415" y="2973959"/>
            <a:ext cx="1682497" cy="0"/>
          </a:xfrm>
          <a:prstGeom prst="line">
            <a:avLst/>
          </a:prstGeom>
          <a:ln w="1270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16200000">
            <a:off x="2743200" y="2800223"/>
            <a:ext cx="512064" cy="347472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84594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73552" y="2973959"/>
            <a:ext cx="768096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059936" y="2818511"/>
            <a:ext cx="512064" cy="3108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9936" y="2882519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90288" y="2973959"/>
            <a:ext cx="365760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974336" y="2882519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Q1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358007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1212E"/>
                </a:solidFill>
                <a:latin typeface="Consolas"/>
              </a:rPr>
              <a:t>D2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42415" y="3449447"/>
            <a:ext cx="1682497" cy="0"/>
          </a:xfrm>
          <a:prstGeom prst="line">
            <a:avLst/>
          </a:prstGeom>
          <a:ln w="1270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rapezoid 27"/>
          <p:cNvSpPr/>
          <p:nvPr/>
        </p:nvSpPr>
        <p:spPr>
          <a:xfrm rot="16200000">
            <a:off x="2743200" y="3275711"/>
            <a:ext cx="512064" cy="347472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33214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73552" y="3449447"/>
            <a:ext cx="768096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059936" y="3293999"/>
            <a:ext cx="512064" cy="3108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59936" y="3358007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0288" y="3449447"/>
            <a:ext cx="365760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974336" y="3358007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33494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1212E"/>
                </a:solidFill>
                <a:latin typeface="Consolas"/>
              </a:rPr>
              <a:t>D3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42415" y="3924935"/>
            <a:ext cx="1682497" cy="0"/>
          </a:xfrm>
          <a:prstGeom prst="line">
            <a:avLst/>
          </a:prstGeom>
          <a:ln w="1270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rapezoid 36"/>
          <p:cNvSpPr/>
          <p:nvPr/>
        </p:nvSpPr>
        <p:spPr>
          <a:xfrm rot="16200000">
            <a:off x="2743200" y="3751198"/>
            <a:ext cx="512064" cy="347472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379691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73552" y="3924935"/>
            <a:ext cx="768096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059936" y="3769487"/>
            <a:ext cx="512064" cy="3108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59936" y="3833494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90288" y="3924935"/>
            <a:ext cx="365760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974336" y="3833494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Q3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2999232" y="4052951"/>
            <a:ext cx="0" cy="256032"/>
          </a:xfrm>
          <a:prstGeom prst="line">
            <a:avLst/>
          </a:prstGeom>
          <a:ln w="1905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2958084" y="4011803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12848" y="4363847"/>
            <a:ext cx="6766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8400"/>
                </a:solidFill>
                <a:latin typeface="Consolas"/>
              </a:rPr>
              <a:t>LOAD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4565015"/>
            <a:ext cx="5440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Load = 1 → mux passes D, register takes the word.   Load = 0 → mux feeds Q back, value is held.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1712087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212E"/>
                </a:solidFill>
                <a:latin typeface="Segoe UI Semibold"/>
              </a:rPr>
              <a:t>(b) Shift and rotate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03720" y="2077847"/>
            <a:ext cx="786384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03720" y="2224151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FF3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699248" y="2333879"/>
            <a:ext cx="219456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7946136" y="2077847"/>
            <a:ext cx="786384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46136" y="2224151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741663" y="2333879"/>
            <a:ext cx="219457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8988552" y="2077847"/>
            <a:ext cx="786384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88552" y="2224151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784080" y="2333879"/>
            <a:ext cx="219456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0030967" y="2077847"/>
            <a:ext cx="786384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30967" y="2224151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A5A62"/>
                </a:solidFill>
                <a:latin typeface="Consolas"/>
              </a:rPr>
              <a:t>FF0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46520" y="2333879"/>
            <a:ext cx="429768" cy="0"/>
          </a:xfrm>
          <a:prstGeom prst="line">
            <a:avLst/>
          </a:prstGeom>
          <a:ln w="16510">
            <a:solidFill>
              <a:srgbClr val="D98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897879" y="2407031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98400"/>
                </a:solidFill>
                <a:latin typeface="Segoe UI"/>
              </a:rPr>
              <a:t>serial 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817351" y="2333879"/>
            <a:ext cx="256032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09959" y="2224151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Segoe UI"/>
              </a:rPr>
              <a:t>out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55080" y="2754502"/>
            <a:ext cx="51206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A69"/>
                </a:solidFill>
                <a:latin typeface="Segoe UI"/>
              </a:rPr>
              <a:t>Wire each Q to the next D and every bit moves one place per clock: left shift ×2, right shift ÷2, rotate keeps every bit.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6355080" y="3248279"/>
          <a:ext cx="2788920" cy="10972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Clock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Bits (init 1011)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212E"/>
                          </a:solidFill>
                          <a:latin typeface="Segoe UI"/>
                        </a:rPr>
                        <a:t>start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A5A69"/>
                          </a:solidFill>
                          <a:latin typeface="Consolas"/>
                        </a:rPr>
                        <a:t>1011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A5A69"/>
                          </a:solidFill>
                          <a:latin typeface="Consolas"/>
                        </a:rPr>
                        <a:t>0101 (out 1)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21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A5A69"/>
                          </a:solidFill>
                          <a:latin typeface="Consolas"/>
                        </a:rPr>
                        <a:t>0010 (out 1)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6355080" y="4455287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212E"/>
                </a:solidFill>
                <a:latin typeface="Segoe UI Semibold"/>
              </a:rPr>
              <a:t>(c) One bus, one driver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4747895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A69"/>
                </a:solidFill>
                <a:latin typeface="Segoe UI"/>
              </a:rPr>
              <a:t>Tri-state buffers have a third output state, high-Z. So many registers can share one bus — but exactly one enable may be active.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55080" y="5278247"/>
            <a:ext cx="786384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55080" y="5323967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A62"/>
                </a:solidFill>
                <a:latin typeface="Consolas"/>
              </a:rPr>
              <a:t>R1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159752" y="5415407"/>
            <a:ext cx="557784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355080" y="5644007"/>
            <a:ext cx="786384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55080" y="5689727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A62"/>
                </a:solidFill>
                <a:latin typeface="Consolas"/>
              </a:rPr>
              <a:t>R2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159752" y="5781167"/>
            <a:ext cx="557784" cy="0"/>
          </a:xfrm>
          <a:prstGeom prst="line">
            <a:avLst/>
          </a:prstGeom>
          <a:ln w="1270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735824" y="5241670"/>
            <a:ext cx="0" cy="713233"/>
          </a:xfrm>
          <a:prstGeom prst="line">
            <a:avLst/>
          </a:prstGeom>
          <a:ln w="3302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7699248" y="5378831"/>
            <a:ext cx="73152" cy="73152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699248" y="5744591"/>
            <a:ext cx="73152" cy="73152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735824" y="5589143"/>
            <a:ext cx="585216" cy="0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375904" y="547941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6"/>
                </a:solidFill>
                <a:latin typeface="Consolas"/>
              </a:rPr>
              <a:t>R3 ← bus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78240" y="5186807"/>
            <a:ext cx="26974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Only the enabled register drives the line; the others float at high-Z.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32520" y="5863462"/>
            <a:ext cx="2743200" cy="512064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69680" y="5954903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98400"/>
                </a:solidFill>
                <a:latin typeface="Segoe UI"/>
              </a:rPr>
              <a:t>Two enabled at once = </a:t>
            </a:r>
            <a:r>
              <a:rPr sz="850" b="0" i="0">
                <a:solidFill>
                  <a:srgbClr val="4A5A69"/>
                </a:solidFill>
                <a:latin typeface="Segoe UI"/>
              </a:rPr>
              <a:t>contention, a short circuit.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05 · PLACEMENT AND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Where registers sit, and one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Registers are the fastest, smallest storage in the machine — here is why, and what that buys 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66951"/>
            <a:ext cx="2331720" cy="676656"/>
          </a:xfrm>
          <a:prstGeom prst="roundRect">
            <a:avLst>
              <a:gd name="adj" fmla="val 9000"/>
            </a:avLst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858391"/>
            <a:ext cx="2020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Registers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132711"/>
            <a:ext cx="2020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F2F1"/>
                </a:solidFill>
                <a:latin typeface="Segoe UI"/>
              </a:rPr>
              <a:t>16–32 per core · &lt; 1 ns · flip-flop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35047"/>
            <a:ext cx="3383280" cy="676656"/>
          </a:xfrm>
          <a:prstGeom prst="roundRect">
            <a:avLst>
              <a:gd name="adj" fmla="val 9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26487"/>
            <a:ext cx="30723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Cache L1/L2/L3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900807"/>
            <a:ext cx="3072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F2F1"/>
                </a:solidFill>
                <a:latin typeface="Segoe UI"/>
              </a:rPr>
              <a:t>KB–MB · 1–10 ns · SRAM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03143"/>
            <a:ext cx="4434840" cy="676656"/>
          </a:xfrm>
          <a:prstGeom prst="roundRect">
            <a:avLst>
              <a:gd name="adj" fmla="val 9000"/>
            </a:avLst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394583"/>
            <a:ext cx="4123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Main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668902"/>
            <a:ext cx="4123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F2F1"/>
                </a:solidFill>
                <a:latin typeface="Segoe UI"/>
              </a:rPr>
              <a:t>GB · 50–100 ns · DRAM + refresh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71239"/>
            <a:ext cx="5257800" cy="676656"/>
          </a:xfrm>
          <a:prstGeom prst="roundRect">
            <a:avLst>
              <a:gd name="adj" fmla="val 9000"/>
            </a:avLst>
          </a:prstGeom>
          <a:solidFill>
            <a:srgbClr val="788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162679"/>
            <a:ext cx="49469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SSD / HDD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36999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F2F1"/>
                </a:solidFill>
                <a:latin typeface="Segoe UI"/>
              </a:rPr>
              <a:t>TB · µs–ms ·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57623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← faster + costlier       larger + cheaper 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205095"/>
            <a:ext cx="5394960" cy="786384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314823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C86"/>
                </a:solidFill>
                <a:latin typeface="Segoe UI Semibold"/>
              </a:rPr>
              <a:t>WHY NOT ALL REGISTERS?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5534279"/>
            <a:ext cx="5029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A69"/>
                </a:solidFill>
                <a:latin typeface="Segoe UI"/>
              </a:rPr>
              <a:t>A flip-flop is ~6 transistors per bit; a DRAM cell is 1 + 1 capacitor. Same bit, roughly six times the area.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1766951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212E"/>
                </a:solidFill>
                <a:latin typeface="Segoe UI Semibold"/>
              </a:rPr>
              <a:t>One 8-bit register, R1 = 0000 1101 (13)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2132711"/>
            <a:ext cx="5074920" cy="58521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2333879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A62"/>
                </a:solidFill>
                <a:latin typeface="Consolas"/>
              </a:rPr>
              <a:t>LOAD 11010110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1856" y="2269871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1856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47888" y="2269871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7888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0" y="2269871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59952" y="2269871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15984" y="2269871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72016" y="2269871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72016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28048" y="2269871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8048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0" y="2269871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80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0112" y="2269871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0112" y="235216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51008" y="2315591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= 214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6520" y="2754503"/>
            <a:ext cx="5074920" cy="58521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01968" y="2955671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A62"/>
                </a:solidFill>
                <a:latin typeface="Consolas"/>
              </a:rPr>
              <a:t>SHL 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91856" y="2891663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91856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47888" y="2891663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7888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03920" y="2891663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03920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59952" y="2891663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952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15984" y="2891663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15984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891663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72016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28048" y="2891663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28048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84080" y="2891663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84080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40112" y="2891663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40112" y="297395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2937383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= 26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446520" y="3376295"/>
            <a:ext cx="5074920" cy="58521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01968" y="3577463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A62"/>
                </a:solidFill>
                <a:latin typeface="Consolas"/>
              </a:rPr>
              <a:t>SHR 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91856" y="3513455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991856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47888" y="3513455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47888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03920" y="3513455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03920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59952" y="3513455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59952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15984" y="3513455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15984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3513455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72016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28048" y="3513455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28048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84080" y="3513455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40112" y="3513455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040112" y="3595751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51008" y="3559175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= 6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46520" y="3998087"/>
            <a:ext cx="5074920" cy="585216"/>
          </a:xfrm>
          <a:prstGeom prst="roundRect">
            <a:avLst>
              <a:gd name="adj" fmla="val 9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01968" y="4199255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A62"/>
                </a:solidFill>
                <a:latin typeface="Consolas"/>
              </a:rPr>
              <a:t>ROL 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91856" y="4135247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91856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47888" y="4135247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47888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503920" y="4135247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03920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59952" y="4135247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759952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015984" y="4135247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15984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272016" y="4135247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272016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28048" y="4135247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28048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4080" y="4135247"/>
            <a:ext cx="256032" cy="310896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784080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040112" y="4135247"/>
            <a:ext cx="25603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040112" y="421754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51008" y="4180967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= 134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46520" y="4674743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212E"/>
                </a:solidFill>
                <a:latin typeface="Segoe UI Semibold"/>
              </a:rPr>
              <a:t>What each operation did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46520" y="4967351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A5A62"/>
                </a:solidFill>
                <a:latin typeface="Segoe UI"/>
              </a:rPr>
              <a:t>Load </a:t>
            </a:r>
            <a:r>
              <a:rPr sz="1000" b="0" i="0">
                <a:solidFill>
                  <a:srgbClr val="4A5A69"/>
                </a:solidFill>
                <a:latin typeface="Segoe UI"/>
              </a:rPr>
              <a:t>overwrites all eight bits at once.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A5A62"/>
                </a:solidFill>
                <a:latin typeface="Segoe UI"/>
              </a:rPr>
              <a:t>Shift </a:t>
            </a:r>
            <a:r>
              <a:rPr sz="1000" b="0" i="0">
                <a:solidFill>
                  <a:srgbClr val="4A5A69"/>
                </a:solidFill>
                <a:latin typeface="Segoe UI"/>
              </a:rPr>
              <a:t>moves every bit one place: left ×2, right ÷2.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A5A62"/>
                </a:solidFill>
                <a:latin typeface="Segoe UI"/>
              </a:rPr>
              <a:t>Rotate </a:t>
            </a:r>
            <a:r>
              <a:rPr sz="1000" b="0" i="0">
                <a:solidFill>
                  <a:srgbClr val="4A5A69"/>
                </a:solidFill>
                <a:latin typeface="Segoe UI"/>
              </a:rPr>
              <a:t>returns the escaping bit, so no 1 is ever lost.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46520" y="6028055"/>
            <a:ext cx="5074920" cy="420624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620256" y="6119495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A69"/>
                </a:solidFill>
                <a:latin typeface="Segoe UI"/>
              </a:rPr>
              <a:t>Same eight flip-flops every time — </a:t>
            </a:r>
            <a:r>
              <a:rPr sz="1000" b="1" i="0">
                <a:solidFill>
                  <a:srgbClr val="0A5A62"/>
                </a:solidFill>
                <a:latin typeface="Segoe UI"/>
              </a:rPr>
              <a:t>only the control signals changed.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566928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6766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Summary and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6C7CF"/>
                </a:solidFill>
                <a:latin typeface="Segoe UI"/>
              </a:rPr>
              <a:t>Five sentences that carry the whole topic.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83664"/>
            <a:ext cx="4754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C8C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18470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Binary is a hardware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121408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6C0"/>
                </a:solidFill>
                <a:latin typeface="Segoe UI"/>
              </a:rPr>
              <a:t>Two stable states are cheap, fast and noise-tolerant; n bits give 2ⁿ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88336"/>
            <a:ext cx="4754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C8C1"/>
                </a:solidFill>
                <a:latin typeface="Segoe UI Semi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65176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 bit is held by a bistable circuit.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92608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6C0"/>
                </a:solidFill>
                <a:latin typeface="Segoe UI"/>
              </a:rPr>
              <a:t>Flip-flops for speed in the CPU, capacitors for density in DRAM.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93008"/>
            <a:ext cx="4754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C8C1"/>
                </a:solidFill>
                <a:latin typeface="Segoe UI Semi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45643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 register is n flip-flops on one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3730752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6C0"/>
                </a:solidFill>
                <a:latin typeface="Segoe UI"/>
              </a:rPr>
              <a:t>All bits update together, so a word is never read half-written.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754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C8C1"/>
                </a:solidFill>
                <a:latin typeface="Segoe UI Semi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42611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Control signals decide what happens.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535424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6C0"/>
                </a:solidFill>
                <a:latin typeface="Segoe UI"/>
              </a:rPr>
              <a:t>Load to write, shift to move, tri-state enables to share one bus.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02352"/>
            <a:ext cx="4754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1C8C1"/>
                </a:solidFill>
                <a:latin typeface="Segoe UI Semi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50657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Registers top the hierarchy.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5340096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6C0"/>
                </a:solidFill>
                <a:latin typeface="Segoe UI"/>
              </a:rPr>
              <a:t>Fast and small because they are flip-flops; memory is big and slow by design.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84708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1C8C1"/>
                </a:solidFill>
                <a:latin typeface="Segoe UI Semibold"/>
              </a:rPr>
              <a:t>LIKELY QUESTIONS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2157984"/>
            <a:ext cx="4480560" cy="603504"/>
          </a:xfrm>
          <a:prstGeom prst="roundRect">
            <a:avLst>
              <a:gd name="adj" fmla="val 12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2231136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Why 2ⁿ and not n²?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77456" y="2468879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FB6C0"/>
                </a:solidFill>
                <a:latin typeface="Segoe UI"/>
              </a:rPr>
              <a:t>Each extra bit doubles the patterns.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2834639"/>
            <a:ext cx="4480560" cy="603504"/>
          </a:xfrm>
          <a:prstGeom prst="roundRect">
            <a:avLst>
              <a:gd name="adj" fmla="val 12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77456" y="2907791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Register vs. cache?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145535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FB6C0"/>
                </a:solidFill>
                <a:latin typeface="Segoe UI"/>
              </a:rPr>
              <a:t>Register: by name, ~1 cycle. Cache: by address.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3511296"/>
            <a:ext cx="4480560" cy="603504"/>
          </a:xfrm>
          <a:prstGeom prst="roundRect">
            <a:avLst>
              <a:gd name="adj" fmla="val 12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6" y="3584448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Why refresh DRAM?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6" y="3822191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FB6C0"/>
                </a:solidFill>
                <a:latin typeface="Segoe UI"/>
              </a:rPr>
              <a:t>The capacitor charge leaks away.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4187952"/>
            <a:ext cx="4480560" cy="603504"/>
          </a:xfrm>
          <a:prstGeom prst="roundRect">
            <a:avLst>
              <a:gd name="adj" fmla="val 12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77456" y="4261104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Why only one bus driver?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77456" y="4498848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FB6C0"/>
                </a:solidFill>
                <a:latin typeface="Segoe UI"/>
              </a:rPr>
              <a:t>Two enabled outputs short the line.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95604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1C8C1"/>
                </a:solidFill>
                <a:latin typeface="Segoe UI Semibold"/>
              </a:rPr>
              <a:t>SOURCES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5230368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FB6C0"/>
                </a:solidFill>
                <a:latin typeface="Segoe UI"/>
              </a:rPr>
              <a:t>Mano, Computer System Architecture, 3rd ed. — Ch. 2, 4.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FB6C0"/>
                </a:solidFill>
                <a:latin typeface="Segoe UI"/>
              </a:rPr>
              <a:t>Stallings, Computer Organization and Architecture, 10th ed. — Ch. 3, 4.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FB6C0"/>
                </a:solidFill>
                <a:latin typeface="Segoe UI"/>
              </a:rPr>
              <a:t>Patterson &amp; Hennessy, Computer Organization and Design — Ch. 4.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309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C8C1"/>
                </a:solidFill>
                <a:latin typeface="Segoe UI"/>
              </a:rPr>
              <a:t>Thank you — 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