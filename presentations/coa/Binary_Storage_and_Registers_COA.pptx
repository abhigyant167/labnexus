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topic is Binary Storage and Registers.</a:t>
            </a:r>
          </a:p>
          <a:p>
            <a:r>
              <a:t>Two questions drive this whole presentation: first, how does a machine that only</a:t>
            </a:r>
          </a:p>
          <a:p>
            <a:r>
              <a:t>understands ON and OFF actually keep a value? Second, where does it keep the value</a:t>
            </a:r>
          </a:p>
          <a:p>
            <a:r>
              <a:t>while it is working on it? The answer to the first is the binary storage cell, and</a:t>
            </a:r>
          </a:p>
          <a:p>
            <a:r>
              <a:t>the answer to the second is the register. Everything else in the CPU - the ALU, the</a:t>
            </a:r>
          </a:p>
          <a:p>
            <a:r>
              <a:t>control unit, the buses - is built on top of these two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route. We start from how values are written in binary, then look at the</a:t>
            </a:r>
          </a:p>
          <a:p>
            <a:r>
              <a:t>physical element that stores one bit, then scale that up to n bits to get a register.</a:t>
            </a:r>
          </a:p>
          <a:p>
            <a:r>
              <a:t>After that we look at how registers talk to each other - register transfer notation,</a:t>
            </a:r>
          </a:p>
          <a:p>
            <a:r>
              <a:t>the load signal, and the shared tri-state bus. Finally we place registers in the</a:t>
            </a:r>
          </a:p>
          <a:p>
            <a:r>
              <a:t>memory hierarchy and finish with a small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binary at all? Because a transistor that only has to be fully off or fully on is</a:t>
            </a:r>
          </a:p>
          <a:p>
            <a:r>
              <a:t>cheap, fast and immune to small noise. If we tried to store four voltage levels in</a:t>
            </a:r>
          </a:p>
          <a:p>
            <a:r>
              <a:t>one cell, a little noise would corrupt the value.</a:t>
            </a:r>
          </a:p>
          <a:p>
            <a:r>
              <a:t>A single bit gives us exactly two values. With n bits we get two to the power n</a:t>
            </a:r>
          </a:p>
          <a:p>
            <a:r>
              <a:t>patterns. Eight bits is 256 - enough for a character in ASCII. Thirty-two bits gives</a:t>
            </a:r>
          </a:p>
          <a:p>
            <a:r>
              <a:t>about 4.3 billion patterns, which is why IPv4 ran out of addresses. This table is</a:t>
            </a:r>
          </a:p>
          <a:p>
            <a:r>
              <a:t>worth remembering; it explains why word sizes are 8, 16, 32 and 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eight bits can be written four ways. Binary is what the register physically</a:t>
            </a:r>
          </a:p>
          <a:p>
            <a:r>
              <a:t>holds. Octal groups three bits, which is why old machines used it. Hexadecimal groups</a:t>
            </a:r>
          </a:p>
          <a:p>
            <a:r>
              <a:t>four bits, so one byte is exactly two hex digits - that is the reason hex is used in</a:t>
            </a:r>
          </a:p>
          <a:p>
            <a:r>
              <a:t>debuggers and memory dumps.</a:t>
            </a:r>
          </a:p>
          <a:p>
            <a:r>
              <a:t>To convert by hand, add the weights of the 1 bits: 128 plus 32 plus 16 plus 4 gives</a:t>
            </a:r>
          </a:p>
          <a:p>
            <a:r>
              <a:t>180. For hex, split the byte into two nibbles: 1011 is B, 0100 is 4, so 0xB4.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units. A nibble is four bits, a byte is eight, and a word is the natural</a:t>
            </a:r>
          </a:p>
          <a:p>
            <a:r>
              <a:t>chunk the processor works on - 16, 32 or 64 bits depending on the architecture.</a:t>
            </a:r>
          </a:p>
          <a:p>
            <a:r>
              <a:t>Note that 1 KB is 1024 bytes, not 1000. That is not an accident: with k address</a:t>
            </a:r>
          </a:p>
          <a:p>
            <a:r>
              <a:t>bits you can select exactly 2 to the k locations, so capacities naturally land on</a:t>
            </a:r>
          </a:p>
          <a:p>
            <a:r>
              <a:t>powers of two. Disk manufacturers use 1000, which is why a 500 GB drive shows as</a:t>
            </a:r>
          </a:p>
          <a:p>
            <a:r>
              <a:t>about 465 GiB in your file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physical question: what actually remembers a bit?</a:t>
            </a:r>
          </a:p>
          <a:p>
            <a:r>
              <a:t>(a) The SR latch: two NOR gates feeding each other. Because each gate drives the</a:t>
            </a:r>
          </a:p>
          <a:p>
            <a:r>
              <a:t>other, the loop keeps its state indefinitely - it is literally a circuit that argues</a:t>
            </a:r>
          </a:p>
          <a:p>
            <a:r>
              <a:t>with itself into a stable answer. Cheap, but level-sensitive.</a:t>
            </a:r>
          </a:p>
          <a:p>
            <a:r>
              <a:t>(b) The D flip-flop: the workhorse. It only samples D on the rising edge of the</a:t>
            </a:r>
          </a:p>
          <a:p>
            <a:r>
              <a:t>clock, so the whole design has a predictable rhythm. When we say a register is n</a:t>
            </a:r>
          </a:p>
          <a:p>
            <a:r>
              <a:t>flip-flops, this is the box we mean.</a:t>
            </a:r>
          </a:p>
          <a:p>
            <a:r>
              <a:t>(c) The DRAM cell: one transistor and one capacitor. Charge means 1. It is tiny, so</a:t>
            </a:r>
          </a:p>
          <a:p>
            <a:r>
              <a:t>you get gigabits per chip, but the charge leaks and must be refreshed every few tens</a:t>
            </a:r>
          </a:p>
          <a:p>
            <a:r>
              <a:t>of milliseconds. That is the trade-off between registers and main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scale a bit up. A register is just n flip-flops wired side by side, sharing</a:t>
            </a:r>
          </a:p>
          <a:p>
            <a:r>
              <a:t>one clock line. Because they all sample the clock edge at the same instant, the word</a:t>
            </a:r>
          </a:p>
          <a:p>
            <a:r>
              <a:t>is written atomically - you never read a register and find half of the new value and</a:t>
            </a:r>
          </a:p>
          <a:p>
            <a:r>
              <a:t>half of the old.</a:t>
            </a:r>
          </a:p>
          <a:p>
            <a:r>
              <a:t>The width is not magic: an 8-bit register is eight flip-flops, a 64-bit register is</a:t>
            </a:r>
          </a:p>
          <a:p>
            <a:r>
              <a:t>sixty-four. And crucially, a register has no address. You select it by name in the</a:t>
            </a:r>
          </a:p>
          <a:p>
            <a:r>
              <a:t>instruction, which is why it takes a single cycle rather than a memory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Register transfer notation is the language we use to describe data movement. R1 arrow</a:t>
            </a:r>
          </a:p>
          <a:p>
            <a:r>
              <a:t>R2 means copy R1 into R2. Read it right to left: the destination is overwritten and</a:t>
            </a:r>
          </a:p>
          <a:p>
            <a:r>
              <a:t>the source is untouched.</a:t>
            </a:r>
          </a:p>
          <a:p>
            <a:r>
              <a:t>Notice the condition - if T3 is 1, then the transfer happens. Real hardware has no</a:t>
            </a:r>
          </a:p>
          <a:p>
            <a:r>
              <a:t>"if"; the T3 line simply enables the gates.</a:t>
            </a:r>
          </a:p>
          <a:p>
            <a:r>
              <a:t>On the right is the actual circuit: R1's output passes through a tri-state buffer</a:t>
            </a:r>
          </a:p>
          <a:p>
            <a:r>
              <a:t>whose enable is R1out, so R1 drives the shared bus. R2's load enable R2in then</a:t>
            </a:r>
          </a:p>
          <a:p>
            <a:r>
              <a:t>captures the bus on the next clock edge. Only when both are 1 does the transfer</a:t>
            </a:r>
          </a:p>
          <a:p>
            <a:r>
              <a:t>complete - that is the last row of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not build a CPU out of general logic alone - you give it a handful of named</a:t>
            </a:r>
          </a:p>
          <a:p>
            <a:r>
              <a:t>registers, each with a job.</a:t>
            </a:r>
          </a:p>
          <a:p>
            <a:r>
              <a:t>The PC holds the address of the next instruction; that is what makes a program a</a:t>
            </a:r>
          </a:p>
          <a:p>
            <a:r>
              <a:t>sequence. The IR holds the instruction currently being decoded, which lets the fetch</a:t>
            </a:r>
          </a:p>
          <a:p>
            <a:r>
              <a:t>unit run ahead of the execute unit. MAR and MDR are the interface to memory: MAR</a:t>
            </a:r>
          </a:p>
          <a:p>
            <a:r>
              <a:t>drives the address bus, MDR buffers the data bus. The accumulator is the classic</a:t>
            </a:r>
          </a:p>
          <a:p>
            <a:r>
              <a:t>one-operand design. The stack pointer makes function calls possible. The status</a:t>
            </a:r>
          </a:p>
          <a:p>
            <a:r>
              <a:t>register makes conditional branches possible.</a:t>
            </a:r>
          </a:p>
          <a:p>
            <a:r>
              <a:t>The important point at the bottom: all of these are the same circuit - n flip-flops</a:t>
            </a:r>
          </a:p>
          <a:p>
            <a:r>
              <a:t>with a load enable. What differs is who is allowed to read and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register with no control input is useless - it would overwrite itself on every</a:t>
            </a:r>
          </a:p>
          <a:p>
            <a:r>
              <a:t>clock. So we add one signal, Load.</a:t>
            </a:r>
          </a:p>
          <a:p>
            <a:r>
              <a:t>The trick is a two-to-one multiplexer in front of each flip-flop. When Load is 1 the</a:t>
            </a:r>
          </a:p>
          <a:p>
            <a:r>
              <a:t>mux passes the external D input, so new data is captured. When Load is 0 the mux</a:t>
            </a:r>
          </a:p>
          <a:p>
            <a:r>
              <a:t>feeds the flip-flop's own output back into its input - the register reloads its</a:t>
            </a:r>
          </a:p>
          <a:p>
            <a:r>
              <a:t>current value, which means it holds.</a:t>
            </a:r>
          </a:p>
          <a:p>
            <a:r>
              <a:t>Two consequences worth stressing. First, changing the data inputs alone does not</a:t>
            </a:r>
          </a:p>
          <a:p>
            <a:r>
              <a:t>change the register; only the clock edge matters. Second, this is why write-enable</a:t>
            </a:r>
          </a:p>
          <a:p>
            <a:r>
              <a:t>signals exist in every real processor.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shift register is the same flip-flops, but each Q output is wired to the next</a:t>
            </a:r>
          </a:p>
          <a:p>
            <a:r>
              <a:t>flip-flop's D input instead of to the outside world. One clock moves every bit one</a:t>
            </a:r>
          </a:p>
          <a:p>
            <a:r>
              <a:t>position.</a:t>
            </a:r>
          </a:p>
          <a:p>
            <a:r>
              <a:t>Follow the table: we start with 1011, which is 11. After one clock, FF3 receives a</a:t>
            </a:r>
          </a:p>
          <a:p>
            <a:r>
              <a:t>0 from the serial input and the old value moves right, giving 0101 - the 1 that fell</a:t>
            </a:r>
          </a:p>
          <a:p>
            <a:r>
              <a:t>off the end appears at the output. That is eleven divided by two.</a:t>
            </a:r>
          </a:p>
          <a:p>
            <a:r>
              <a:t>The four configurations are just choices about which ends are parallel and which are</a:t>
            </a:r>
          </a:p>
          <a:p>
            <a:r>
              <a:t>serial: SISO for a delay line, SIPO to receive a serial line into a byte, PISO to</a:t>
            </a:r>
          </a:p>
          <a:p>
            <a:r>
              <a:t>transmit. And the shift itself is a cheap multiply or divide by two, which is why</a:t>
            </a:r>
          </a:p>
          <a:p>
            <a:r>
              <a:t>compilers love powers of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every register had a dedicated path to every other register, the wire count grows</a:t>
            </a:r>
          </a:p>
          <a:p>
            <a:r>
              <a:t>as n squared. Instead, all registers share a single common bus.</a:t>
            </a:r>
          </a:p>
          <a:p>
            <a:r>
              <a:t>The enabling element is the tri-state buffer. Besides outputting 0 and 1 it has a</a:t>
            </a:r>
          </a:p>
          <a:p>
            <a:r>
              <a:t>third state, high impedance - it looks like an open circuit. So several outputs can</a:t>
            </a:r>
          </a:p>
          <a:p>
            <a:r>
              <a:t>sit on one wire, as long as only one is enabled.</a:t>
            </a:r>
          </a:p>
          <a:p>
            <a:r>
              <a:t>The truth table on the right shows why exactly one enable must be high. Two drivers</a:t>
            </a:r>
          </a:p>
          <a:p>
            <a:r>
              <a:t>at once is bus contention: one gate tries to pull the line to 5 volts while another</a:t>
            </a:r>
          </a:p>
          <a:p>
            <a:r>
              <a:t>pulls it to 0, and the current can damage the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placement question. The bit stored in a register and the bit stored in RAM</a:t>
            </a:r>
          </a:p>
          <a:p>
            <a:r>
              <a:t>are logically identical, but physically very different.</a:t>
            </a:r>
          </a:p>
          <a:p>
            <a:r>
              <a:t>A register is built from flip-flops sitting inside the CPU; it is selected by name</a:t>
            </a:r>
          </a:p>
          <a:p>
            <a:r>
              <a:t>and read in a fraction of a cycle. Cache is SRAM, a few nanoseconds. Main memory is</a:t>
            </a:r>
          </a:p>
          <a:p>
            <a:r>
              <a:t>DRAM, tens of nanoseconds. Disk is microseconds to milliseconds.</a:t>
            </a:r>
          </a:p>
          <a:p>
            <a:r>
              <a:t>Why not make everything registers? Because a flip-flop costs about six transistors</a:t>
            </a:r>
          </a:p>
          <a:p>
            <a:r>
              <a:t>per bit while a DRAM cell costs one transistor and one capacitor. You could not fit</a:t>
            </a:r>
          </a:p>
          <a:p>
            <a:r>
              <a:t>gigabytes on a chip that way, and the wiring would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put the pieces together on one register holding 0000 1101, which is 13.</a:t>
            </a:r>
          </a:p>
          <a:p>
            <a:r>
              <a:t>A load with 11010110 overwrites the whole word - that is what the parallel load</a:t>
            </a:r>
          </a:p>
          <a:p>
            <a:r>
              <a:t>enable buys us.</a:t>
            </a:r>
          </a:p>
          <a:p>
            <a:r>
              <a:t>A left shift gives 0001 1010, which is 26 - exactly double. A right shift gives</a:t>
            </a:r>
          </a:p>
          <a:p>
            <a:r>
              <a:t>0000 0110, which is 6; the half that did not fit is lost, so this is truncating</a:t>
            </a:r>
          </a:p>
          <a:p>
            <a:r>
              <a:t>division.</a:t>
            </a:r>
          </a:p>
          <a:p>
            <a:r>
              <a:t>A rotate is different: the bit pushed off the left end comes back in on the right,</a:t>
            </a:r>
          </a:p>
          <a:p>
            <a:r>
              <a:t>giving 10000110 = 134. Nothing is lost.</a:t>
            </a:r>
          </a:p>
          <a:p>
            <a:r>
              <a:t>The point of this slide is that all four operations used the same eight flip-flops.</a:t>
            </a:r>
          </a:p>
          <a:p>
            <a:r>
              <a:t>Only the control signals and the wiring around them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consolidate. One: binary is not a convention, it is a hardware decision - two</a:t>
            </a:r>
          </a:p>
          <a:p>
            <a:r>
              <a:t>states are reliable, and n bits give two to the n patterns.</a:t>
            </a:r>
          </a:p>
          <a:p>
            <a:r>
              <a:t>Two: a bit survives because of a bistable circuit, a flip-flop or a capacitor.</a:t>
            </a:r>
          </a:p>
          <a:p>
            <a:r>
              <a:t>Three: a register is that circuit repeated n times with a common clock, so updates</a:t>
            </a:r>
          </a:p>
          <a:p>
            <a:r>
              <a:t>are atomic.</a:t>
            </a:r>
          </a:p>
          <a:p>
            <a:r>
              <a:t>Four: what the register does is decided by control signals - load to write, tri-state</a:t>
            </a:r>
          </a:p>
          <a:p>
            <a:r>
              <a:t>enables to talk on the bus.</a:t>
            </a:r>
          </a:p>
          <a:p>
            <a:r>
              <a:t>Five: and that is exactly why the hierarchy looks the way it does - flip-flops are</a:t>
            </a:r>
          </a:p>
          <a:p>
            <a:r>
              <a:t>fast and small in number, capacitors are slow and enormous in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Before questions, these are the four follow-ups I would expect, and short</a:t>
            </a:r>
          </a:p>
          <a:p>
            <a:r>
              <a:t>answers to each.</a:t>
            </a:r>
          </a:p>
          <a:p>
            <a:r>
              <a:t>Why two to the n? Because each additional bit doubles the number of distinct</a:t>
            </a:r>
          </a:p>
          <a:p>
            <a:r>
              <a:t>patterns.</a:t>
            </a:r>
          </a:p>
          <a:p>
            <a:r>
              <a:t>Register versus cache? A register is selected by name in the instruction and takes</a:t>
            </a:r>
          </a:p>
          <a:p>
            <a:r>
              <a:t>about one cycle; cache is selected by address and takes a few cycles.</a:t>
            </a:r>
          </a:p>
          <a:p>
            <a:r>
              <a:t>Why does DRAM need refresh? The capacitor leaks, so every cell must be read and</a:t>
            </a:r>
          </a:p>
          <a:p>
            <a:r>
              <a:t>rewritten periodically.</a:t>
            </a:r>
          </a:p>
          <a:p>
            <a:r>
              <a:t>And why only one bus driver? Because two enabled outputs would fight each other and</a:t>
            </a:r>
          </a:p>
          <a:p>
            <a:r>
              <a:t>short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31175" y="960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960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535" y="960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960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1175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535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1175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9855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8535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31" b="1" i="0">
                <a:solidFill>
                  <a:srgbClr val="183340"/>
                </a:solidFill>
                <a:latin typeface="Consola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74519"/>
            <a:ext cx="566928" cy="685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031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1C8C1"/>
                </a:solidFill>
                <a:latin typeface="Segoe UI Semibold"/>
              </a:rPr>
              <a:t>COMPUTER ORGANIZATION AND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87168"/>
            <a:ext cx="82296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Binary Storage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and 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6C7CF"/>
                </a:solidFill>
                <a:latin typeface="Segoe UI"/>
              </a:rPr>
              <a:t>How a computer holds a 1, a 0, and a whole number inside the CPU.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56048"/>
            <a:ext cx="4480560" cy="18288"/>
          </a:xfrm>
          <a:prstGeom prst="rect">
            <a:avLst/>
          </a:prstGeom>
          <a:solidFill>
            <a:srgbClr val="2A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E939E"/>
                </a:solidFill>
                <a:latin typeface="Segoe UI"/>
              </a:rPr>
              <a:t>Presented by 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&lt;Your Name&gt;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E939E"/>
                </a:solidFill>
                <a:latin typeface="Segoe UI"/>
              </a:rPr>
              <a:t>Roll no. / Section 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&lt;Roll No&gt;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8692"/>
                </a:solidFill>
                <a:latin typeface="Segoe UI"/>
              </a:rPr>
              <a:t>Theory Presentation  ·  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46327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D4DA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36461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1212E"/>
                </a:solidFill>
                <a:latin typeface="Segoe UI"/>
              </a:rPr>
              <a:t>Representing data in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0119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69"/>
                </a:solidFill>
                <a:latin typeface="Segoe UI"/>
              </a:rPr>
              <a:t>bits, bases, and how many values fit in n bits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13254"/>
            <a:ext cx="10789920" cy="7315"/>
          </a:xfrm>
          <a:prstGeom prst="rect">
            <a:avLst/>
          </a:prstGeom>
          <a:solidFill>
            <a:srgbClr val="E9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05279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D4DA"/>
                </a:solidFill>
                <a:latin typeface="Segoe UI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123567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1212E"/>
                </a:solidFill>
                <a:latin typeface="Segoe UI"/>
              </a:rPr>
              <a:t>Binary storage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6014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69"/>
                </a:solidFill>
                <a:latin typeface="Segoe UI"/>
              </a:rPr>
              <a:t>flip-flops, latches, and the DRAM capacitor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672207"/>
            <a:ext cx="10789920" cy="7315"/>
          </a:xfrm>
          <a:prstGeom prst="rect">
            <a:avLst/>
          </a:prstGeom>
          <a:solidFill>
            <a:srgbClr val="E9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864231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D4DA"/>
                </a:solidFill>
                <a:latin typeface="Segoe UI Semi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88251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1212E"/>
                </a:solidFill>
                <a:latin typeface="Segoe UI"/>
              </a:rPr>
              <a:t>What a register really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19095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69"/>
                </a:solidFill>
                <a:latin typeface="Segoe UI"/>
              </a:rPr>
              <a:t>n flip-flops side by side with a common clock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431159"/>
            <a:ext cx="10789920" cy="7315"/>
          </a:xfrm>
          <a:prstGeom prst="rect">
            <a:avLst/>
          </a:prstGeom>
          <a:solidFill>
            <a:srgbClr val="E9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23183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D4DA"/>
                </a:solidFill>
                <a:latin typeface="Segoe UI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641471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1212E"/>
                </a:solidFill>
                <a:latin typeface="Segoe UI"/>
              </a:rPr>
              <a:t>Register transfer and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67804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69"/>
                </a:solidFill>
                <a:latin typeface="Segoe UI"/>
              </a:rPr>
              <a:t>R1 ← R2 notation, load enable, tri-state bus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190111"/>
            <a:ext cx="10789920" cy="7315"/>
          </a:xfrm>
          <a:prstGeom prst="rect">
            <a:avLst/>
          </a:prstGeom>
          <a:solidFill>
            <a:srgbClr val="E9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382135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D4DA"/>
                </a:solidFill>
                <a:latin typeface="Segoe UI Semi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0042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1212E"/>
                </a:solidFill>
                <a:latin typeface="Segoe UI"/>
              </a:rPr>
              <a:t>Register file and memory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3699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69"/>
                </a:solidFill>
                <a:latin typeface="Segoe UI"/>
              </a:rPr>
              <a:t>where registers sit, and why they are fastest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949063"/>
            <a:ext cx="10789920" cy="7315"/>
          </a:xfrm>
          <a:prstGeom prst="rect">
            <a:avLst/>
          </a:prstGeom>
          <a:solidFill>
            <a:srgbClr val="E9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141087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D4DA"/>
                </a:solidFill>
                <a:latin typeface="Segoe UI Semibold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5159375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1212E"/>
                </a:solidFill>
                <a:latin typeface="Segoe UI"/>
              </a:rPr>
              <a:t>Worked example and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19595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5A69"/>
                </a:solidFill>
                <a:latin typeface="Segoe UI"/>
              </a:rPr>
              <a:t>one 8-bit register, shifted, rotated and loaded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01 ·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Why binary? What can one bit hold?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Digital hardware is cheapest and most reliable when it only has to distinguish two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66951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94967"/>
            <a:ext cx="50292" cy="134416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9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212E"/>
                </a:solidFill>
                <a:latin typeface="Segoe UI Semibold"/>
              </a:rPr>
              <a:t>Two stable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97303"/>
            <a:ext cx="292608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A69"/>
                </a:solidFill>
                <a:latin typeface="Segoe UI"/>
              </a:rPr>
              <a:t>A transistor is reliably fully OFF or fully ON. Adding a third or fourth level means reading a tiny voltage difference — noise eats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66951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94967"/>
            <a:ext cx="50292" cy="1344168"/>
          </a:xfrm>
          <a:prstGeom prst="rect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949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212E"/>
                </a:solidFill>
                <a:latin typeface="Segoe UI Semibold"/>
              </a:rPr>
              <a:t>Noise immunity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97303"/>
            <a:ext cx="292608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48" b="0" i="0">
                <a:solidFill>
                  <a:srgbClr val="4A5A69"/>
                </a:solidFill>
                <a:latin typeface="Segoe UI"/>
              </a:rPr>
              <a:t>A 0 or 1 is a range, not an exact voltage. Anything below ~0.8 V reads 0, anything above ~2.0 V reads 1, so small disturbances are harmless.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766951"/>
            <a:ext cx="3429000" cy="1600200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894967"/>
            <a:ext cx="50292" cy="1344168"/>
          </a:xfrm>
          <a:prstGeom prst="rect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9498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212E"/>
                </a:solidFill>
                <a:latin typeface="Segoe UI Semibold"/>
              </a:rPr>
              <a:t>Boolean algebra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297303"/>
            <a:ext cx="2926080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A69"/>
                </a:solidFill>
                <a:latin typeface="Segoe UI"/>
              </a:rPr>
              <a:t>Two-valued logic has a complete, simple algebra (AND, OR, NOT), so circuits can be designed and minimised mathematically.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40887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 Semibold"/>
              </a:rPr>
              <a:t>One bit, two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88359"/>
            <a:ext cx="1965960" cy="914400"/>
          </a:xfrm>
          <a:prstGeom prst="rect">
            <a:avLst/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98087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5A62"/>
                </a:solidFill>
                <a:latin typeface="Consola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10151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LOW / OFF / 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3888359"/>
            <a:ext cx="1965960" cy="9144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3998087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10151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E9E7"/>
                </a:solidFill>
                <a:latin typeface="Segoe UI"/>
              </a:rPr>
              <a:t>HIGH / ON / TRUE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967351"/>
            <a:ext cx="4160520" cy="566928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7707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5A62"/>
                </a:solidFill>
                <a:latin typeface="Segoe UI"/>
              </a:rPr>
              <a:t>Two states -&gt; </a:t>
            </a:r>
            <a:r>
              <a:rPr sz="1100" b="0" i="0">
                <a:solidFill>
                  <a:srgbClr val="4A5A69"/>
                </a:solidFill>
                <a:latin typeface="Segoe UI"/>
              </a:rPr>
              <a:t>one bit can answer exactly one yes/no question.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40887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 Semibold"/>
              </a:rPr>
              <a:t>So how much can n bits hold?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623560" y="3888359"/>
          <a:ext cx="5806440" cy="201625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77240"/>
                <a:gridCol w="1691640"/>
                <a:gridCol w="1783080"/>
                <a:gridCol w="1554480"/>
              </a:tblGrid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Bits (n)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Distinct patterns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Unsigned range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Typical use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0 – 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Segoe UI"/>
                        </a:rPr>
                        <a:t>flag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121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0 – 15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Segoe UI"/>
                        </a:rPr>
                        <a:t>one hex digit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1212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256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0 – 255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Segoe UI"/>
                        </a:rPr>
                        <a:t>byte / ASCII char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1212E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65,536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0 – 65,535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Segoe UI"/>
                        </a:rPr>
                        <a:t>half-word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1212E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4.29 × 10⁹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0 – 2³²−1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Segoe UI"/>
                        </a:rPr>
                        <a:t>word / IPv4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1212E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1.84 × 10¹⁹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Consolas"/>
                        </a:rPr>
                        <a:t>0 – 2⁶⁴−1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>
                          <a:solidFill>
                            <a:srgbClr val="4A5A69"/>
                          </a:solidFill>
                          <a:latin typeface="Segoe UI"/>
                        </a:rPr>
                        <a:t>long / address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623560" y="5991479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5A62"/>
                </a:solidFill>
                <a:latin typeface="Segoe UI"/>
              </a:rPr>
              <a:t>In general: n bits → 2ⁿ distinct patterns.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01 ·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Writing the same value in different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Binary is what the hardware stores; octal and hex are just compact ways for humans to write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48663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 Semibold"/>
              </a:rPr>
              <a:t>One byte = 8 bits = 2 hex digits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60143"/>
            <a:ext cx="45720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160143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2160143"/>
            <a:ext cx="45720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160143"/>
            <a:ext cx="45720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2160143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160143"/>
            <a:ext cx="45720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160143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160143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242439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663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791079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MSB ← position weights → LSB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85800" y="3138551"/>
          <a:ext cx="5440680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31520"/>
                <a:gridCol w="1417320"/>
                <a:gridCol w="1691640"/>
                <a:gridCol w="16002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Digits used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Same value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Binary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0, 1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10110100₂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Octal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0 – 7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264₈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Decimal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0 – 9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Hexadecimal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Segoe UI"/>
                        </a:rPr>
                        <a:t>0 – 9, A – F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B4₁₆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446520" y="1748663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 Semibold"/>
              </a:rPr>
              <a:t>Why hex is everywhere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169287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169287"/>
            <a:ext cx="4709160" cy="465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212E"/>
                </a:solidFill>
                <a:latin typeface="Segoe UI"/>
              </a:rPr>
              <a:t>4 bits = 1 hex digit. </a:t>
            </a:r>
            <a:r>
              <a:rPr sz="1350" b="0" i="0">
                <a:solidFill>
                  <a:srgbClr val="11212E"/>
                </a:solidFill>
                <a:latin typeface="Segoe UI"/>
              </a:rPr>
              <a:t>Grouping is mechanical — no mental arithmetic.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856907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856907"/>
            <a:ext cx="4709160" cy="465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212E"/>
                </a:solidFill>
                <a:latin typeface="Segoe UI"/>
              </a:rPr>
              <a:t>Shorter to read. </a:t>
            </a:r>
            <a:r>
              <a:rPr sz="1350" b="0" i="0">
                <a:solidFill>
                  <a:srgbClr val="11212E"/>
                </a:solidFill>
                <a:latin typeface="Segoe UI"/>
              </a:rPr>
              <a:t>0xB4 beats 10110100 in a memory dump.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544527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544527"/>
            <a:ext cx="4709160" cy="465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212E"/>
                </a:solidFill>
                <a:latin typeface="Segoe UI"/>
              </a:rPr>
              <a:t>Used for </a:t>
            </a:r>
            <a:r>
              <a:rPr sz="1350" b="0" i="0">
                <a:solidFill>
                  <a:srgbClr val="11212E"/>
                </a:solidFill>
                <a:latin typeface="Segoe UI"/>
              </a:rPr>
              <a:t>addresses, machine code, colour codes (#0E7C86).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272407"/>
            <a:ext cx="4983480" cy="1417320"/>
          </a:xfrm>
          <a:prstGeom prst="rect">
            <a:avLst/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4418711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7C86"/>
                </a:solidFill>
                <a:latin typeface="Segoe UI Semibold"/>
              </a:rPr>
              <a:t>CONVERT 10110100₂ BY HAND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4711318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88897"/>
                </a:solidFill>
                <a:latin typeface="Segoe UI"/>
              </a:rPr>
              <a:t>weights:  </a:t>
            </a:r>
            <a:r>
              <a:rPr sz="1200" b="1" i="0">
                <a:solidFill>
                  <a:srgbClr val="11212E"/>
                </a:solidFill>
                <a:latin typeface="Consolas"/>
              </a:rPr>
              <a:t>128 + 32 + 16 + 4 = 180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88897"/>
                </a:solidFill>
                <a:latin typeface="Segoe UI"/>
              </a:rPr>
              <a:t>hex:      </a:t>
            </a:r>
            <a:r>
              <a:rPr sz="1200" b="1" i="0">
                <a:solidFill>
                  <a:srgbClr val="11212E"/>
                </a:solidFill>
                <a:latin typeface="Consolas"/>
              </a:rPr>
              <a:t>1011 0100  →  B 4  →  0xB4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003927"/>
            <a:ext cx="5440680" cy="896112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113655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86"/>
                </a:solidFill>
                <a:latin typeface="Segoe UI Semibold"/>
              </a:rPr>
              <a:t>NOTATION YOU MAY SEE IN TEXTBOOKS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" y="5351399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1011 0100₂</a:t>
            </a:r>
            <a:r>
              <a:rPr sz="1050" b="0" i="0">
                <a:solidFill>
                  <a:srgbClr val="788897"/>
                </a:solidFill>
                <a:latin typeface="Segoe UI"/>
              </a:rPr>
              <a:t>  =  </a:t>
            </a:r>
            <a:r>
              <a:rPr sz="1050" b="1" i="0">
                <a:solidFill>
                  <a:srgbClr val="0A5A62"/>
                </a:solidFill>
                <a:latin typeface="Consolas"/>
              </a:rPr>
              <a:t>0b1011_0100</a:t>
            </a:r>
            <a:r>
              <a:rPr sz="1050" b="0" i="0">
                <a:solidFill>
                  <a:srgbClr val="788897"/>
                </a:solidFill>
                <a:latin typeface="Segoe UI"/>
              </a:rPr>
              <a:t>  =  </a:t>
            </a:r>
            <a:r>
              <a:rPr sz="1050" b="1" i="0">
                <a:solidFill>
                  <a:srgbClr val="0A5A62"/>
                </a:solidFill>
                <a:latin typeface="Consolas"/>
              </a:rPr>
              <a:t>0xB4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5607431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88897"/>
                </a:solidFill>
                <a:latin typeface="Segoe UI"/>
              </a:rPr>
              <a:t>three ways to write the same byte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01 ·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From a bit to a terabyte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Storage is counted in powers of two, because addressing is binary.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0375"/>
            <a:ext cx="868680" cy="1298448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6678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5A62"/>
                </a:solidFill>
                <a:latin typeface="Segoe UI"/>
              </a:rPr>
              <a:t>1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42439"/>
            <a:ext cx="722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5" b="0" i="0">
                <a:solidFill>
                  <a:srgbClr val="11212E"/>
                </a:solidFill>
                <a:latin typeface="Segoe UI"/>
              </a:rPr>
              <a:t>a single 0 or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553335"/>
            <a:ext cx="758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897"/>
                </a:solidFill>
                <a:latin typeface="Segoe UI"/>
              </a:rPr>
              <a:t>smallest unit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379599"/>
            <a:ext cx="219456" cy="0"/>
          </a:xfrm>
          <a:prstGeom prst="line">
            <a:avLst/>
          </a:prstGeom>
          <a:ln w="15240">
            <a:solidFill>
              <a:srgbClr val="7888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56815" y="1730375"/>
            <a:ext cx="1143000" cy="1298448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6815" y="187667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5A62"/>
                </a:solidFill>
                <a:latin typeface="Segoe UI"/>
              </a:rPr>
              <a:t>1 nibble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2242439"/>
            <a:ext cx="996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212E"/>
                </a:solidFill>
                <a:latin typeface="Segoe UI"/>
              </a:rPr>
              <a:t>4 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79" y="2553335"/>
            <a:ext cx="10332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897"/>
                </a:solidFill>
                <a:latin typeface="Segoe UI"/>
              </a:rPr>
              <a:t>1 hex digit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91256" y="2379599"/>
            <a:ext cx="219455" cy="0"/>
          </a:xfrm>
          <a:prstGeom prst="line">
            <a:avLst/>
          </a:prstGeom>
          <a:ln w="15240">
            <a:solidFill>
              <a:srgbClr val="7888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02151" y="1730375"/>
            <a:ext cx="1417320" cy="1298448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1" y="187667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5A62"/>
                </a:solidFill>
                <a:latin typeface="Segoe UI"/>
              </a:rPr>
              <a:t>1 byte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3" y="2242439"/>
            <a:ext cx="1271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212E"/>
                </a:solidFill>
                <a:latin typeface="Segoe UI"/>
              </a:rPr>
              <a:t>8 bits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5" y="2553335"/>
            <a:ext cx="1307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897"/>
                </a:solidFill>
                <a:latin typeface="Segoe UI"/>
              </a:rPr>
              <a:t>1 character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10912" y="2379599"/>
            <a:ext cx="219456" cy="0"/>
          </a:xfrm>
          <a:prstGeom prst="line">
            <a:avLst/>
          </a:prstGeom>
          <a:ln w="15240">
            <a:solidFill>
              <a:srgbClr val="7888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21807" y="1730375"/>
            <a:ext cx="1691640" cy="1298448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7" y="1876678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5A62"/>
                </a:solidFill>
                <a:latin typeface="Segoe UI"/>
              </a:rPr>
              <a:t>1 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2242439"/>
            <a:ext cx="1545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1212E"/>
                </a:solidFill>
                <a:latin typeface="Segoe UI"/>
              </a:rPr>
              <a:t>16 / 32 / 64 bits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1" y="2553335"/>
            <a:ext cx="1581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8897"/>
                </a:solidFill>
                <a:latin typeface="Segoe UI"/>
              </a:rPr>
              <a:t>one CPU operation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85800" y="3303143"/>
          <a:ext cx="5989320" cy="16687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34440"/>
                <a:gridCol w="2606040"/>
                <a:gridCol w="2148840"/>
              </a:tblGrid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Value in bytes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Power of two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1 KB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1,024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2¹⁰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1 MB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1,048,576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2²⁰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1 GB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1,073,741,824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2³⁰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1212E"/>
                          </a:solidFill>
                          <a:latin typeface="Segoe UI"/>
                        </a:rPr>
                        <a:t>1 TB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1.0995 × 10¹²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4A5A69"/>
                          </a:solidFill>
                          <a:latin typeface="Consolas"/>
                        </a:rPr>
                        <a:t>2⁴⁰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040880" y="3303143"/>
            <a:ext cx="4434840" cy="1170432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3431159"/>
            <a:ext cx="50292" cy="914400"/>
          </a:xfrm>
          <a:prstGeom prst="rect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486023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212E"/>
                </a:solidFill>
                <a:latin typeface="Segoe UI Semibold"/>
              </a:rPr>
              <a:t>Why 1024 and not 1000?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33495"/>
            <a:ext cx="3931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49" b="0" i="0">
                <a:solidFill>
                  <a:srgbClr val="4A5A69"/>
                </a:solidFill>
                <a:latin typeface="Segoe UI"/>
              </a:rPr>
              <a:t>An address of k bits can select exactly 2ᵏ locations, so memory sizes come out as powers of two. 1 KB = 2¹⁰ bytes.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601591"/>
            <a:ext cx="4434840" cy="1170432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729607"/>
            <a:ext cx="50292" cy="914400"/>
          </a:xfrm>
          <a:prstGeom prst="rect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784471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212E"/>
                </a:solidFill>
                <a:latin typeface="Segoe UI Semibold"/>
              </a:rPr>
              <a:t>Word length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131943"/>
            <a:ext cx="3931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49" b="0" i="0">
                <a:solidFill>
                  <a:srgbClr val="4A5A69"/>
                </a:solidFill>
                <a:latin typeface="Segoe UI"/>
              </a:rPr>
              <a:t>It is the number of bits the CPU moves and processes at once. Wider word → more data per cycle, larger registers, but more hardware.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02 · STORAGE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Where does one bit physically live?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Any circuit that can hold a state stably is a bit cell. Three common ones: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8663"/>
            <a:ext cx="3520440" cy="361188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1986406"/>
            <a:ext cx="1367028" cy="292608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4987"/>
            <a:ext cx="13670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A. SR LATCH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88743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A69"/>
                </a:solidFill>
                <a:latin typeface="Segoe UI"/>
              </a:rPr>
              <a:t>Two cross-coupled NOR gates. The feedback loop keeps the value alive as long as power is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3229991"/>
            <a:ext cx="11430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358007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5A62"/>
                </a:solidFill>
                <a:latin typeface="Consolas"/>
              </a:rPr>
              <a:t>NOR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4235831"/>
            <a:ext cx="11430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4363847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5A62"/>
                </a:solidFill>
                <a:latin typeface="Consolas"/>
              </a:rPr>
              <a:t>NOR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" y="3376295"/>
            <a:ext cx="420624" cy="0"/>
          </a:xfrm>
          <a:prstGeom prst="line">
            <a:avLst/>
          </a:prstGeom>
          <a:ln w="1524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" y="3138551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212E"/>
                </a:solidFill>
                <a:latin typeface="Consolas"/>
              </a:rPr>
              <a:t>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648456" y="4638167"/>
            <a:ext cx="256031" cy="0"/>
          </a:xfrm>
          <a:prstGeom prst="line">
            <a:avLst/>
          </a:prstGeom>
          <a:ln w="1524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77639" y="4491863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212E"/>
                </a:solidFill>
                <a:latin typeface="Consolas"/>
              </a:rPr>
              <a:t>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95728" y="3376295"/>
            <a:ext cx="27432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23160" y="3376295"/>
            <a:ext cx="0" cy="100584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23160" y="4382135"/>
            <a:ext cx="45720" cy="0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82012" y="3335147"/>
            <a:ext cx="82296" cy="82296"/>
          </a:xfrm>
          <a:prstGeom prst="ellipse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9736" y="3120263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Q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96696" y="4638167"/>
            <a:ext cx="1472184" cy="0"/>
          </a:xfrm>
          <a:prstGeom prst="line">
            <a:avLst/>
          </a:prstGeom>
          <a:ln w="1524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96696" y="3595751"/>
            <a:ext cx="0" cy="1042416"/>
          </a:xfrm>
          <a:prstGeom prst="line">
            <a:avLst/>
          </a:prstGeom>
          <a:ln w="1524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6696" y="3595751"/>
            <a:ext cx="237744" cy="0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51560" y="4382135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88897"/>
                </a:solidFill>
                <a:latin typeface="Consolas"/>
              </a:rPr>
              <a:t>Q̅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5058791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No clock: it simply stays put. Level-sensitive.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1748663"/>
            <a:ext cx="3520440" cy="361188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36592" y="1986406"/>
            <a:ext cx="1655064" cy="292608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2054987"/>
            <a:ext cx="1655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B. D FLIP-FLOP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2388743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A69"/>
                </a:solidFill>
                <a:latin typeface="Segoe UI"/>
              </a:rPr>
              <a:t>The industry standard 1-bit cell. Captures D only at a clock edge, so timing is predictable.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3229991"/>
            <a:ext cx="1554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3632327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A5A62"/>
                </a:solidFill>
                <a:latin typeface="Consolas"/>
              </a:rPr>
              <a:t>D  FF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92040" y="3449447"/>
            <a:ext cx="594360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08576" y="324827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1212E"/>
                </a:solidFill>
                <a:latin typeface="Consolas"/>
              </a:rPr>
              <a:t>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92040" y="4107815"/>
            <a:ext cx="594360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6200000">
            <a:off x="5449824" y="4034663"/>
            <a:ext cx="137160" cy="137160"/>
          </a:xfrm>
          <a:prstGeom prst="triangle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3998087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Consolas"/>
              </a:rPr>
              <a:t>CLK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40880" y="3449447"/>
            <a:ext cx="475488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98079" y="3248279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Q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40880" y="4034663"/>
            <a:ext cx="365760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70064" y="408952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88897"/>
                </a:solidFill>
                <a:latin typeface="Consolas"/>
              </a:rPr>
              <a:t>Q̅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4565015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88897"/>
                </a:solidFill>
                <a:latin typeface="Consolas"/>
              </a:rPr>
              <a:t>Q(next) = 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Edge-triggered: changes only on CLK 0 → 1. This is what a register is built from.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5320" y="1748663"/>
            <a:ext cx="3246120" cy="3611880"/>
          </a:xfrm>
          <a:prstGeom prst="roundRect">
            <a:avLst>
              <a:gd name="adj" fmla="val 4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31352" y="1986406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1352" y="2054987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 Semibold"/>
              </a:rPr>
              <a:t>C. DRAM CELL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1352" y="2388743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5" b="0" i="0">
                <a:solidFill>
                  <a:srgbClr val="4A5A69"/>
                </a:solidFill>
                <a:latin typeface="Segoe UI"/>
              </a:rPr>
              <a:t>One transistor and one capacitor hold the bit.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41080" y="3449447"/>
            <a:ext cx="1828800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506456" y="3339719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bit 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90888" y="3303143"/>
            <a:ext cx="329184" cy="292608"/>
          </a:xfrm>
          <a:prstGeom prst="rect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9555480" y="2937383"/>
            <a:ext cx="0" cy="365760"/>
          </a:xfrm>
          <a:prstGeom prst="line">
            <a:avLst/>
          </a:prstGeom>
          <a:ln w="1651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555480" y="2937383"/>
            <a:ext cx="1051560" cy="0"/>
          </a:xfrm>
          <a:prstGeom prst="line">
            <a:avLst/>
          </a:prstGeom>
          <a:ln w="1651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555480" y="2717927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8400"/>
                </a:solidFill>
                <a:latin typeface="Segoe UI"/>
              </a:rPr>
              <a:t>word line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55480" y="3595751"/>
            <a:ext cx="0" cy="274319"/>
          </a:xfrm>
          <a:prstGeom prst="line">
            <a:avLst/>
          </a:prstGeom>
          <a:ln w="1524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99448" y="3870070"/>
            <a:ext cx="512064" cy="0"/>
          </a:xfrm>
          <a:prstGeom prst="line">
            <a:avLst/>
          </a:prstGeom>
          <a:ln w="2794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99448" y="4052951"/>
            <a:ext cx="512064" cy="0"/>
          </a:xfrm>
          <a:prstGeom prst="line">
            <a:avLst/>
          </a:prstGeom>
          <a:ln w="2794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55480" y="4052951"/>
            <a:ext cx="0" cy="201168"/>
          </a:xfrm>
          <a:prstGeom prst="line">
            <a:avLst/>
          </a:prstGeom>
          <a:ln w="1524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44000" y="4254119"/>
            <a:ext cx="822960" cy="0"/>
          </a:xfrm>
          <a:prstGeom prst="line">
            <a:avLst/>
          </a:prstGeom>
          <a:ln w="1778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902952" y="3833495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Consolas"/>
              </a:rPr>
              <a:t>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31352" y="4510151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88897"/>
                </a:solidFill>
                <a:latin typeface="Segoe UI"/>
              </a:rPr>
              <a:t>Needs refreshing ~every 64 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The capacitor leaks, so the value must be read and rewritten. Dense and cheap, but volatile.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" y="5724144"/>
            <a:ext cx="10835640" cy="512064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583387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5A62"/>
                </a:solidFill>
                <a:latin typeface="Segoe UI"/>
              </a:rPr>
              <a:t>Key idea:  </a:t>
            </a:r>
            <a:r>
              <a:rPr sz="1150" b="0" i="0">
                <a:solidFill>
                  <a:srgbClr val="4A5A69"/>
                </a:solidFill>
                <a:latin typeface="Segoe UI"/>
              </a:rPr>
              <a:t>storage = a circuit that can sit stably in one of two states; the flip-flop is the building block, the capacitor is the cheap alternative.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03 · THE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A register is n flip-flops sharing one clock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Definition: a group of flip-flops that stores one binary word and is read or written as a unit.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663063"/>
            <a:ext cx="1051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964815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51345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bit 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6060" y="2269871"/>
            <a:ext cx="0" cy="365760"/>
          </a:xfrm>
          <a:prstGeom prst="line">
            <a:avLst/>
          </a:prstGeom>
          <a:ln w="1524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91740" y="195897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212E"/>
                </a:solidFill>
                <a:latin typeface="Consolas"/>
              </a:rPr>
              <a:t>D₃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66060" y="3915791"/>
            <a:ext cx="0" cy="384048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66060" y="4208399"/>
            <a:ext cx="0" cy="128016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91740" y="437299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Q₃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7" y="2663063"/>
            <a:ext cx="1051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964815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51345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bit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01668" y="2269871"/>
            <a:ext cx="0" cy="365760"/>
          </a:xfrm>
          <a:prstGeom prst="line">
            <a:avLst/>
          </a:prstGeom>
          <a:ln w="1524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27348" y="195897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212E"/>
                </a:solidFill>
                <a:latin typeface="Consolas"/>
              </a:rPr>
              <a:t>D₂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1668" y="3915791"/>
            <a:ext cx="0" cy="384048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01668" y="4208399"/>
            <a:ext cx="0" cy="128016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27348" y="437299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Q₂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11496" y="2663063"/>
            <a:ext cx="1051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2964815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351345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bit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37276" y="2269871"/>
            <a:ext cx="0" cy="365760"/>
          </a:xfrm>
          <a:prstGeom prst="line">
            <a:avLst/>
          </a:prstGeom>
          <a:ln w="1524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62956" y="195897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212E"/>
                </a:solidFill>
                <a:latin typeface="Consolas"/>
              </a:rPr>
              <a:t>D₁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37276" y="3915791"/>
            <a:ext cx="0" cy="384048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37276" y="4208399"/>
            <a:ext cx="0" cy="128016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62956" y="437299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Q₁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3" y="2663063"/>
            <a:ext cx="1051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3" y="2964815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3513455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bit 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72883" y="2269871"/>
            <a:ext cx="0" cy="365760"/>
          </a:xfrm>
          <a:prstGeom prst="line">
            <a:avLst/>
          </a:prstGeom>
          <a:ln w="1524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98564" y="195897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212E"/>
                </a:solidFill>
                <a:latin typeface="Consolas"/>
              </a:rPr>
              <a:t>D₀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72883" y="3915791"/>
            <a:ext cx="0" cy="384048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72883" y="4208399"/>
            <a:ext cx="0" cy="128016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98564" y="437299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Q₀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098671"/>
            <a:ext cx="6089903" cy="0"/>
          </a:xfrm>
          <a:prstGeom prst="line">
            <a:avLst/>
          </a:prstGeom>
          <a:ln w="2032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66060" y="3897503"/>
            <a:ext cx="0" cy="201168"/>
          </a:xfrm>
          <a:prstGeom prst="line">
            <a:avLst/>
          </a:prstGeom>
          <a:ln w="1524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724912" y="4057523"/>
            <a:ext cx="82296" cy="82296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4201668" y="3897503"/>
            <a:ext cx="0" cy="201168"/>
          </a:xfrm>
          <a:prstGeom prst="line">
            <a:avLst/>
          </a:prstGeom>
          <a:ln w="1524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160520" y="4057523"/>
            <a:ext cx="82296" cy="82296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637276" y="3897503"/>
            <a:ext cx="0" cy="201168"/>
          </a:xfrm>
          <a:prstGeom prst="line">
            <a:avLst/>
          </a:prstGeom>
          <a:ln w="1524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596128" y="4057523"/>
            <a:ext cx="82296" cy="82296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072883" y="3897503"/>
            <a:ext cx="0" cy="201168"/>
          </a:xfrm>
          <a:prstGeom prst="line">
            <a:avLst/>
          </a:prstGeom>
          <a:ln w="1524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031736" y="4057523"/>
            <a:ext cx="82296" cy="82296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979799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8400"/>
                </a:solidFill>
                <a:latin typeface="Consolas"/>
              </a:rPr>
              <a:t>CLK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81551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all flip-flops
sample together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240280" y="4647311"/>
            <a:ext cx="0" cy="146304"/>
          </a:xfrm>
          <a:prstGeom prst="line">
            <a:avLst/>
          </a:prstGeom>
          <a:ln w="1397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98663" y="4647311"/>
            <a:ext cx="0" cy="146304"/>
          </a:xfrm>
          <a:prstGeom prst="line">
            <a:avLst/>
          </a:prstGeom>
          <a:ln w="1397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40280" y="4793615"/>
            <a:ext cx="5358383" cy="0"/>
          </a:xfrm>
          <a:prstGeom prst="line">
            <a:avLst/>
          </a:prstGeom>
          <a:ln w="1397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40280" y="4866767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212E"/>
                </a:solidFill>
                <a:latin typeface="Segoe UI"/>
              </a:rPr>
              <a:t>one 4-bit register  —  value stored = Q₃Q₂Q₁Q₀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2224151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 Semibold"/>
              </a:rPr>
              <a:t>What this gives you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608199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2608199"/>
            <a:ext cx="3657600" cy="631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212E"/>
                </a:solidFill>
                <a:latin typeface="Segoe UI"/>
              </a:rPr>
              <a:t>One clock, one update. </a:t>
            </a:r>
            <a:r>
              <a:rPr sz="1250" b="0" i="0">
                <a:solidFill>
                  <a:srgbClr val="11212E"/>
                </a:solidFill>
                <a:latin typeface="Segoe UI"/>
              </a:rPr>
              <a:t>All bits change simultaneously, so the word is never seen half-written.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470771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3470771"/>
            <a:ext cx="3657600" cy="433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212E"/>
                </a:solidFill>
                <a:latin typeface="Segoe UI"/>
              </a:rPr>
              <a:t>Width = number of flip-flops. </a:t>
            </a:r>
            <a:r>
              <a:rPr sz="1250" b="0" i="0">
                <a:solidFill>
                  <a:srgbClr val="11212E"/>
                </a:solidFill>
                <a:latin typeface="Segoe UI"/>
              </a:rPr>
              <a:t>8-bit register = 8 FFs, 64-bit = 64 FFs.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202291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4202291"/>
            <a:ext cx="3657600" cy="631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212E"/>
                </a:solidFill>
                <a:latin typeface="Segoe UI"/>
              </a:rPr>
              <a:t>No address needed. </a:t>
            </a:r>
            <a:r>
              <a:rPr sz="1250" b="0" i="0">
                <a:solidFill>
                  <a:srgbClr val="11212E"/>
                </a:solidFill>
                <a:latin typeface="Segoe UI"/>
              </a:rPr>
              <a:t>It is selected by name, not by a memory address, so access is a single cycle.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35240" y="5113655"/>
            <a:ext cx="3931920" cy="603504"/>
          </a:xfrm>
          <a:prstGeom prst="roundRect">
            <a:avLst>
              <a:gd name="adj" fmla="val 5000"/>
            </a:avLst>
          </a:prstGeom>
          <a:solidFill>
            <a:srgbClr val="0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91271" y="5259959"/>
            <a:ext cx="3419856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F0EE"/>
                </a:solidFill>
                <a:latin typeface="Consolas"/>
              </a:rPr>
              <a:t>R1 : 4-bit register,   R1 = 1011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03 · THE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Register transfer notation: R1 ←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The notation that describes what happens between registers, independent of the hardware that does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66951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0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13255"/>
            <a:ext cx="4617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FC8C0"/>
                </a:solidFill>
                <a:latin typeface="Segoe UI Semibold"/>
              </a:rPr>
              <a:t>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24151"/>
            <a:ext cx="45628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F0EE"/>
                </a:solidFill>
                <a:latin typeface="Consolas"/>
              </a:rPr>
              <a:t>R2 ← R1        transfer (copy)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F0EE"/>
                </a:solidFill>
                <a:latin typeface="Consolas"/>
              </a:rPr>
              <a:t>R3 ← R1 + R2     add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F0EE"/>
                </a:solidFill>
                <a:latin typeface="Consolas"/>
              </a:rPr>
              <a:t>R4 ← R3 − 1      decrement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6F0EE"/>
                </a:solidFill>
                <a:latin typeface="Consolas"/>
              </a:rPr>
              <a:t>R1 ← 0         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76295"/>
            <a:ext cx="50749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5A69"/>
                </a:solidFill>
                <a:latin typeface="Segoe UI"/>
              </a:rPr>
              <a:t>Read it right to left: </a:t>
            </a:r>
            <a:r>
              <a:rPr sz="1250" b="0" i="0">
                <a:solidFill>
                  <a:srgbClr val="4A5A69"/>
                </a:solidFill>
                <a:latin typeface="Segoe UI"/>
              </a:rPr>
              <a:t>the source is read and copied, the destination is overwritten. The source keeps its value — a transfer is a copy, never a move.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72407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212E"/>
                </a:solidFill>
                <a:latin typeface="Segoe UI Semibold"/>
              </a:rPr>
              <a:t>Every transfer happens under a control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01591"/>
            <a:ext cx="5074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A statement only executes when its enable signal is 1. In hardware this becomes a set of gate signals, not a line of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41670"/>
            <a:ext cx="5074920" cy="603504"/>
          </a:xfrm>
          <a:prstGeom prst="roundRect">
            <a:avLst>
              <a:gd name="adj" fmla="val 5000"/>
            </a:avLst>
          </a:prstGeom>
          <a:solidFill>
            <a:srgbClr val="0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387975"/>
            <a:ext cx="4562856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6F0EE"/>
                </a:solidFill>
                <a:latin typeface="Consolas"/>
              </a:rPr>
              <a:t>if (T3 = 1)  then  R2 ← 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6951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 Semibold"/>
              </a:rPr>
              <a:t>The hardware behind one arrow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05863"/>
            <a:ext cx="16002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11212E"/>
                </a:solidFill>
                <a:latin typeface="Consolas"/>
              </a:rPr>
              <a:t>R1</a:t>
            </a:r>
          </a:p>
          <a:p>
            <a:pPr algn="ctr"/>
            <a:r>
              <a:rPr sz="900">
                <a:solidFill>
                  <a:srgbClr val="788897"/>
                </a:solidFill>
                <a:latin typeface="Segoe UI"/>
              </a:rPr>
              <a:t>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205863"/>
            <a:ext cx="14630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500" b="1">
                <a:solidFill>
                  <a:srgbClr val="11212E"/>
                </a:solidFill>
                <a:latin typeface="Consolas"/>
              </a:rPr>
              <a:t>R2</a:t>
            </a:r>
          </a:p>
          <a:p>
            <a:pPr algn="ctr"/>
            <a:r>
              <a:rPr sz="900">
                <a:solidFill>
                  <a:srgbClr val="788897"/>
                </a:solidFill>
                <a:latin typeface="Segoe UI"/>
              </a:rPr>
              <a:t>destination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8275320" y="2315591"/>
            <a:ext cx="502920" cy="566928"/>
          </a:xfrm>
          <a:prstGeom prst="triangle">
            <a:avLst/>
          </a:prstGeom>
          <a:solidFill>
            <a:srgbClr val="E3F1EF"/>
          </a:solidFill>
          <a:ln w="1524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919095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tri-state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138551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A62"/>
                </a:solidFill>
                <a:latin typeface="Consolas"/>
              </a:rPr>
              <a:t>EN = T3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2599055"/>
            <a:ext cx="301752" cy="0"/>
          </a:xfrm>
          <a:prstGeom prst="line">
            <a:avLst/>
          </a:prstGeom>
          <a:ln w="1778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96528" y="2599055"/>
            <a:ext cx="1152144" cy="0"/>
          </a:xfrm>
          <a:prstGeom prst="line">
            <a:avLst/>
          </a:prstGeom>
          <a:ln w="1778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33104" y="229730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698480" y="3047111"/>
            <a:ext cx="0" cy="420624"/>
          </a:xfrm>
          <a:prstGeom prst="line">
            <a:avLst/>
          </a:prstGeom>
          <a:ln w="17780">
            <a:solidFill>
              <a:srgbClr val="D98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12680" y="3120263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8400"/>
                </a:solidFill>
                <a:latin typeface="Consolas"/>
              </a:rPr>
              <a:t>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3504311"/>
            <a:ext cx="2743200" cy="566928"/>
          </a:xfrm>
          <a:prstGeom prst="roundRect">
            <a:avLst>
              <a:gd name="adj" fmla="val 12000"/>
            </a:avLst>
          </a:prstGeom>
          <a:solidFill>
            <a:srgbClr val="E7F0F2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1212E"/>
                </a:solidFill>
                <a:latin typeface="Consolas"/>
              </a:rPr>
              <a:t>T3 : R2in</a:t>
            </a:r>
          </a:p>
          <a:p>
            <a:pPr algn="ctr"/>
            <a:r>
              <a:rPr sz="850">
                <a:solidFill>
                  <a:srgbClr val="788897"/>
                </a:solidFill>
                <a:latin typeface="Segoe UI"/>
              </a:rPr>
              <a:t>control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052951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Gate R1 onto the bus (its output enable), then pulse R2's load line. Nothing moves unless both control signals are asserted on the same cycle.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355080" y="4766183"/>
          <a:ext cx="5074920" cy="16230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51560"/>
                <a:gridCol w="1051560"/>
                <a:gridCol w="2971800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R1out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R2in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Segoe UI"/>
                        </a:rPr>
                        <a:t>bus idle, R2 unchanged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Segoe UI"/>
                        </a:rPr>
                        <a:t>R1 drives bus, nobody loads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Segoe UI"/>
                        </a:rPr>
                        <a:t>R2 loads whatever is on the bus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4A5A69"/>
                          </a:solidFill>
                          <a:latin typeface="Segoe UI"/>
                        </a:rPr>
                        <a:t>R2 ← R1  (the transfer)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03 · THE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Registers you will meet inside a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Small in number, but each one has a specific job in the fetch–decode–execute cycle.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48663"/>
          <a:ext cx="7818120" cy="312724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841248"/>
                <a:gridCol w="1993392"/>
                <a:gridCol w="2514600"/>
                <a:gridCol w="24688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Register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Full name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What it holds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Why it exists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PC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Program Counter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address of the next instruction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keeps the program moving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IR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Instruction Register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the instruction being decoded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decouple fetch from execute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MAR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Memory Address Register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address sent to memory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drives the address bus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MDR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Memory Data Register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data read / to be written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buffers the data bus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ACC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Accumulator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intermediate ALU result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classic 1-operand machines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SP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Stack Pointer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top of the stack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calls, returns, locals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PSW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Status / Flags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zero, carry, sign, overflow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conditional branches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GPR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General Purpose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operands and addresses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compiler's scratch space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96528" y="1748663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212E"/>
                </a:solidFill>
                <a:latin typeface="Segoe UI Semibold"/>
              </a:rPr>
              <a:t>Three that matter most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96528" y="2132711"/>
            <a:ext cx="2724912" cy="96012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6528" y="2242439"/>
            <a:ext cx="45720" cy="7406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242439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7C86"/>
                </a:solidFill>
                <a:latin typeface="Consolas"/>
              </a:rPr>
              <a:t>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516759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A69"/>
                </a:solidFill>
                <a:latin typeface="Segoe UI"/>
              </a:rPr>
              <a:t>Tells memory which instruction to fetch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3248279"/>
            <a:ext cx="2724912" cy="96012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96528" y="3358007"/>
            <a:ext cx="45720" cy="740664"/>
          </a:xfrm>
          <a:prstGeom prst="rect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358007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8400"/>
                </a:solidFill>
                <a:latin typeface="Consolas"/>
              </a:rPr>
              <a:t>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632326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A69"/>
                </a:solidFill>
                <a:latin typeface="Segoe UI"/>
              </a:rPr>
              <a:t>Holds what was fetched while it is decoded.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4363847"/>
            <a:ext cx="2724912" cy="960120"/>
          </a:xfrm>
          <a:prstGeom prst="roundRect">
            <a:avLst>
              <a:gd name="adj" fmla="val 8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96528" y="4473575"/>
            <a:ext cx="45720" cy="740664"/>
          </a:xfrm>
          <a:prstGeom prst="rect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473575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5A62"/>
                </a:solidFill>
                <a:latin typeface="Consolas"/>
              </a:rPr>
              <a:t>MAR / MDR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747895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A69"/>
                </a:solidFill>
                <a:latin typeface="Segoe UI"/>
              </a:rPr>
              <a:t>The only route to memory: address out, data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5369687"/>
            <a:ext cx="2724912" cy="621792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5461127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A69"/>
                </a:solidFill>
                <a:latin typeface="Segoe UI"/>
              </a:rPr>
              <a:t>Typical count: 16–32 registers per core, versus billions of memory cells.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058791"/>
            <a:ext cx="7818120" cy="731520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168518"/>
            <a:ext cx="7452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Segoe UI"/>
              </a:rPr>
              <a:t>Register file:  </a:t>
            </a:r>
            <a:r>
              <a:rPr sz="1050" b="0" i="0">
                <a:solidFill>
                  <a:srgbClr val="4A5A69"/>
                </a:solidFill>
                <a:latin typeface="Segoe UI"/>
              </a:rPr>
              <a:t>all the general-purpose registers together, with two read ports and one write port, selected by register number inside the instruction.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18327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88897"/>
                </a:solidFill>
                <a:latin typeface="Segoe UI"/>
              </a:rPr>
              <a:t>All of these are the same hardware: n flip-flops with a load enable. Only the wiring around them differs.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04 ·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Controlling a register: the load enable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A register must know when to accept new data. One extra input, Load, solves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041271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Segoe UI Semibold"/>
              </a:rPr>
              <a:t>D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928" y="2041271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Segoe UI Semibold"/>
              </a:rPr>
              <a:t>2:1 MUX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041271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Segoe UI Semibold"/>
              </a:rPr>
              <a:t>flip-flop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3607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Consolas"/>
              </a:rPr>
              <a:t>D0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16152" y="2553335"/>
            <a:ext cx="2048256" cy="0"/>
          </a:xfrm>
          <a:prstGeom prst="line">
            <a:avLst/>
          </a:prstGeom>
          <a:ln w="1397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rapezoid 10"/>
          <p:cNvSpPr/>
          <p:nvPr/>
        </p:nvSpPr>
        <p:spPr>
          <a:xfrm rot="16200000">
            <a:off x="3886200" y="2333879"/>
            <a:ext cx="640080" cy="438912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407031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897"/>
                </a:solidFill>
                <a:latin typeface="Consolas"/>
              </a:rPr>
              <a:t>0/1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36008" y="2553335"/>
            <a:ext cx="106070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15000" y="2352167"/>
            <a:ext cx="56692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452750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216" y="2553335"/>
            <a:ext cx="32918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65976" y="24436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Q0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01974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Consolas"/>
              </a:rPr>
              <a:t>D1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6152" y="3211702"/>
            <a:ext cx="2048256" cy="0"/>
          </a:xfrm>
          <a:prstGeom prst="line">
            <a:avLst/>
          </a:prstGeom>
          <a:ln w="1397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pezoid 19"/>
          <p:cNvSpPr/>
          <p:nvPr/>
        </p:nvSpPr>
        <p:spPr>
          <a:xfrm rot="16200000">
            <a:off x="3886200" y="2992246"/>
            <a:ext cx="640080" cy="438912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06539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897"/>
                </a:solidFill>
                <a:latin typeface="Consolas"/>
              </a:rPr>
              <a:t>0/1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36008" y="3211702"/>
            <a:ext cx="106070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715000" y="3010534"/>
            <a:ext cx="56692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11111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0216" y="3211702"/>
            <a:ext cx="32918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65976" y="310197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60343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Consolas"/>
              </a:rPr>
              <a:t>D2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16152" y="3870071"/>
            <a:ext cx="2048256" cy="0"/>
          </a:xfrm>
          <a:prstGeom prst="line">
            <a:avLst/>
          </a:prstGeom>
          <a:ln w="1397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rapezoid 28"/>
          <p:cNvSpPr/>
          <p:nvPr/>
        </p:nvSpPr>
        <p:spPr>
          <a:xfrm rot="16200000">
            <a:off x="3886200" y="3650615"/>
            <a:ext cx="640080" cy="438912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72376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897"/>
                </a:solidFill>
                <a:latin typeface="Consolas"/>
              </a:rPr>
              <a:t>0/1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36008" y="3870071"/>
            <a:ext cx="106070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3668903"/>
            <a:ext cx="56692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3769487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0216" y="3870071"/>
            <a:ext cx="32918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65976" y="376034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Q2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418711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212E"/>
                </a:solidFill>
                <a:latin typeface="Consolas"/>
              </a:rPr>
              <a:t>D3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16152" y="4528439"/>
            <a:ext cx="2048256" cy="0"/>
          </a:xfrm>
          <a:prstGeom prst="line">
            <a:avLst/>
          </a:prstGeom>
          <a:ln w="13970">
            <a:solidFill>
              <a:srgbClr val="4A5A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rapezoid 37"/>
          <p:cNvSpPr/>
          <p:nvPr/>
        </p:nvSpPr>
        <p:spPr>
          <a:xfrm rot="16200000">
            <a:off x="3886200" y="4308983"/>
            <a:ext cx="640080" cy="438912"/>
          </a:xfrm>
          <a:prstGeom prst="trapezoid">
            <a:avLst/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60" y="4382135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88897"/>
                </a:solidFill>
                <a:latin typeface="Consolas"/>
              </a:rPr>
              <a:t>0/1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36008" y="4528439"/>
            <a:ext cx="106070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715000" y="4327271"/>
            <a:ext cx="56692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427855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FF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0216" y="4528439"/>
            <a:ext cx="329184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665976" y="441871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A62"/>
                </a:solidFill>
                <a:latin typeface="Consolas"/>
              </a:rPr>
              <a:t>Q3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29400" y="2699639"/>
            <a:ext cx="292608" cy="0"/>
          </a:xfrm>
          <a:prstGeom prst="line">
            <a:avLst/>
          </a:prstGeom>
          <a:ln w="1270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922008" y="2699639"/>
            <a:ext cx="0" cy="2359152"/>
          </a:xfrm>
          <a:prstGeom prst="line">
            <a:avLst/>
          </a:prstGeom>
          <a:ln w="1270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22008" y="5058791"/>
            <a:ext cx="393192" cy="0"/>
          </a:xfrm>
          <a:prstGeom prst="line">
            <a:avLst/>
          </a:prstGeom>
          <a:ln w="12700">
            <a:solidFill>
              <a:srgbClr val="7888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995160" y="3760343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hold
path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3566160" y="4583303"/>
            <a:ext cx="0" cy="603504"/>
          </a:xfrm>
          <a:prstGeom prst="line">
            <a:avLst/>
          </a:prstGeom>
          <a:ln w="2032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566160" y="4583303"/>
            <a:ext cx="640080" cy="0"/>
          </a:xfrm>
          <a:prstGeom prst="line">
            <a:avLst/>
          </a:prstGeom>
          <a:ln w="2032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350008" y="524167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8400"/>
                </a:solidFill>
                <a:latin typeface="Consolas"/>
              </a:rPr>
              <a:t>LOAD</a:t>
            </a:r>
          </a:p>
        </p:txBody>
      </p:sp>
      <p:sp>
        <p:nvSpPr>
          <p:cNvPr id="52" name="Oval 51"/>
          <p:cNvSpPr/>
          <p:nvPr/>
        </p:nvSpPr>
        <p:spPr>
          <a:xfrm>
            <a:off x="4165091" y="4542155"/>
            <a:ext cx="82296" cy="82296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07707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A69"/>
                </a:solidFill>
                <a:latin typeface="Segoe UI"/>
              </a:rPr>
              <a:t>Load = 1: the MUX passes the D inputs → register takes the new word.      Load = 0: the MUX feeds Q back into the flip-flop → value is held.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6949440" y="2589911"/>
          <a:ext cx="4434840" cy="1463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77240"/>
                <a:gridCol w="868680"/>
                <a:gridCol w="27889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LOAD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CLK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Next state of register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rising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unchanged (hold)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rising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D₃D₂D₁D₀ (load)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x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no edge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unchanged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ounded Rectangle 54"/>
          <p:cNvSpPr/>
          <p:nvPr/>
        </p:nvSpPr>
        <p:spPr>
          <a:xfrm>
            <a:off x="6949440" y="3988943"/>
            <a:ext cx="4434840" cy="1005840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0608" y="4107815"/>
            <a:ext cx="4069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86"/>
                </a:solidFill>
                <a:latin typeface="Segoe UI Semibold"/>
              </a:rPr>
              <a:t>SYNCHRONOUS, NOT MAGIC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50608" y="4345559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A69"/>
                </a:solidFill>
                <a:latin typeface="Segoe UI"/>
              </a:rPr>
              <a:t>Changing D alone does nothing. The value is captured only on a clock edge while Load is high.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04 ·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Shift registers: moving bits, not copying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Connect each flip-flop's output to the next one's input and bits travel one position per clock.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224151"/>
            <a:ext cx="859536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498471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FF3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95144" y="2644775"/>
            <a:ext cx="164592" cy="0"/>
          </a:xfrm>
          <a:prstGeom prst="line">
            <a:avLst/>
          </a:prstGeom>
          <a:ln w="1651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96312" y="2224151"/>
            <a:ext cx="859536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498471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FF2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74136" y="2644775"/>
            <a:ext cx="164592" cy="0"/>
          </a:xfrm>
          <a:prstGeom prst="line">
            <a:avLst/>
          </a:prstGeom>
          <a:ln w="1651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75304" y="2224151"/>
            <a:ext cx="859536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498471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FF1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53127" y="2644775"/>
            <a:ext cx="164593" cy="0"/>
          </a:xfrm>
          <a:prstGeom prst="line">
            <a:avLst/>
          </a:prstGeom>
          <a:ln w="1651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54296" y="2224151"/>
            <a:ext cx="859536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2498471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Consolas"/>
              </a:rPr>
              <a:t>FF0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" y="2644775"/>
            <a:ext cx="530352" cy="0"/>
          </a:xfrm>
          <a:prstGeom prst="line">
            <a:avLst/>
          </a:prstGeom>
          <a:ln w="19050">
            <a:solidFill>
              <a:srgbClr val="D98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79" y="224243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8400"/>
                </a:solidFill>
                <a:latin typeface="Segoe UI"/>
              </a:rPr>
              <a:t>serial 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13831" y="2644775"/>
            <a:ext cx="310896" cy="0"/>
          </a:xfrm>
          <a:prstGeom prst="line">
            <a:avLst/>
          </a:prstGeom>
          <a:ln w="15875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4999" y="2644775"/>
            <a:ext cx="128017" cy="0"/>
          </a:xfrm>
          <a:prstGeom prst="line">
            <a:avLst/>
          </a:prstGeom>
          <a:ln w="1778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7879" y="249847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8897"/>
                </a:solidFill>
                <a:latin typeface="Segoe UI"/>
              </a:rPr>
              <a:t>serial out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20" y="3376295"/>
            <a:ext cx="4096511" cy="0"/>
          </a:xfrm>
          <a:prstGeom prst="line">
            <a:avLst/>
          </a:prstGeom>
          <a:ln w="1905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847088" y="3092831"/>
            <a:ext cx="0" cy="283464"/>
          </a:xfrm>
          <a:prstGeom prst="line">
            <a:avLst/>
          </a:prstGeom>
          <a:ln w="1397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810512" y="3339719"/>
            <a:ext cx="73152" cy="73152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926080" y="3092831"/>
            <a:ext cx="0" cy="283464"/>
          </a:xfrm>
          <a:prstGeom prst="line">
            <a:avLst/>
          </a:prstGeom>
          <a:ln w="1397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889504" y="3339719"/>
            <a:ext cx="73152" cy="73152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4005072" y="3092831"/>
            <a:ext cx="0" cy="283464"/>
          </a:xfrm>
          <a:prstGeom prst="line">
            <a:avLst/>
          </a:prstGeom>
          <a:ln w="1397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968496" y="3339719"/>
            <a:ext cx="73152" cy="73152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5084064" y="3092831"/>
            <a:ext cx="0" cy="283464"/>
          </a:xfrm>
          <a:prstGeom prst="line">
            <a:avLst/>
          </a:prstGeom>
          <a:ln w="13970">
            <a:solidFill>
              <a:srgbClr val="D9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047488" y="3339719"/>
            <a:ext cx="73152" cy="73152"/>
          </a:xfrm>
          <a:prstGeom prst="ellipse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79" y="326656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8400"/>
                </a:solidFill>
                <a:latin typeface="Consolas"/>
              </a:rPr>
              <a:t>CLK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79691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212E"/>
                </a:solidFill>
                <a:latin typeface="Segoe UI Semibold"/>
              </a:rPr>
              <a:t>One clock per position — initial value 1011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868680" y="4126103"/>
          <a:ext cx="4983480" cy="1600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960120"/>
                <a:gridCol w="868680"/>
                <a:gridCol w="868680"/>
                <a:gridCol w="868680"/>
                <a:gridCol w="868680"/>
                <a:gridCol w="54864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Clock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FF3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FF2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FF1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FF0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out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start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–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21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68680" y="5881751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88897"/>
                </a:solidFill>
                <a:latin typeface="Segoe UI"/>
              </a:rPr>
              <a:t>Each column keeps its value for one clock, then passes it 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67551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212E"/>
                </a:solidFill>
                <a:latin typeface="Segoe UI Semibold"/>
              </a:rPr>
              <a:t>Four ways to wire the ends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2041271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2242439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5A62"/>
                </a:solidFill>
                <a:latin typeface="Consolas"/>
              </a:rPr>
              <a:t>SISO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0336" y="2123567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1212E"/>
                </a:solidFill>
                <a:latin typeface="Segoe UI"/>
              </a:rPr>
              <a:t>Serial in, serial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0336" y="2388743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one bit at a time; delay 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2754502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2955671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5A62"/>
                </a:solidFill>
                <a:latin typeface="Consolas"/>
              </a:rPr>
              <a:t>SIPO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336" y="283679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1212E"/>
                </a:solidFill>
                <a:latin typeface="Segoe UI"/>
              </a:rPr>
              <a:t>Serial in, parallel 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0336" y="310197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serial link → byte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3467735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366890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5A62"/>
                </a:solidFill>
                <a:latin typeface="Consolas"/>
              </a:rPr>
              <a:t>PISO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0336" y="3550031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1212E"/>
                </a:solidFill>
                <a:latin typeface="Segoe UI"/>
              </a:rPr>
              <a:t>Parallel in, serial 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0336" y="3815207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byte → serial link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180967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382135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5A62"/>
                </a:solidFill>
                <a:latin typeface="Consolas"/>
              </a:rPr>
              <a:t>PIPO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0336" y="4263263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1212E"/>
                </a:solidFill>
                <a:latin typeface="Segoe UI"/>
              </a:rPr>
              <a:t>Parallel in/out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0336" y="4528439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plain buffer register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930775"/>
            <a:ext cx="5120640" cy="603504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5040503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8400"/>
                </a:solidFill>
                <a:latin typeface="Segoe UI Semibold"/>
              </a:rPr>
              <a:t>SHIFT = × 2 OR ÷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83096" y="5241671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A69"/>
                </a:solidFill>
                <a:latin typeface="Segoe UI"/>
              </a:rPr>
              <a:t>Left shift doubles; right shift halves (the bit shifted out is lost).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04 ·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Many registers, one bus: tri-state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Connecting every register to every other register needs n² wires. A shared bus needs 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48663"/>
            <a:ext cx="5349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A tri-state buffer has three output states: 0, 1, and high-impedance (Z). High-Z means electrically disconnected, so many outputs can share one wire — provided only one of them is enabled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9847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1212E"/>
                </a:solidFill>
                <a:latin typeface="Consolas"/>
              </a:rPr>
              <a:t>R1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84831" y="2781935"/>
            <a:ext cx="310897" cy="0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2414016" y="2608199"/>
            <a:ext cx="310896" cy="347472"/>
          </a:xfrm>
          <a:prstGeom prst="triangle">
            <a:avLst/>
          </a:prstGeom>
          <a:solidFill>
            <a:srgbClr val="E3F1E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97395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88897"/>
                </a:solidFill>
                <a:latin typeface="Segoe UI"/>
              </a:rPr>
              <a:t>R1out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781935"/>
            <a:ext cx="905256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412871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1212E"/>
                </a:solidFill>
                <a:latin typeface="Consolas"/>
              </a:rPr>
              <a:t>R2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4831" y="3696335"/>
            <a:ext cx="310897" cy="0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414016" y="3522599"/>
            <a:ext cx="310896" cy="347472"/>
          </a:xfrm>
          <a:prstGeom prst="triangle">
            <a:avLst/>
          </a:prstGeom>
          <a:solidFill>
            <a:srgbClr val="E3F1E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388835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88897"/>
                </a:solidFill>
                <a:latin typeface="Segoe UI"/>
              </a:rPr>
              <a:t>R2out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3696335"/>
            <a:ext cx="905256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4327270"/>
            <a:ext cx="118872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1212E"/>
                </a:solidFill>
                <a:latin typeface="Consolas"/>
              </a:rPr>
              <a:t>R3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84831" y="4610734"/>
            <a:ext cx="310897" cy="0"/>
          </a:xfrm>
          <a:prstGeom prst="line">
            <a:avLst/>
          </a:prstGeom>
          <a:ln w="1524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2414016" y="4436999"/>
            <a:ext cx="310896" cy="347472"/>
          </a:xfrm>
          <a:prstGeom prst="triangle">
            <a:avLst/>
          </a:prstGeom>
          <a:solidFill>
            <a:srgbClr val="E3F1EF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80275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88897"/>
                </a:solidFill>
                <a:latin typeface="Segoe UI"/>
              </a:rPr>
              <a:t>R3out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4610734"/>
            <a:ext cx="905256" cy="0"/>
          </a:xfrm>
          <a:prstGeom prst="line">
            <a:avLst/>
          </a:prstGeom>
          <a:ln w="1397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03320" y="2553335"/>
            <a:ext cx="0" cy="2212848"/>
          </a:xfrm>
          <a:prstGeom prst="line">
            <a:avLst/>
          </a:prstGeom>
          <a:ln w="38100">
            <a:solidFill>
              <a:srgbClr val="0A5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657600" y="2736215"/>
            <a:ext cx="91440" cy="91440"/>
          </a:xfrm>
          <a:prstGeom prst="ellipse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0" y="3650615"/>
            <a:ext cx="91440" cy="91440"/>
          </a:xfrm>
          <a:prstGeom prst="ellipse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0" y="4565014"/>
            <a:ext cx="91440" cy="91440"/>
          </a:xfrm>
          <a:prstGeom prst="ellipse">
            <a:avLst/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58183" y="478447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common bus (one word wide)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074543"/>
            <a:ext cx="141732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3284855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86"/>
                </a:solidFill>
                <a:latin typeface="Consolas"/>
              </a:rPr>
              <a:t>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559175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destination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03320" y="3504311"/>
            <a:ext cx="987552" cy="0"/>
          </a:xfrm>
          <a:prstGeom prst="line">
            <a:avLst/>
          </a:prstGeom>
          <a:ln w="1778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0" y="174866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212E"/>
                </a:solidFill>
                <a:latin typeface="Segoe UI Semibold"/>
              </a:rPr>
              <a:t>The one rule that must never break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059559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A69"/>
                </a:solidFill>
                <a:latin typeface="Segoe UI"/>
              </a:rPr>
              <a:t>Exactly one output enabled at a time. Two drivers on one wire = bus contention: a short circuit, not just a wrong value.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583680" y="2699639"/>
          <a:ext cx="4937760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9202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R1out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R2out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R3out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Bus state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carries R1  ✓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carries R2  ✓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floating (Z)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21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4A5A69"/>
                          </a:solidFill>
                          <a:latin typeface="Segoe UI"/>
                        </a:rPr>
                        <a:t>contention  ✗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6583680" y="4418711"/>
            <a:ext cx="4937760" cy="713232"/>
          </a:xfrm>
          <a:prstGeom prst="rect">
            <a:avLst/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528439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Segoe UI"/>
              </a:rPr>
              <a:t>Cost of a bus: </a:t>
            </a:r>
            <a:r>
              <a:rPr sz="1050" b="0" i="0">
                <a:solidFill>
                  <a:srgbClr val="4A5A69"/>
                </a:solidFill>
                <a:latin typeface="Segoe UI"/>
              </a:rPr>
              <a:t>one transfer per cycle, but only one word wide — so wide buses and multiple buses are how CPUs get more done per clock.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05 ·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Where registers sit: the memory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Same bit, very different cost. Registers trade capacity for speed.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03527"/>
            <a:ext cx="2331720" cy="841248"/>
          </a:xfrm>
          <a:prstGeom prst="roundRect">
            <a:avLst>
              <a:gd name="adj" fmla="val 7000"/>
            </a:avLst>
          </a:prstGeom>
          <a:solidFill>
            <a:srgbClr val="0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0687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2439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F2F1"/>
                </a:solidFill>
                <a:latin typeface="Segoe UI"/>
              </a:rPr>
              <a:t>16–32 per core · &lt; 1 ns · flip-flop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72791"/>
            <a:ext cx="3291840" cy="841248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0995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Cache (L1/L2/L3)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11703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F2F1"/>
                </a:solidFill>
                <a:latin typeface="Segoe UI"/>
              </a:rPr>
              <a:t>KB–MB · 1–10 ns · SRAM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42055"/>
            <a:ext cx="4754880" cy="841248"/>
          </a:xfrm>
          <a:prstGeom prst="roundRect">
            <a:avLst>
              <a:gd name="adj" fmla="val 7000"/>
            </a:avLst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879215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Main memory (RAM)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180967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F2F1"/>
                </a:solidFill>
                <a:latin typeface="Segoe UI"/>
              </a:rPr>
              <a:t>GB · 50–100 ns · DRAM + refresh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11319"/>
            <a:ext cx="6035040" cy="841248"/>
          </a:xfrm>
          <a:prstGeom prst="roundRect">
            <a:avLst>
              <a:gd name="adj" fmla="val 7000"/>
            </a:avLst>
          </a:prstGeom>
          <a:solidFill>
            <a:srgbClr val="788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848479"/>
            <a:ext cx="5669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SSD / HDD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150231"/>
            <a:ext cx="5669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F2F1"/>
                </a:solidFill>
                <a:latin typeface="Segoe UI"/>
              </a:rPr>
              <a:t>TB · µs–ms · block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98871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← faster, smaller, costlier per bit          slower, larger, cheaper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748663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212E"/>
                </a:solidFill>
                <a:latin typeface="Segoe UI Semibold"/>
              </a:rPr>
              <a:t>Register vs. main memory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78040" y="2114423"/>
          <a:ext cx="4343400" cy="241401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51560"/>
                <a:gridCol w="1600200"/>
                <a:gridCol w="16916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Register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RAM cell</a:t>
                      </a:r>
                    </a:p>
                  </a:txBody>
                  <a:tcPr marL="100584" marR="64008" marT="27432" marB="27432" anchor="ctr">
                    <a:solidFill>
                      <a:srgbClr val="0E7C8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12E"/>
                          </a:solidFill>
                          <a:latin typeface="Segoe UI"/>
                        </a:rPr>
                        <a:t>Element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flip-flop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cap. + FET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12E"/>
                          </a:solidFill>
                          <a:latin typeface="Segoe UI"/>
                        </a:rPr>
                        <a:t>Select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by name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by address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12E"/>
                          </a:solidFill>
                          <a:latin typeface="Segoe UI"/>
                        </a:rPr>
                        <a:t>Access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&lt; 1 cycle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many cycles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12E"/>
                          </a:solidFill>
                          <a:latin typeface="Segoe UI"/>
                        </a:rPr>
                        <a:t>Capacity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bytes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gigabytes</a:t>
                      </a:r>
                    </a:p>
                  </a:txBody>
                  <a:tcPr marL="100584" marR="64008" marT="27432" marB="27432" anchor="ctr">
                    <a:solidFill>
                      <a:srgbClr val="F1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1212E"/>
                          </a:solidFill>
                          <a:latin typeface="Segoe UI"/>
                        </a:rPr>
                        <a:t>Volatile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A5A69"/>
                          </a:solidFill>
                          <a:latin typeface="Segoe UI"/>
                        </a:rPr>
                        <a:t>yes (refresh)</a:t>
                      </a:r>
                    </a:p>
                  </a:txBody>
                  <a:tcPr marL="100584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178040" y="4674743"/>
            <a:ext cx="4343400" cy="1078992"/>
          </a:xfrm>
          <a:prstGeom prst="roundRect">
            <a:avLst>
              <a:gd name="adj" fmla="val 5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4802759"/>
            <a:ext cx="50292" cy="822959"/>
          </a:xfrm>
          <a:prstGeom prst="rect">
            <a:avLst/>
          </a:prstGeom>
          <a:solidFill>
            <a:srgbClr val="D98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857623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212E"/>
                </a:solidFill>
                <a:latin typeface="Segoe UI Semibold"/>
              </a:rPr>
              <a:t>Why not make all memory flip-flops?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5205095"/>
            <a:ext cx="38404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4A5A69"/>
                </a:solidFill>
                <a:latin typeface="Segoe UI"/>
              </a:rPr>
              <a:t>A flip-flop is ~6 transistors per bit; a DRAM cell is 1 transistor + 1 capacitor. Same bit, ~6× the area and far more heat.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881751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8" b="0" i="1">
                <a:solidFill>
                  <a:srgbClr val="788897"/>
                </a:solidFill>
                <a:latin typeface="Segoe UI"/>
              </a:rPr>
              <a:t>Registers exist because the CPU cannot wait 100 ns for every operand.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06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Worked example: one 8-bit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R1 = 0000 1101 (decimal 13). What do the control signals make it 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5239"/>
            <a:ext cx="6492240" cy="932688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2399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LOAD R1 ← 11010110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96719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A69"/>
                </a:solidFill>
                <a:latin typeface="Segoe UI"/>
              </a:rPr>
              <a:t>Load = 1: the whole word is captured on the clock 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200469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5284" y="200469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5284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00469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91356" y="200469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1356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200469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7428" y="200469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7428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5464" y="200469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3500" y="200469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3500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31536" y="200469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6" y="208699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1986407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212E"/>
                </a:solidFill>
                <a:latin typeface="Consolas"/>
              </a:rPr>
              <a:t>= 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226072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decimal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791079"/>
            <a:ext cx="6492240" cy="932688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2928239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SHL  R1,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202559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A69"/>
                </a:solidFill>
                <a:latin typeface="Segoe UI"/>
              </a:rPr>
              <a:t>Left shift: bits move left, 0 enters at LSB → ×2.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01053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15284" y="301053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5284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03320" y="301053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1356" y="301053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1356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9392" y="301053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9392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7428" y="301053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7428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55464" y="301053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5464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43500" y="301053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3500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1536" y="301053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1536" y="309283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42432" y="2992247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212E"/>
                </a:solidFill>
                <a:latin typeface="Consolas"/>
              </a:rPr>
              <a:t>= 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42432" y="326656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decimal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3796919"/>
            <a:ext cx="6492240" cy="932688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3934079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SHR  R1,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208399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A69"/>
                </a:solidFill>
                <a:latin typeface="Segoe UI"/>
              </a:rPr>
              <a:t>Right shift: bits move right, MSB filled with 0 → ÷2.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27248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27248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15284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5284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03320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03320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91356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91356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9392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79392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7428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67428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55464" y="401637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55464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43500" y="401637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43500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31536" y="401637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31536" y="409867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42432" y="3998087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212E"/>
                </a:solidFill>
                <a:latin typeface="Consolas"/>
              </a:rPr>
              <a:t>= 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42432" y="427240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decimal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5800" y="4802759"/>
            <a:ext cx="6492240" cy="932688"/>
          </a:xfrm>
          <a:prstGeom prst="roundRect">
            <a:avLst>
              <a:gd name="adj" fmla="val 6000"/>
            </a:avLst>
          </a:prstGeom>
          <a:solidFill>
            <a:srgbClr val="F1F6F8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6112" y="4939919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A62"/>
                </a:solidFill>
                <a:latin typeface="Consolas"/>
              </a:rPr>
              <a:t>ROL  R1,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" y="5214239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5A69"/>
                </a:solidFill>
                <a:latin typeface="Segoe UI"/>
              </a:rPr>
              <a:t>Rotate: the bit leaving MSB re-enters at LSB — nothing lost.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27248" y="502221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27248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15284" y="502221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15284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03320" y="502221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03320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91356" y="502221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91356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79392" y="502221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79392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 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67428" y="502221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67428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55464" y="502221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55464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143500" y="5022215"/>
            <a:ext cx="288036" cy="365760"/>
          </a:xfrm>
          <a:prstGeom prst="rect">
            <a:avLst/>
          </a:prstGeom>
          <a:solidFill>
            <a:srgbClr val="0E7C86"/>
          </a:solidFill>
          <a:ln w="12700">
            <a:solidFill>
              <a:srgbClr val="0A5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43500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31536" y="5022215"/>
            <a:ext cx="2880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31536" y="5104511"/>
            <a:ext cx="2880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5A69"/>
                </a:solidFill>
                <a:latin typeface="Consolas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42432" y="5003927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212E"/>
                </a:solidFill>
                <a:latin typeface="Consolas"/>
              </a:rPr>
              <a:t>= 134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42432" y="527824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88897"/>
                </a:solidFill>
                <a:latin typeface="Segoe UI"/>
              </a:rPr>
              <a:t>decimal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52360" y="1785239"/>
            <a:ext cx="4069080" cy="3913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62672" y="193154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7C86"/>
                </a:solidFill>
                <a:latin typeface="Segoe UI Semibold"/>
              </a:rPr>
              <a:t>READING THE RESULT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62672" y="2224151"/>
            <a:ext cx="363931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1212E"/>
                </a:solidFill>
                <a:latin typeface="Segoe UI"/>
              </a:rPr>
              <a:t>13 in binary: </a:t>
            </a:r>
            <a:r>
              <a:rPr sz="1050" b="0" i="0">
                <a:solidFill>
                  <a:srgbClr val="4A5A69"/>
                </a:solidFill>
                <a:latin typeface="Segoe UI"/>
              </a:rPr>
              <a:t>13 = 8 + 4 + 1, so bits 3, 2 and 0 are set → 0000 1101.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1212E"/>
                </a:solidFill>
                <a:latin typeface="Segoe UI"/>
              </a:rPr>
              <a:t>Shift left doubles: </a:t>
            </a:r>
            <a:r>
              <a:rPr sz="1050" b="0" i="0">
                <a:solidFill>
                  <a:srgbClr val="4A5A69"/>
                </a:solidFill>
                <a:latin typeface="Segoe UI"/>
              </a:rPr>
              <a:t>0000 1101 → 0001 1010 = 26. Every bit weight doubled.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1212E"/>
                </a:solidFill>
                <a:latin typeface="Segoe UI"/>
              </a:rPr>
              <a:t>Shift right halves: </a:t>
            </a:r>
            <a:r>
              <a:rPr sz="1050" b="0" i="0">
                <a:solidFill>
                  <a:srgbClr val="4A5A69"/>
                </a:solidFill>
                <a:latin typeface="Segoe UI"/>
              </a:rPr>
              <a:t>the 1 shifted out past bit 0 is lost, so 13 / 2 = 6, not 6.5.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1212E"/>
                </a:solidFill>
                <a:latin typeface="Segoe UI"/>
              </a:rPr>
              <a:t>Rotate preserves bits: </a:t>
            </a:r>
            <a:r>
              <a:rPr sz="1050" b="0" i="0">
                <a:solidFill>
                  <a:srgbClr val="4A5A69"/>
                </a:solidFill>
                <a:latin typeface="Segoe UI"/>
              </a:rPr>
              <a:t>the 1 leaving the left end returns on the right, so the number of 1s never changes.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62672" y="5369687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88897"/>
                </a:solidFill>
                <a:latin typeface="Segoe UI"/>
              </a:rPr>
              <a:t>Same hardware, different control signals.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 Semibold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1212E"/>
                </a:solidFill>
                <a:latin typeface="Segoe UI Semibold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0023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A69"/>
                </a:solidFill>
                <a:latin typeface="Segoe UI"/>
              </a:rPr>
              <a:t>Five sentences that carry the whole topic.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8663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58391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766951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"/>
              </a:rPr>
              <a:t>Binary is a hardware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077847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Two stable states are cheap, fast and noise-tolerant; n bits give 2ⁿ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99055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08783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617343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"/>
              </a:rPr>
              <a:t>A bit is held by a bistable circuit.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928239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Flip-flops for speed inside the CPU, capacitors for density in DRAM.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49447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59175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467735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"/>
              </a:rPr>
              <a:t>A register is n flip-flops with one clock.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778631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All bits update together, so a word is never read half-written.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9839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09567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318127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"/>
              </a:rPr>
              <a:t>Control signals decide what happens.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629023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Load enable to write, tri-state enables to drive a shared bus, one driver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50231"/>
            <a:ext cx="475488" cy="475488"/>
          </a:xfrm>
          <a:prstGeom prst="roundRect">
            <a:avLst>
              <a:gd name="adj" fmla="val 20000"/>
            </a:avLst>
          </a:prstGeom>
          <a:solidFill>
            <a:srgbClr val="E7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59959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A62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168518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212E"/>
                </a:solidFill>
                <a:latin typeface="Segoe UI"/>
              </a:rPr>
              <a:t>Registers are the top of the hierarchy.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5479415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A69"/>
                </a:solidFill>
                <a:latin typeface="Segoe UI"/>
              </a:rPr>
              <a:t>Fast and tiny because they are built from flip-flops; memory is big and slow because it is built from capacitors.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327648"/>
            <a:ext cx="10820095" cy="10972"/>
          </a:xfrm>
          <a:prstGeom prst="rect">
            <a:avLst/>
          </a:prstGeom>
          <a:solidFill>
            <a:srgbClr val="D3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88897"/>
                </a:solidFill>
                <a:latin typeface="Segoe UI"/>
              </a:rPr>
              <a:t>Binary Storage and Registers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5815" y="6419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88897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05840"/>
            <a:ext cx="566928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52144"/>
            <a:ext cx="6949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6766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6C7CF"/>
                </a:solidFill>
                <a:latin typeface="Segoe UI"/>
              </a:rPr>
              <a:t>Questions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1212E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3230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C8C1"/>
                </a:solidFill>
                <a:latin typeface="Segoe UI Semibold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CC6"/>
                </a:solidFill>
                <a:latin typeface="Segoe UI"/>
              </a:rPr>
              <a:t>M. Morris Mano, Computer System Architecture, 3rd ed. — Ch. 2 (registers, register transfer) and Ch. 4 (micro-operations).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CC6"/>
                </a:solidFill>
                <a:latin typeface="Segoe UI"/>
              </a:rPr>
              <a:t>William Stallings, Computer Organization and Architecture, 10th ed. — Ch. 3 (top-level structure), Ch. 4 (cache).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CC6"/>
                </a:solidFill>
                <a:latin typeface="Segoe UI"/>
              </a:rPr>
              <a:t>Patterson &amp; Hennessy, Computer Organization and Design — Ch. 4 processor datapath and registers.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6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26864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CC6"/>
                </a:solidFill>
                <a:latin typeface="Segoe UI"/>
              </a:rPr>
              <a:t>NPTEL / IIT lectures on digital logic: flip-flops, registers, tri-state buses.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4323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C8C1"/>
                </a:solidFill>
                <a:latin typeface="Segoe UI Semibold"/>
              </a:rPr>
              <a:t>LIKELY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761488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1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843784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Why 2ⁿ and not n²?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099816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6C0"/>
                </a:solidFill>
                <a:latin typeface="Segoe UI"/>
              </a:rPr>
              <a:t>Each bit doubles the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511296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1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593591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Register vs. cache?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849624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6C0"/>
                </a:solidFill>
                <a:latin typeface="Segoe UI"/>
              </a:rPr>
              <a:t>Register = by name, 1 cycle; cache = by address.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4261104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1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34340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Why refresh DRAM?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599432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6C0"/>
                </a:solidFill>
                <a:latin typeface="Segoe UI"/>
              </a:rPr>
              <a:t>Capacitor charge leaks away.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010912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1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5093208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Why only one bus driver?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349240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6C0"/>
                </a:solidFill>
                <a:latin typeface="Segoe UI"/>
              </a:rPr>
              <a:t>Two drivers short the wire.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